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73"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embeddedFontLst>
    <p:embeddedFont>
      <p:font typeface="Inter" panose="020B0604020202020204" charset="0"/>
      <p:regular r:id="rId21"/>
      <p:bold r:id="rId22"/>
      <p:italic r:id="rId23"/>
      <p:boldItalic r:id="rId24"/>
    </p:embeddedFont>
    <p:embeddedFont>
      <p:font typeface="Rage Italic" panose="03070502040507070304" pitchFamily="66"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82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F03BE6-EC8F-46A9-A9EA-9C163B19A885}">
  <a:tblStyle styleId="{95F03BE6-EC8F-46A9-A9EA-9C163B19A88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7" autoAdjust="0"/>
    <p:restoredTop sz="94660"/>
  </p:normalViewPr>
  <p:slideViewPr>
    <p:cSldViewPr snapToGrid="0">
      <p:cViewPr varScale="1">
        <p:scale>
          <a:sx n="99" d="100"/>
          <a:sy n="99" d="100"/>
        </p:scale>
        <p:origin x="108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6" name="Google Shape;19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www.cms.gov/files/document/mln901705-telehealth-remote-patient-monitoring.pdf" TargetMode="External"/><Relationship Id="rId4" Type="http://schemas.microsoft.com/office/2007/relationships/hdphoto" Target="../media/hdphoto1.wdp"/><Relationship Id="rId9" Type="http://schemas.openxmlformats.org/officeDocument/2006/relationships/hyperlink" Target="https://www.grandviewresearch.com/industry-analysis/remote-patient-monitoring-devices-marke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fortunebusinessinsights.com/remote-patient-monitoring-devices-market-106328" TargetMode="Externa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hyperlink" Target="https://www.marketsandmarkets.com/PressReleases/us-remote-patient-monitoring-market.asp" TargetMode="External"/><Relationship Id="rId3" Type="http://schemas.openxmlformats.org/officeDocument/2006/relationships/image" Target="../media/image12.png"/><Relationship Id="rId7" Type="http://schemas.openxmlformats.org/officeDocument/2006/relationships/hyperlink" Target="https://www.cdc.gov/chronicdisease/index.ht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fortunebusinessinsights.com/remote-patient-monitoring-devices-market-106328" TargetMode="External"/><Relationship Id="rId11" Type="http://schemas.microsoft.com/office/2007/relationships/hdphoto" Target="../media/hdphoto2.wdp"/><Relationship Id="rId5" Type="http://schemas.openxmlformats.org/officeDocument/2006/relationships/image" Target="../media/image14.png"/><Relationship Id="rId10"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rimidi.com/news/2025-rpm-ccm-and-apcm-reimbursement-codes-and-amount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fda.gov/medical-devices" TargetMode="External"/><Relationship Id="rId4" Type="http://schemas.openxmlformats.org/officeDocument/2006/relationships/hyperlink" Target="https://www.cdc.gov/chronicdisease/index.htm"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notesSlide" Target="../notesSlides/notesSlide6.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5" Type="http://schemas.openxmlformats.org/officeDocument/2006/relationships/image" Target="../media/image26.png"/><Relationship Id="rId10" Type="http://schemas.openxmlformats.org/officeDocument/2006/relationships/hyperlink" Target="https://resources.marketplace.aviahealth.com/" TargetMode="External"/><Relationship Id="rId19" Type="http://schemas.openxmlformats.org/officeDocument/2006/relationships/image" Target="../media/image30.png"/><Relationship Id="rId4" Type="http://schemas.openxmlformats.org/officeDocument/2006/relationships/image" Target="../media/image17.png"/><Relationship Id="rId9" Type="http://schemas.openxmlformats.org/officeDocument/2006/relationships/hyperlink" Target="https://www.marketsandmarkets.com/ResearchInsight/remote-patient-monitoring-market.asp" TargetMode="External"/><Relationship Id="rId14"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www.getreskilled.com/medical-device-compani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grandviewresearch.com/" TargetMode="External"/><Relationship Id="rId5" Type="http://schemas.openxmlformats.org/officeDocument/2006/relationships/hyperlink" Target="https://www.fortunebusinessinsights.com/" TargetMode="External"/><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hyperlink" Target="https://news.medtronic.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investors.dexcom.com/financials/annual-reports/default.aspx" TargetMode="External"/><Relationship Id="rId5" Type="http://schemas.openxmlformats.org/officeDocument/2006/relationships/hyperlink" Target="https://www.abbott.com/" TargetMode="External"/><Relationship Id="rId4" Type="http://schemas.openxmlformats.org/officeDocument/2006/relationships/hyperlink" Target="https://www.philips.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image" Target="../media/image35.png"/><Relationship Id="rId7" Type="http://schemas.openxmlformats.org/officeDocument/2006/relationships/hyperlink" Target="https://interventionalnews.com/medtronic-ken-washington/medtronic-operational-headquarter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news.medtronic.com/" TargetMode="Externa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7.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6.png"/><Relationship Id="rId2" Type="http://schemas.openxmlformats.org/officeDocument/2006/relationships/notesSlide" Target="../notesSlides/notesSlide11.xml"/><Relationship Id="rId16"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5.png"/><Relationship Id="rId5" Type="http://schemas.openxmlformats.org/officeDocument/2006/relationships/image" Target="../media/image41.png"/><Relationship Id="rId15" Type="http://schemas.openxmlformats.org/officeDocument/2006/relationships/image" Target="../media/image49.png"/><Relationship Id="rId10" Type="http://schemas.openxmlformats.org/officeDocument/2006/relationships/hyperlink" Target="https://www.medtronic.com/us-en/healthcare-professionals/products.html" TargetMode="External"/><Relationship Id="rId4" Type="http://schemas.openxmlformats.org/officeDocument/2006/relationships/image" Target="../media/image40.png"/><Relationship Id="rId9" Type="http://schemas.openxmlformats.org/officeDocument/2006/relationships/hyperlink" Target="https://www.medtronic.com/en-us/healthcare-professionals/products/patient-monitoring/remote-patient-monitoring.html" TargetMode="External"/><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51.png"/><Relationship Id="rId7"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google.com/search?q=https://investors.medtronic.com&amp;authuser=4" TargetMode="External"/><Relationship Id="rId4" Type="http://schemas.openxmlformats.org/officeDocument/2006/relationships/hyperlink" Target="https://pitchgrade.com/companies/medtronic"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hyperlink" Target="https://news.medtronic.com/2022-10-24-Medtronic-announces-intention-to-separate-its-combined-Patient-Monitoring-and-Respiratory-Interventions-businesses" TargetMode="External"/><Relationship Id="rId7"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fiercebiotech.com/" TargetMode="External"/><Relationship Id="rId10" Type="http://schemas.openxmlformats.org/officeDocument/2006/relationships/image" Target="../media/image56.png"/><Relationship Id="rId4" Type="http://schemas.openxmlformats.org/officeDocument/2006/relationships/hyperlink" Target="https://news.medtronic.com/" TargetMode="External"/><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openxmlformats.org/officeDocument/2006/relationships/hyperlink" Target="https://www.swotandpestle.com/" TargetMode="External"/><Relationship Id="rId3" Type="http://schemas.openxmlformats.org/officeDocument/2006/relationships/image" Target="../media/image57.png"/><Relationship Id="rId7" Type="http://schemas.openxmlformats.org/officeDocument/2006/relationships/hyperlink" Target="https://www.investing.com/news/swot-analysis/medtronics-swot-analysis-stock-outlook-amid-innovation-and-challenges-93CH-4218885"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hyperlink" Target="https://pitchgrade.com/companies/medtronic"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www.marketsandmarkets.com/ResearchInsight/remote-patient-monitoring-market.asp" TargetMode="External"/><Relationship Id="rId3" Type="http://schemas.openxmlformats.org/officeDocument/2006/relationships/image" Target="../media/image61.png"/><Relationship Id="rId7" Type="http://schemas.openxmlformats.org/officeDocument/2006/relationships/hyperlink" Target="https://www.precedenceresearch.com/remote-patient-monitoring-systems-market"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hyperlink" Target="https://www.grandviewresearch.c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census.gov/" TargetMode="External"/><Relationship Id="rId5" Type="http://schemas.openxmlformats.org/officeDocument/2006/relationships/hyperlink" Target="https://www.cdc.gov/chronicdisease" TargetMode="External"/><Relationship Id="rId4" Type="http://schemas.openxmlformats.org/officeDocument/2006/relationships/hyperlink" Target="https://www.google.com/search?q=https://www.cdc.gov/chronicdisease/about/index.htm&amp;authuser=2"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cybersecurity-insiders.com/" TargetMode="External"/><Relationship Id="rId3" Type="http://schemas.openxmlformats.org/officeDocument/2006/relationships/image" Target="../media/image66.png"/><Relationship Id="rId7" Type="http://schemas.openxmlformats.org/officeDocument/2006/relationships/hyperlink" Target="https://www.thoroughcare.net/blog/remote-patient-monitoring-billing-rule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Shape 83"/>
        <p:cNvGrpSpPr/>
        <p:nvPr/>
      </p:nvGrpSpPr>
      <p:grpSpPr>
        <a:xfrm>
          <a:off x="0" y="0"/>
          <a:ext cx="0" cy="0"/>
          <a:chOff x="0" y="0"/>
          <a:chExt cx="0" cy="0"/>
        </a:xfrm>
      </p:grpSpPr>
      <p:sp>
        <p:nvSpPr>
          <p:cNvPr id="85" name="Google Shape;85;p13"/>
          <p:cNvSpPr txBox="1"/>
          <p:nvPr/>
        </p:nvSpPr>
        <p:spPr>
          <a:xfrm>
            <a:off x="1975484" y="0"/>
            <a:ext cx="8241030" cy="16250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dirty="0">
                <a:solidFill>
                  <a:srgbClr val="FFFFFF"/>
                </a:solidFill>
                <a:effectLst>
                  <a:outerShdw blurRad="38100" dist="38100" dir="2700000" algn="tl">
                    <a:srgbClr val="000000">
                      <a:alpha val="43137"/>
                    </a:srgbClr>
                  </a:outerShdw>
                </a:effectLst>
                <a:latin typeface="Inter"/>
                <a:ea typeface="Inter"/>
                <a:cs typeface="Inter"/>
                <a:sym typeface="Inter"/>
              </a:rPr>
              <a:t>Remote Patient Monitoring</a:t>
            </a:r>
            <a:br>
              <a:rPr lang="en-US" sz="1800" b="0" i="0" u="none" strike="noStrike" cap="none" dirty="0">
                <a:solidFill>
                  <a:schemeClr val="dk1"/>
                </a:solidFill>
                <a:effectLst>
                  <a:outerShdw blurRad="38100" dist="38100" dir="2700000" algn="tl">
                    <a:srgbClr val="000000">
                      <a:alpha val="43137"/>
                    </a:srgbClr>
                  </a:outerShdw>
                </a:effectLst>
                <a:latin typeface="Calibri"/>
                <a:ea typeface="Calibri"/>
                <a:cs typeface="Calibri"/>
                <a:sym typeface="Calibri"/>
              </a:rPr>
            </a:br>
            <a:r>
              <a:rPr lang="en-US" sz="4800" b="1" i="0" u="none" strike="noStrike" cap="none" dirty="0">
                <a:solidFill>
                  <a:srgbClr val="FFFFFF"/>
                </a:solidFill>
                <a:effectLst>
                  <a:outerShdw blurRad="38100" dist="38100" dir="2700000" algn="tl">
                    <a:srgbClr val="000000">
                      <a:alpha val="43137"/>
                    </a:srgbClr>
                  </a:outerShdw>
                </a:effectLst>
                <a:latin typeface="Inter"/>
                <a:ea typeface="Inter"/>
                <a:cs typeface="Inter"/>
                <a:sym typeface="Inter"/>
              </a:rPr>
              <a:t> (RPM) Systems – USA</a:t>
            </a:r>
            <a:endParaRPr dirty="0">
              <a:effectLst>
                <a:outerShdw blurRad="38100" dist="38100" dir="2700000" algn="tl">
                  <a:srgbClr val="000000">
                    <a:alpha val="43137"/>
                  </a:srgbClr>
                </a:outerShdw>
              </a:effectLst>
            </a:endParaRPr>
          </a:p>
        </p:txBody>
      </p:sp>
      <p:sp>
        <p:nvSpPr>
          <p:cNvPr id="86" name="Google Shape;86;p13"/>
          <p:cNvSpPr txBox="1"/>
          <p:nvPr/>
        </p:nvSpPr>
        <p:spPr>
          <a:xfrm>
            <a:off x="3070621" y="1531441"/>
            <a:ext cx="605075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dirty="0">
                <a:solidFill>
                  <a:srgbClr val="3B82F6"/>
                </a:solidFill>
                <a:effectLst>
                  <a:outerShdw blurRad="38100" dist="38100" dir="2700000" algn="tl">
                    <a:srgbClr val="000000">
                      <a:alpha val="43137"/>
                    </a:srgbClr>
                  </a:outerShdw>
                </a:effectLst>
                <a:latin typeface="Inter"/>
                <a:ea typeface="Inter"/>
                <a:cs typeface="Inter"/>
                <a:sym typeface="Inter"/>
              </a:rPr>
              <a:t>Sample Report</a:t>
            </a:r>
            <a:endParaRPr dirty="0">
              <a:effectLst>
                <a:outerShdw blurRad="38100" dist="38100" dir="2700000" algn="tl">
                  <a:srgbClr val="000000">
                    <a:alpha val="43137"/>
                  </a:srgbClr>
                </a:outerShdw>
              </a:effectLst>
            </a:endParaRPr>
          </a:p>
        </p:txBody>
      </p:sp>
      <p:sp>
        <p:nvSpPr>
          <p:cNvPr id="87" name="Google Shape;87;p13"/>
          <p:cNvSpPr txBox="1"/>
          <p:nvPr/>
        </p:nvSpPr>
        <p:spPr>
          <a:xfrm>
            <a:off x="2972597" y="6357718"/>
            <a:ext cx="6246803" cy="369332"/>
          </a:xfrm>
          <a:prstGeom prst="rect">
            <a:avLst/>
          </a:prstGeom>
          <a:noFill/>
          <a:ln>
            <a:noFill/>
          </a:ln>
        </p:spPr>
        <p:txBody>
          <a:bodyPr spcFirstLastPara="1" wrap="square" lIns="0" tIns="0" rIns="0" bIns="0" anchor="t" anchorCtr="0">
            <a:spAutoFit/>
          </a:bodyPr>
          <a:lstStyle/>
          <a:p>
            <a:pPr lvl="0" algn="ctr"/>
            <a:r>
              <a:rPr lang="en-US" sz="2400" i="0" u="none" strike="noStrike" dirty="0">
                <a:ln w="0"/>
                <a:solidFill>
                  <a:schemeClr val="bg1"/>
                </a:solidFill>
                <a:effectLst>
                  <a:outerShdw blurRad="38100" dist="38100" dir="2700000" algn="tl">
                    <a:srgbClr val="000000">
                      <a:alpha val="43137"/>
                    </a:srgbClr>
                  </a:outerShdw>
                </a:effectLst>
                <a:latin typeface="Inter"/>
                <a:ea typeface="Inter"/>
                <a:cs typeface="Inter"/>
                <a:sym typeface="Inter"/>
              </a:rPr>
              <a:t>Prepared by: </a:t>
            </a:r>
            <a:r>
              <a:rPr lang="en-US" sz="2400" dirty="0">
                <a:ln w="0"/>
                <a:solidFill>
                  <a:schemeClr val="bg1"/>
                </a:solidFill>
                <a:effectLst>
                  <a:outerShdw blurRad="38100" dist="38100" dir="2700000" algn="tl">
                    <a:srgbClr val="000000">
                      <a:alpha val="43137"/>
                    </a:srgbClr>
                  </a:outerShdw>
                </a:effectLst>
                <a:latin typeface="Rage Italic" panose="03070502040507070304" pitchFamily="66" charset="0"/>
                <a:ea typeface="Inter"/>
                <a:cs typeface="Inter"/>
                <a:sym typeface="Inter"/>
              </a:rPr>
              <a:t>Pranjal Das</a:t>
            </a:r>
            <a:r>
              <a:rPr lang="en-US" sz="2400" i="0" u="none" strike="noStrike" dirty="0">
                <a:ln w="0"/>
                <a:solidFill>
                  <a:schemeClr val="bg1"/>
                </a:solidFill>
                <a:effectLst>
                  <a:outerShdw blurRad="38100" dist="38100" dir="2700000" algn="tl">
                    <a:srgbClr val="000000">
                      <a:alpha val="43137"/>
                    </a:srgbClr>
                  </a:outerShdw>
                </a:effectLst>
                <a:latin typeface="Rage Italic" panose="03070502040507070304" pitchFamily="66" charset="0"/>
                <a:ea typeface="Inter"/>
                <a:cs typeface="Inter"/>
                <a:sym typeface="Inter"/>
              </a:rPr>
              <a:t>| </a:t>
            </a:r>
            <a:r>
              <a:rPr lang="en-US" sz="2400" i="0" u="none" strike="noStrike" dirty="0">
                <a:ln w="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Inter"/>
                <a:sym typeface="Inter"/>
              </a:rPr>
              <a:t>26 Nov 2025</a:t>
            </a:r>
            <a:endParaRPr sz="2800" dirty="0">
              <a:ln w="0"/>
              <a:solidFill>
                <a:schemeClr val="bg1"/>
              </a:solidFill>
              <a:effectLst>
                <a:outerShdw blurRad="38100" dist="38100" dir="2700000" algn="tl">
                  <a:srgbClr val="000000">
                    <a:alpha val="43137"/>
                  </a:srgbClr>
                </a:outerShdw>
              </a:effectLst>
              <a:latin typeface="Rage Italic" panose="03070502040507070304"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sp>
        <p:nvSpPr>
          <p:cNvPr id="10" name="Google Shape;119;p15">
            <a:extLst>
              <a:ext uri="{FF2B5EF4-FFF2-40B4-BE49-F238E27FC236}">
                <a16:creationId xmlns:a16="http://schemas.microsoft.com/office/drawing/2014/main" id="{07EA203A-FB86-B3B9-8D3D-9A420ADD83AB}"/>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120;p15">
            <a:extLst>
              <a:ext uri="{FF2B5EF4-FFF2-40B4-BE49-F238E27FC236}">
                <a16:creationId xmlns:a16="http://schemas.microsoft.com/office/drawing/2014/main" id="{94ACBBE7-EA74-7F59-EDA7-9190AD4A51E6}"/>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21;p15">
            <a:extLst>
              <a:ext uri="{FF2B5EF4-FFF2-40B4-BE49-F238E27FC236}">
                <a16:creationId xmlns:a16="http://schemas.microsoft.com/office/drawing/2014/main" id="{774D75F6-77BF-D2A9-4E6A-E1D08BC23B7C}"/>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122;p15">
            <a:extLst>
              <a:ext uri="{FF2B5EF4-FFF2-40B4-BE49-F238E27FC236}">
                <a16:creationId xmlns:a16="http://schemas.microsoft.com/office/drawing/2014/main" id="{622078DD-3F7B-C503-D9E4-8D0440CD3C71}"/>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p:nvPr/>
        </p:nvSpPr>
        <p:spPr>
          <a:xfrm>
            <a:off x="9334500" y="-952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3" name="Google Shape;93;p14" descr="image.png"/>
          <p:cNvPicPr preferRelativeResize="0"/>
          <p:nvPr/>
        </p:nvPicPr>
        <p:blipFill rotWithShape="1">
          <a:blip r:embed="rId3">
            <a:alphaModFix/>
            <a:extLst>
              <a:ext uri="{BEBA8EAE-BF5A-486C-A8C5-ECC9F3942E4B}">
                <a14:imgProps xmlns:a14="http://schemas.microsoft.com/office/drawing/2010/main">
                  <a14:imgLayer r:embed="rId4">
                    <a14:imgEffect>
                      <a14:colorTemperature colorTemp="4700"/>
                    </a14:imgEffect>
                  </a14:imgLayer>
                </a14:imgProps>
              </a:ext>
            </a:extLst>
          </a:blip>
          <a:srcRect/>
          <a:stretch/>
        </p:blipFill>
        <p:spPr>
          <a:xfrm>
            <a:off x="6286500" y="1666875"/>
            <a:ext cx="5334000" cy="4810125"/>
          </a:xfrm>
          <a:prstGeom prst="rect">
            <a:avLst/>
          </a:prstGeom>
          <a:noFill/>
          <a:ln>
            <a:noFill/>
          </a:ln>
        </p:spPr>
      </p:pic>
      <p:sp>
        <p:nvSpPr>
          <p:cNvPr id="95" name="Google Shape;95;p14"/>
          <p:cNvSpPr txBox="1"/>
          <p:nvPr/>
        </p:nvSpPr>
        <p:spPr>
          <a:xfrm>
            <a:off x="571500" y="381000"/>
            <a:ext cx="11049000"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3B82F6"/>
                </a:solidFill>
                <a:latin typeface="Inter"/>
                <a:ea typeface="Inter"/>
                <a:cs typeface="Inter"/>
                <a:sym typeface="Inter"/>
              </a:rPr>
              <a:t>SECTION 1: INTRODUCTION (1/2)</a:t>
            </a:r>
            <a:endParaRPr dirty="0"/>
          </a:p>
        </p:txBody>
      </p:sp>
      <p:sp>
        <p:nvSpPr>
          <p:cNvPr id="96" name="Google Shape;96;p14"/>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RPM Overview</a:t>
            </a:r>
            <a:endParaRPr/>
          </a:p>
        </p:txBody>
      </p:sp>
      <p:sp>
        <p:nvSpPr>
          <p:cNvPr id="97" name="Google Shape;97;p14"/>
          <p:cNvSpPr txBox="1"/>
          <p:nvPr/>
        </p:nvSpPr>
        <p:spPr>
          <a:xfrm>
            <a:off x="571500" y="1683857"/>
            <a:ext cx="5334000" cy="1661993"/>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1" i="0" u="none" strike="noStrike" cap="none" dirty="0">
                <a:solidFill>
                  <a:srgbClr val="334155"/>
                </a:solidFill>
                <a:latin typeface="Inter"/>
                <a:ea typeface="Inter"/>
                <a:cs typeface="Inter"/>
                <a:sym typeface="Inter"/>
              </a:rPr>
              <a:t>Definition:</a:t>
            </a:r>
            <a:r>
              <a:rPr lang="en-US" sz="1350" b="0" i="0" u="none" strike="noStrike" cap="none" dirty="0">
                <a:solidFill>
                  <a:srgbClr val="334155"/>
                </a:solidFill>
                <a:latin typeface="Inter"/>
                <a:ea typeface="Inter"/>
                <a:cs typeface="Inter"/>
                <a:sym typeface="Inter"/>
              </a:rPr>
              <a:t> Remote Patient Monitoring (RPM) uses digital technologies to collect medical and other forms of health data from individuals in one location and electronically transmit that information securely to health care providers in a different location. </a:t>
            </a:r>
            <a:endParaRPr dirty="0"/>
          </a:p>
        </p:txBody>
      </p:sp>
      <p:sp>
        <p:nvSpPr>
          <p:cNvPr id="98" name="Google Shape;98;p14"/>
          <p:cNvSpPr txBox="1"/>
          <p:nvPr/>
        </p:nvSpPr>
        <p:spPr>
          <a:xfrm>
            <a:off x="7533773" y="3349644"/>
            <a:ext cx="2839453"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0F172A"/>
                </a:solidFill>
                <a:latin typeface="Inter"/>
                <a:ea typeface="Inter"/>
                <a:cs typeface="Inter"/>
                <a:sym typeface="Inter"/>
              </a:rPr>
              <a:t>The RPM Data Flow</a:t>
            </a:r>
            <a:endParaRPr sz="2000" dirty="0"/>
          </a:p>
        </p:txBody>
      </p:sp>
      <p:sp>
        <p:nvSpPr>
          <p:cNvPr id="99" name="Google Shape;99;p14"/>
          <p:cNvSpPr txBox="1"/>
          <p:nvPr/>
        </p:nvSpPr>
        <p:spPr>
          <a:xfrm>
            <a:off x="857250" y="3435201"/>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Ecosystem Fit:</a:t>
            </a:r>
            <a:r>
              <a:rPr lang="en-US" sz="1350" b="0" i="0" u="none" strike="noStrike" cap="none" dirty="0">
                <a:solidFill>
                  <a:srgbClr val="334155"/>
                </a:solidFill>
                <a:latin typeface="Inter"/>
                <a:ea typeface="Inter"/>
                <a:cs typeface="Inter"/>
                <a:sym typeface="Inter"/>
              </a:rPr>
              <a:t> Bridges the gap between clinical visits, enabling continuous care models.</a:t>
            </a:r>
            <a:endParaRPr dirty="0"/>
          </a:p>
        </p:txBody>
      </p:sp>
      <p:sp>
        <p:nvSpPr>
          <p:cNvPr id="100" name="Google Shape;100;p14"/>
          <p:cNvSpPr txBox="1"/>
          <p:nvPr/>
        </p:nvSpPr>
        <p:spPr>
          <a:xfrm>
            <a:off x="857250" y="3978126"/>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Critical Role:</a:t>
            </a:r>
            <a:r>
              <a:rPr lang="en-US" sz="1350" b="0" i="0" u="none" strike="noStrike" cap="none" dirty="0">
                <a:solidFill>
                  <a:srgbClr val="334155"/>
                </a:solidFill>
                <a:latin typeface="Inter"/>
                <a:ea typeface="Inter"/>
                <a:cs typeface="Inter"/>
                <a:sym typeface="Inter"/>
              </a:rPr>
              <a:t> Essential for chronic disease management (Diabetes, CVD) and post-acute care transitions.</a:t>
            </a:r>
            <a:endParaRPr dirty="0"/>
          </a:p>
        </p:txBody>
      </p:sp>
      <p:pic>
        <p:nvPicPr>
          <p:cNvPr id="101" name="Google Shape;101;p14" descr="image.png"/>
          <p:cNvPicPr preferRelativeResize="0"/>
          <p:nvPr/>
        </p:nvPicPr>
        <p:blipFill rotWithShape="1">
          <a:blip r:embed="rId5">
            <a:alphaModFix/>
          </a:blip>
          <a:srcRect/>
          <a:stretch/>
        </p:blipFill>
        <p:spPr>
          <a:xfrm>
            <a:off x="571500" y="3435201"/>
            <a:ext cx="171450" cy="180975"/>
          </a:xfrm>
          <a:prstGeom prst="rect">
            <a:avLst/>
          </a:prstGeom>
          <a:noFill/>
          <a:ln>
            <a:noFill/>
          </a:ln>
        </p:spPr>
      </p:pic>
      <p:pic>
        <p:nvPicPr>
          <p:cNvPr id="102" name="Google Shape;102;p14" descr="image.png"/>
          <p:cNvPicPr preferRelativeResize="0"/>
          <p:nvPr/>
        </p:nvPicPr>
        <p:blipFill rotWithShape="1">
          <a:blip r:embed="rId5">
            <a:alphaModFix/>
          </a:blip>
          <a:srcRect/>
          <a:stretch/>
        </p:blipFill>
        <p:spPr>
          <a:xfrm>
            <a:off x="571500" y="3978126"/>
            <a:ext cx="171450" cy="180975"/>
          </a:xfrm>
          <a:prstGeom prst="rect">
            <a:avLst/>
          </a:prstGeom>
          <a:noFill/>
          <a:ln>
            <a:noFill/>
          </a:ln>
        </p:spPr>
      </p:pic>
      <p:pic>
        <p:nvPicPr>
          <p:cNvPr id="103" name="Google Shape;103;p14" descr="image.png"/>
          <p:cNvPicPr preferRelativeResize="0"/>
          <p:nvPr/>
        </p:nvPicPr>
        <p:blipFill rotWithShape="1">
          <a:blip r:embed="rId6">
            <a:alphaModFix/>
          </a:blip>
          <a:srcRect/>
          <a:stretch/>
        </p:blipFill>
        <p:spPr>
          <a:xfrm>
            <a:off x="7343775" y="3995737"/>
            <a:ext cx="266700" cy="304800"/>
          </a:xfrm>
          <a:prstGeom prst="rect">
            <a:avLst/>
          </a:prstGeom>
          <a:noFill/>
          <a:ln>
            <a:noFill/>
          </a:ln>
        </p:spPr>
      </p:pic>
      <p:sp>
        <p:nvSpPr>
          <p:cNvPr id="104" name="Google Shape;104;p14"/>
          <p:cNvSpPr txBox="1"/>
          <p:nvPr/>
        </p:nvSpPr>
        <p:spPr>
          <a:xfrm>
            <a:off x="7019925" y="4395787"/>
            <a:ext cx="91440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dirty="0">
                <a:solidFill>
                  <a:srgbClr val="000000"/>
                </a:solidFill>
                <a:latin typeface="Inter"/>
                <a:ea typeface="Inter"/>
                <a:cs typeface="Inter"/>
                <a:sym typeface="Inter"/>
              </a:rPr>
              <a:t>Patient (Home)</a:t>
            </a:r>
            <a:endParaRPr dirty="0"/>
          </a:p>
        </p:txBody>
      </p:sp>
      <p:pic>
        <p:nvPicPr>
          <p:cNvPr id="105" name="Google Shape;105;p14" descr="image.png"/>
          <p:cNvPicPr preferRelativeResize="0"/>
          <p:nvPr/>
        </p:nvPicPr>
        <p:blipFill rotWithShape="1">
          <a:blip r:embed="rId7">
            <a:alphaModFix/>
          </a:blip>
          <a:srcRect/>
          <a:stretch/>
        </p:blipFill>
        <p:spPr>
          <a:xfrm>
            <a:off x="8763000" y="4076700"/>
            <a:ext cx="381000" cy="304800"/>
          </a:xfrm>
          <a:prstGeom prst="rect">
            <a:avLst/>
          </a:prstGeom>
          <a:noFill/>
          <a:ln>
            <a:noFill/>
          </a:ln>
        </p:spPr>
      </p:pic>
      <p:sp>
        <p:nvSpPr>
          <p:cNvPr id="106" name="Google Shape;106;p14"/>
          <p:cNvSpPr txBox="1"/>
          <p:nvPr/>
        </p:nvSpPr>
        <p:spPr>
          <a:xfrm>
            <a:off x="8496300" y="4476750"/>
            <a:ext cx="91440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000000"/>
                </a:solidFill>
                <a:latin typeface="Inter"/>
                <a:ea typeface="Inter"/>
                <a:cs typeface="Inter"/>
                <a:sym typeface="Inter"/>
              </a:rPr>
              <a:t>Cloud / EHR</a:t>
            </a:r>
            <a:endParaRPr/>
          </a:p>
        </p:txBody>
      </p:sp>
      <p:pic>
        <p:nvPicPr>
          <p:cNvPr id="107" name="Google Shape;107;p14" descr="image.png"/>
          <p:cNvPicPr preferRelativeResize="0"/>
          <p:nvPr/>
        </p:nvPicPr>
        <p:blipFill rotWithShape="1">
          <a:blip r:embed="rId8">
            <a:alphaModFix/>
          </a:blip>
          <a:srcRect/>
          <a:stretch/>
        </p:blipFill>
        <p:spPr>
          <a:xfrm>
            <a:off x="10296525" y="3995737"/>
            <a:ext cx="266700" cy="304800"/>
          </a:xfrm>
          <a:prstGeom prst="rect">
            <a:avLst/>
          </a:prstGeom>
          <a:noFill/>
          <a:ln>
            <a:noFill/>
          </a:ln>
        </p:spPr>
      </p:pic>
      <p:sp>
        <p:nvSpPr>
          <p:cNvPr id="108" name="Google Shape;108;p14"/>
          <p:cNvSpPr txBox="1"/>
          <p:nvPr/>
        </p:nvSpPr>
        <p:spPr>
          <a:xfrm>
            <a:off x="9972675" y="4395787"/>
            <a:ext cx="91440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000000"/>
                </a:solidFill>
                <a:latin typeface="Inter"/>
                <a:ea typeface="Inter"/>
                <a:cs typeface="Inter"/>
                <a:sym typeface="Inter"/>
              </a:rPr>
              <a:t>Provider (Action)</a:t>
            </a:r>
            <a:endParaRPr/>
          </a:p>
        </p:txBody>
      </p:sp>
      <p:sp>
        <p:nvSpPr>
          <p:cNvPr id="109" name="Google Shape;109;p14"/>
          <p:cNvSpPr txBox="1"/>
          <p:nvPr/>
        </p:nvSpPr>
        <p:spPr>
          <a:xfrm>
            <a:off x="571500" y="6553200"/>
            <a:ext cx="3600450"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9"/>
              </a:rPr>
              <a:t>Grand View Research (RPM Market)</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10"/>
              </a:rPr>
              <a:t>CMS Telehealth &amp; RPM Guide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sp>
        <p:nvSpPr>
          <p:cNvPr id="6" name="Google Shape;417;p27">
            <a:extLst>
              <a:ext uri="{FF2B5EF4-FFF2-40B4-BE49-F238E27FC236}">
                <a16:creationId xmlns:a16="http://schemas.microsoft.com/office/drawing/2014/main" id="{B7255E2D-89F5-9BA1-569D-E4D5EB27A28F}"/>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4" name="Google Shape;114;p15" descr="image.png"/>
          <p:cNvPicPr preferRelativeResize="0"/>
          <p:nvPr/>
        </p:nvPicPr>
        <p:blipFill rotWithShape="1">
          <a:blip r:embed="rId3">
            <a:alphaModFix/>
            <a:duotone>
              <a:prstClr val="black"/>
              <a:schemeClr val="accent5">
                <a:tint val="45000"/>
                <a:satMod val="400000"/>
              </a:schemeClr>
            </a:duotone>
          </a:blip>
          <a:srcRect/>
          <a:stretch/>
        </p:blipFill>
        <p:spPr>
          <a:xfrm>
            <a:off x="571500" y="4326082"/>
            <a:ext cx="5429250" cy="1123950"/>
          </a:xfrm>
          <a:prstGeom prst="rect">
            <a:avLst/>
          </a:prstGeom>
          <a:noFill/>
          <a:ln>
            <a:noFill/>
          </a:ln>
        </p:spPr>
      </p:pic>
      <p:pic>
        <p:nvPicPr>
          <p:cNvPr id="115" name="Google Shape;115;p15" descr="image.png"/>
          <p:cNvPicPr preferRelativeResize="0"/>
          <p:nvPr/>
        </p:nvPicPr>
        <p:blipFill rotWithShape="1">
          <a:blip r:embed="rId3">
            <a:alphaModFix/>
            <a:duotone>
              <a:prstClr val="black"/>
              <a:schemeClr val="accent4">
                <a:tint val="45000"/>
                <a:satMod val="400000"/>
              </a:schemeClr>
            </a:duotone>
          </a:blip>
          <a:srcRect/>
          <a:stretch/>
        </p:blipFill>
        <p:spPr>
          <a:xfrm>
            <a:off x="6191250" y="4326082"/>
            <a:ext cx="5429250" cy="1123950"/>
          </a:xfrm>
          <a:prstGeom prst="rect">
            <a:avLst/>
          </a:prstGeom>
          <a:noFill/>
          <a:ln>
            <a:noFill/>
          </a:ln>
        </p:spPr>
      </p:pic>
      <p:sp>
        <p:nvSpPr>
          <p:cNvPr id="116" name="Google Shape;116;p15"/>
          <p:cNvSpPr txBox="1"/>
          <p:nvPr/>
        </p:nvSpPr>
        <p:spPr>
          <a:xfrm>
            <a:off x="571500" y="381000"/>
            <a:ext cx="11049000"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3B82F6"/>
                </a:solidFill>
                <a:latin typeface="Inter"/>
                <a:ea typeface="Inter"/>
                <a:cs typeface="Inter"/>
                <a:sym typeface="Inter"/>
              </a:rPr>
              <a:t>SECTION 1: INTRODUCTION (2/2)</a:t>
            </a:r>
            <a:endParaRPr dirty="0"/>
          </a:p>
        </p:txBody>
      </p:sp>
      <p:sp>
        <p:nvSpPr>
          <p:cNvPr id="117" name="Google Shape;117;p15"/>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Classification of RPM Systems</a:t>
            </a:r>
            <a:endParaRPr/>
          </a:p>
        </p:txBody>
      </p:sp>
      <p:graphicFrame>
        <p:nvGraphicFramePr>
          <p:cNvPr id="118" name="Google Shape;118;p15"/>
          <p:cNvGraphicFramePr/>
          <p:nvPr>
            <p:extLst>
              <p:ext uri="{D42A27DB-BD31-4B8C-83A1-F6EECF244321}">
                <p14:modId xmlns:p14="http://schemas.microsoft.com/office/powerpoint/2010/main" val="4191983463"/>
              </p:ext>
            </p:extLst>
          </p:nvPr>
        </p:nvGraphicFramePr>
        <p:xfrm>
          <a:off x="571499" y="1471168"/>
          <a:ext cx="11049000" cy="2590800"/>
        </p:xfrm>
        <a:graphic>
          <a:graphicData uri="http://schemas.openxmlformats.org/drawingml/2006/table">
            <a:tbl>
              <a:tblPr firstRow="1" bandRow="1">
                <a:noFill/>
                <a:tableStyleId>{95F03BE6-EC8F-46A9-A9EA-9C163B19A885}</a:tableStyleId>
              </a:tblPr>
              <a:tblGrid>
                <a:gridCol w="1812425">
                  <a:extLst>
                    <a:ext uri="{9D8B030D-6E8A-4147-A177-3AD203B41FA5}">
                      <a16:colId xmlns:a16="http://schemas.microsoft.com/office/drawing/2014/main" val="20000"/>
                    </a:ext>
                  </a:extLst>
                </a:gridCol>
                <a:gridCol w="3287025">
                  <a:extLst>
                    <a:ext uri="{9D8B030D-6E8A-4147-A177-3AD203B41FA5}">
                      <a16:colId xmlns:a16="http://schemas.microsoft.com/office/drawing/2014/main" val="20001"/>
                    </a:ext>
                  </a:extLst>
                </a:gridCol>
                <a:gridCol w="5293975">
                  <a:extLst>
                    <a:ext uri="{9D8B030D-6E8A-4147-A177-3AD203B41FA5}">
                      <a16:colId xmlns:a16="http://schemas.microsoft.com/office/drawing/2014/main" val="20002"/>
                    </a:ext>
                  </a:extLst>
                </a:gridCol>
                <a:gridCol w="655575">
                  <a:extLst>
                    <a:ext uri="{9D8B030D-6E8A-4147-A177-3AD203B41FA5}">
                      <a16:colId xmlns:a16="http://schemas.microsoft.com/office/drawing/2014/main" val="20003"/>
                    </a:ext>
                  </a:extLst>
                </a:gridCol>
              </a:tblGrid>
              <a:tr h="863600">
                <a:tc>
                  <a:txBody>
                    <a:bodyPr/>
                    <a:lstStyle/>
                    <a:p>
                      <a:pPr marL="0" marR="0" lvl="0" indent="0" algn="l" rtl="0">
                        <a:spcBef>
                          <a:spcPts val="0"/>
                        </a:spcBef>
                        <a:spcAft>
                          <a:spcPts val="0"/>
                        </a:spcAft>
                        <a:buNone/>
                      </a:pPr>
                      <a:r>
                        <a:rPr lang="en-US" sz="1200" b="1" i="0" u="none" strike="noStrike" cap="none">
                          <a:solidFill>
                            <a:srgbClr val="FFFFFF"/>
                          </a:solidFill>
                          <a:latin typeface="Inter"/>
                          <a:ea typeface="Inter"/>
                          <a:cs typeface="Inter"/>
                          <a:sym typeface="Inter"/>
                        </a:rPr>
                        <a:t>Category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00" b="1" i="0" u="none" strike="noStrike" cap="none" dirty="0">
                          <a:solidFill>
                            <a:srgbClr val="FFFFFF"/>
                          </a:solidFill>
                          <a:latin typeface="Inter"/>
                          <a:ea typeface="Inter"/>
                          <a:cs typeface="Inter"/>
                          <a:sym typeface="Inter"/>
                        </a:rPr>
                        <a:t>Device Types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00" b="1" i="0" u="none" strike="noStrike" cap="none">
                          <a:solidFill>
                            <a:srgbClr val="FFFFFF"/>
                          </a:solidFill>
                          <a:latin typeface="Inter"/>
                          <a:ea typeface="Inter"/>
                          <a:cs typeface="Inter"/>
                          <a:sym typeface="Inter"/>
                        </a:rPr>
                        <a:t>Primary Use Cases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863600">
                <a:tc>
                  <a:txBody>
                    <a:bodyPr/>
                    <a:lstStyle/>
                    <a:p>
                      <a:pPr marL="0" marR="0" lvl="0" indent="0" algn="l" rtl="0">
                        <a:spcBef>
                          <a:spcPts val="0"/>
                        </a:spcBef>
                        <a:spcAft>
                          <a:spcPts val="0"/>
                        </a:spcAft>
                        <a:buNone/>
                      </a:pPr>
                      <a:r>
                        <a:rPr lang="en-US" sz="1200" b="1" i="0" u="none" strike="noStrike" cap="none">
                          <a:solidFill>
                            <a:srgbClr val="334155"/>
                          </a:solidFill>
                          <a:latin typeface="Inter"/>
                          <a:ea typeface="Inter"/>
                          <a:cs typeface="Inter"/>
                          <a:sym typeface="Inter"/>
                        </a:rPr>
                        <a:t>Vital Sign Monitors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334155"/>
                          </a:solidFill>
                          <a:latin typeface="Inter"/>
                          <a:ea typeface="Inter"/>
                          <a:cs typeface="Inter"/>
                          <a:sym typeface="Inter"/>
                        </a:rPr>
                        <a:t>• Blood Pressure Cuffs</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Pulse Oximeters</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Heart Rate Monitors</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Thermometers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334155"/>
                          </a:solidFill>
                          <a:latin typeface="Inter"/>
                          <a:ea typeface="Inter"/>
                          <a:cs typeface="Inter"/>
                          <a:sym typeface="Inter"/>
                        </a:rPr>
                        <a:t>General health tracking, Hypertension, Post-op recovery</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solidFill>
                          <a:schemeClr val="dk1"/>
                        </a:solidFill>
                        <a:latin typeface="Calibri"/>
                        <a:ea typeface="Calibri"/>
                        <a:cs typeface="Calibri"/>
                        <a:sym typeface="Calibri"/>
                      </a:endParaRPr>
                    </a:p>
                  </a:txBody>
                  <a:tcPr marL="3429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63600">
                <a:tc>
                  <a:txBody>
                    <a:bodyPr/>
                    <a:lstStyle/>
                    <a:p>
                      <a:pPr marL="0" marR="0" lvl="0" indent="0" algn="l" rtl="0">
                        <a:spcBef>
                          <a:spcPts val="0"/>
                        </a:spcBef>
                        <a:spcAft>
                          <a:spcPts val="0"/>
                        </a:spcAft>
                        <a:buNone/>
                      </a:pPr>
                      <a:r>
                        <a:rPr lang="en-US" sz="1200" b="1" i="0" u="none" strike="noStrike" cap="none" dirty="0">
                          <a:solidFill>
                            <a:srgbClr val="334155"/>
                          </a:solidFill>
                          <a:latin typeface="Inter"/>
                          <a:ea typeface="Inter"/>
                          <a:cs typeface="Inter"/>
                          <a:sym typeface="Inter"/>
                        </a:rPr>
                        <a:t>Special Monitors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dirty="0">
                          <a:solidFill>
                            <a:srgbClr val="334155"/>
                          </a:solidFill>
                          <a:latin typeface="Inter"/>
                          <a:ea typeface="Inter"/>
                          <a:cs typeface="Inter"/>
                          <a:sym typeface="Inter"/>
                        </a:rPr>
                        <a:t>• Continuous Glucose Monitors (CGM)</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Respiratory / CPAP Monitors</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ECG/EKG Patches</a:t>
                      </a:r>
                      <a:br>
                        <a:rPr lang="en-US" sz="1200" b="0" i="0" u="none" strike="noStrike" cap="none" dirty="0">
                          <a:solidFill>
                            <a:srgbClr val="334155"/>
                          </a:solidFill>
                          <a:latin typeface="Inter"/>
                          <a:ea typeface="Inter"/>
                          <a:cs typeface="Inter"/>
                          <a:sym typeface="Inter"/>
                        </a:rPr>
                      </a:br>
                      <a:r>
                        <a:rPr lang="en-US" sz="1200" b="0" i="0" u="none" strike="noStrike" cap="none" dirty="0">
                          <a:solidFill>
                            <a:srgbClr val="334155"/>
                          </a:solidFill>
                          <a:latin typeface="Inter"/>
                          <a:ea typeface="Inter"/>
                          <a:cs typeface="Inter"/>
                          <a:sym typeface="Inter"/>
                        </a:rPr>
                        <a:t>• Fetal Monitors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334155"/>
                          </a:solidFill>
                          <a:latin typeface="Inter"/>
                          <a:ea typeface="Inter"/>
                          <a:cs typeface="Inter"/>
                          <a:sym typeface="Inter"/>
                        </a:rPr>
                        <a:t>Diabetes management, COPD/Asthma, Cardiology, Prenatal care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endParaRPr sz="1800" u="none" strike="noStrike" cap="none" dirty="0">
                        <a:solidFill>
                          <a:schemeClr val="dk1"/>
                        </a:solidFill>
                        <a:latin typeface="Calibri"/>
                        <a:ea typeface="Calibri"/>
                        <a:cs typeface="Calibri"/>
                        <a:sym typeface="Calibri"/>
                      </a:endParaRPr>
                    </a:p>
                  </a:txBody>
                  <a:tcPr marL="4000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bl>
          </a:graphicData>
        </a:graphic>
      </p:graphicFrame>
      <p:sp>
        <p:nvSpPr>
          <p:cNvPr id="123" name="Google Shape;123;p15"/>
          <p:cNvSpPr/>
          <p:nvPr/>
        </p:nvSpPr>
        <p:spPr>
          <a:xfrm>
            <a:off x="571500" y="4056193"/>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5"/>
          <p:cNvSpPr/>
          <p:nvPr/>
        </p:nvSpPr>
        <p:spPr>
          <a:xfrm>
            <a:off x="2383928" y="4056193"/>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p:nvPr/>
        </p:nvSpPr>
        <p:spPr>
          <a:xfrm>
            <a:off x="5670946" y="4056193"/>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5"/>
          <p:cNvSpPr/>
          <p:nvPr/>
        </p:nvSpPr>
        <p:spPr>
          <a:xfrm>
            <a:off x="10964912" y="4056193"/>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5"/>
          <p:cNvSpPr txBox="1"/>
          <p:nvPr/>
        </p:nvSpPr>
        <p:spPr>
          <a:xfrm>
            <a:off x="857250" y="4564207"/>
            <a:ext cx="5150643" cy="2286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Inter"/>
                <a:ea typeface="Inter"/>
                <a:cs typeface="Inter"/>
                <a:sym typeface="Inter"/>
              </a:rPr>
              <a:t> Smart Wearables</a:t>
            </a:r>
            <a:endParaRPr dirty="0"/>
          </a:p>
        </p:txBody>
      </p:sp>
      <p:sp>
        <p:nvSpPr>
          <p:cNvPr id="128" name="Google Shape;128;p15"/>
          <p:cNvSpPr txBox="1"/>
          <p:nvPr/>
        </p:nvSpPr>
        <p:spPr>
          <a:xfrm>
            <a:off x="857250" y="4888057"/>
            <a:ext cx="514350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Integration of consumer &amp; clinical grade sensors (e.g., Apple Watch, </a:t>
            </a:r>
            <a:r>
              <a:rPr lang="en-US" sz="1050" b="0" i="0" u="none" strike="noStrike" cap="none" dirty="0" err="1">
                <a:solidFill>
                  <a:srgbClr val="000000"/>
                </a:solidFill>
                <a:latin typeface="Inter"/>
                <a:ea typeface="Inter"/>
                <a:cs typeface="Inter"/>
                <a:sym typeface="Inter"/>
              </a:rPr>
              <a:t>fitbit</a:t>
            </a:r>
            <a:r>
              <a:rPr lang="en-US" sz="1050" b="0" i="0" u="none" strike="noStrike" cap="none" dirty="0">
                <a:solidFill>
                  <a:srgbClr val="000000"/>
                </a:solidFill>
                <a:latin typeface="Inter"/>
                <a:ea typeface="Inter"/>
                <a:cs typeface="Inter"/>
                <a:sym typeface="Inter"/>
              </a:rPr>
              <a:t>, </a:t>
            </a:r>
            <a:r>
              <a:rPr lang="en-US" sz="1050" b="0" i="0" u="none" strike="noStrike" cap="none" dirty="0" err="1">
                <a:solidFill>
                  <a:srgbClr val="000000"/>
                </a:solidFill>
                <a:latin typeface="Inter"/>
                <a:ea typeface="Inter"/>
                <a:cs typeface="Inter"/>
                <a:sym typeface="Inter"/>
              </a:rPr>
              <a:t>BioButton</a:t>
            </a:r>
            <a:r>
              <a:rPr lang="en-US" sz="1050" b="0" i="0" u="none" strike="noStrike" cap="none" dirty="0">
                <a:solidFill>
                  <a:srgbClr val="000000"/>
                </a:solidFill>
                <a:latin typeface="Inter"/>
                <a:ea typeface="Inter"/>
                <a:cs typeface="Inter"/>
                <a:sym typeface="Inter"/>
              </a:rPr>
              <a:t>).</a:t>
            </a:r>
            <a:endParaRPr dirty="0"/>
          </a:p>
        </p:txBody>
      </p:sp>
      <p:sp>
        <p:nvSpPr>
          <p:cNvPr id="129" name="Google Shape;129;p15"/>
          <p:cNvSpPr txBox="1"/>
          <p:nvPr/>
        </p:nvSpPr>
        <p:spPr>
          <a:xfrm>
            <a:off x="6477000" y="4564207"/>
            <a:ext cx="5150643" cy="228600"/>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Inter"/>
                <a:ea typeface="Inter"/>
                <a:cs typeface="Inter"/>
                <a:sym typeface="Inter"/>
              </a:rPr>
              <a:t> Connected Hubs</a:t>
            </a:r>
            <a:endParaRPr dirty="0"/>
          </a:p>
        </p:txBody>
      </p:sp>
      <p:sp>
        <p:nvSpPr>
          <p:cNvPr id="130" name="Google Shape;130;p15"/>
          <p:cNvSpPr txBox="1"/>
          <p:nvPr/>
        </p:nvSpPr>
        <p:spPr>
          <a:xfrm>
            <a:off x="6477000" y="4888057"/>
            <a:ext cx="49053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Cellular-enabled gateways that aggregate data from multiple peripherals.</a:t>
            </a:r>
            <a:endParaRPr/>
          </a:p>
        </p:txBody>
      </p:sp>
      <p:pic>
        <p:nvPicPr>
          <p:cNvPr id="131" name="Google Shape;131;p15" descr="image.png"/>
          <p:cNvPicPr preferRelativeResize="0"/>
          <p:nvPr/>
        </p:nvPicPr>
        <p:blipFill rotWithShape="1">
          <a:blip r:embed="rId4">
            <a:alphaModFix/>
          </a:blip>
          <a:srcRect/>
          <a:stretch/>
        </p:blipFill>
        <p:spPr>
          <a:xfrm>
            <a:off x="857250" y="4583257"/>
            <a:ext cx="190500" cy="190500"/>
          </a:xfrm>
          <a:prstGeom prst="rect">
            <a:avLst/>
          </a:prstGeom>
          <a:noFill/>
          <a:ln>
            <a:noFill/>
          </a:ln>
        </p:spPr>
      </p:pic>
      <p:pic>
        <p:nvPicPr>
          <p:cNvPr id="132" name="Google Shape;132;p15" descr="image.png"/>
          <p:cNvPicPr preferRelativeResize="0"/>
          <p:nvPr/>
        </p:nvPicPr>
        <p:blipFill rotWithShape="1">
          <a:blip r:embed="rId5">
            <a:alphaModFix/>
          </a:blip>
          <a:srcRect/>
          <a:stretch/>
        </p:blipFill>
        <p:spPr>
          <a:xfrm>
            <a:off x="6477000" y="4583257"/>
            <a:ext cx="238125" cy="190500"/>
          </a:xfrm>
          <a:prstGeom prst="rect">
            <a:avLst/>
          </a:prstGeom>
          <a:noFill/>
          <a:ln>
            <a:noFill/>
          </a:ln>
        </p:spPr>
      </p:pic>
      <p:pic>
        <p:nvPicPr>
          <p:cNvPr id="133" name="Google Shape;133;p15" descr="image.png"/>
          <p:cNvPicPr preferRelativeResize="0"/>
          <p:nvPr/>
        </p:nvPicPr>
        <p:blipFill rotWithShape="1">
          <a:blip r:embed="rId6">
            <a:alphaModFix/>
          </a:blip>
          <a:srcRect/>
          <a:stretch/>
        </p:blipFill>
        <p:spPr>
          <a:xfrm>
            <a:off x="11178331" y="2547937"/>
            <a:ext cx="228600" cy="228600"/>
          </a:xfrm>
          <a:prstGeom prst="rect">
            <a:avLst/>
          </a:prstGeom>
          <a:noFill/>
          <a:ln>
            <a:noFill/>
          </a:ln>
        </p:spPr>
      </p:pic>
      <p:pic>
        <p:nvPicPr>
          <p:cNvPr id="134" name="Google Shape;134;p15" descr="image.png"/>
          <p:cNvPicPr preferRelativeResize="0"/>
          <p:nvPr/>
        </p:nvPicPr>
        <p:blipFill rotWithShape="1">
          <a:blip r:embed="rId7">
            <a:alphaModFix/>
          </a:blip>
          <a:srcRect/>
          <a:stretch/>
        </p:blipFill>
        <p:spPr>
          <a:xfrm>
            <a:off x="11149756" y="3605212"/>
            <a:ext cx="285750" cy="228600"/>
          </a:xfrm>
          <a:prstGeom prst="rect">
            <a:avLst/>
          </a:prstGeom>
          <a:noFill/>
          <a:ln>
            <a:noFill/>
          </a:ln>
        </p:spPr>
      </p:pic>
      <p:sp>
        <p:nvSpPr>
          <p:cNvPr id="135" name="Google Shape;135;p15"/>
          <p:cNvSpPr txBox="1"/>
          <p:nvPr/>
        </p:nvSpPr>
        <p:spPr>
          <a:xfrm>
            <a:off x="571500" y="6553200"/>
            <a:ext cx="2743200"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8"/>
              </a:rPr>
              <a:t>Fortune Business Insights (Device Segmentation)</a:t>
            </a:r>
            <a:endParaRPr dirty="0"/>
          </a:p>
        </p:txBody>
      </p:sp>
      <p:sp>
        <p:nvSpPr>
          <p:cNvPr id="2" name="Google Shape;119;p15">
            <a:extLst>
              <a:ext uri="{FF2B5EF4-FFF2-40B4-BE49-F238E27FC236}">
                <a16:creationId xmlns:a16="http://schemas.microsoft.com/office/drawing/2014/main" id="{79A6928D-8812-BD7F-4E98-13C781692A62}"/>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5FAE2B61-8142-5CB7-C6FB-CF189F6948F9}"/>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18E0ECED-6D85-B028-B0F8-006082BB5852}"/>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65414A66-51AF-77C4-7ACF-4DF9090971F2}"/>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5" name="Google Shape;281;p21">
            <a:extLst>
              <a:ext uri="{FF2B5EF4-FFF2-40B4-BE49-F238E27FC236}">
                <a16:creationId xmlns:a16="http://schemas.microsoft.com/office/drawing/2014/main" id="{BEAD87D6-1C23-B5FE-B998-8E9467EF7906}"/>
              </a:ext>
            </a:extLst>
          </p:cNvPr>
          <p:cNvSpPr/>
          <p:nvPr/>
        </p:nvSpPr>
        <p:spPr>
          <a:xfrm>
            <a:off x="9334500" y="-952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141" name="Google Shape;141;p16" descr="image.png"/>
          <p:cNvPicPr preferRelativeResize="0"/>
          <p:nvPr/>
        </p:nvPicPr>
        <p:blipFill rotWithShape="1">
          <a:blip r:embed="rId3">
            <a:alphaModFix/>
            <a:duotone>
              <a:prstClr val="black"/>
              <a:schemeClr val="accent2">
                <a:tint val="45000"/>
                <a:satMod val="400000"/>
              </a:schemeClr>
            </a:duotone>
          </a:blip>
          <a:srcRect/>
          <a:stretch/>
        </p:blipFill>
        <p:spPr>
          <a:xfrm>
            <a:off x="3333750" y="1695750"/>
            <a:ext cx="2571750" cy="1076325"/>
          </a:xfrm>
          <a:prstGeom prst="rect">
            <a:avLst/>
          </a:prstGeom>
          <a:noFill/>
          <a:ln>
            <a:noFill/>
          </a:ln>
        </p:spPr>
      </p:pic>
      <p:sp>
        <p:nvSpPr>
          <p:cNvPr id="144" name="Google Shape;144;p16"/>
          <p:cNvSpPr txBox="1"/>
          <p:nvPr/>
        </p:nvSpPr>
        <p:spPr>
          <a:xfrm>
            <a:off x="571500" y="381000"/>
            <a:ext cx="11049000"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3B82F6"/>
                </a:solidFill>
                <a:latin typeface="Inter"/>
                <a:ea typeface="Inter"/>
                <a:cs typeface="Inter"/>
                <a:sym typeface="Inter"/>
              </a:rPr>
              <a:t>SECTION 2: MARKET CONTEXT &amp; REGULATORY (1/2)</a:t>
            </a:r>
            <a:endParaRPr dirty="0"/>
          </a:p>
        </p:txBody>
      </p:sp>
      <p:sp>
        <p:nvSpPr>
          <p:cNvPr id="145" name="Google Shape;145;p16"/>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a:solidFill>
                  <a:srgbClr val="0F172A"/>
                </a:solidFill>
                <a:latin typeface="Inter"/>
                <a:ea typeface="Inter"/>
                <a:cs typeface="Inter"/>
                <a:sym typeface="Inter"/>
              </a:rPr>
              <a:t>Current Scenario in the USA</a:t>
            </a:r>
            <a:endParaRPr dirty="0"/>
          </a:p>
        </p:txBody>
      </p:sp>
      <p:sp>
        <p:nvSpPr>
          <p:cNvPr id="146" name="Google Shape;146;p16"/>
          <p:cNvSpPr txBox="1"/>
          <p:nvPr/>
        </p:nvSpPr>
        <p:spPr>
          <a:xfrm>
            <a:off x="6286500" y="1638300"/>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0000"/>
                </a:solidFill>
                <a:latin typeface="Inter"/>
                <a:ea typeface="Inter"/>
                <a:cs typeface="Inter"/>
                <a:sym typeface="Inter"/>
              </a:rPr>
              <a:t>Market Drivers</a:t>
            </a:r>
            <a:endParaRPr dirty="0"/>
          </a:p>
        </p:txBody>
      </p:sp>
      <p:grpSp>
        <p:nvGrpSpPr>
          <p:cNvPr id="14" name="Group 13">
            <a:extLst>
              <a:ext uri="{FF2B5EF4-FFF2-40B4-BE49-F238E27FC236}">
                <a16:creationId xmlns:a16="http://schemas.microsoft.com/office/drawing/2014/main" id="{612E05F9-3651-CAB5-7286-A7B64456E5CF}"/>
              </a:ext>
            </a:extLst>
          </p:cNvPr>
          <p:cNvGrpSpPr/>
          <p:nvPr/>
        </p:nvGrpSpPr>
        <p:grpSpPr>
          <a:xfrm>
            <a:off x="593332" y="2944613"/>
            <a:ext cx="2571750" cy="1076325"/>
            <a:chOff x="571500" y="1666875"/>
            <a:chExt cx="2571750" cy="1076325"/>
          </a:xfrm>
        </p:grpSpPr>
        <p:pic>
          <p:nvPicPr>
            <p:cNvPr id="140" name="Google Shape;140;p16" descr="image.png"/>
            <p:cNvPicPr preferRelativeResize="0"/>
            <p:nvPr/>
          </p:nvPicPr>
          <p:blipFill rotWithShape="1">
            <a:blip r:embed="rId4">
              <a:alphaModFix/>
              <a:duotone>
                <a:prstClr val="black"/>
                <a:schemeClr val="accent3">
                  <a:tint val="45000"/>
                  <a:satMod val="400000"/>
                </a:schemeClr>
              </a:duotone>
            </a:blip>
            <a:srcRect/>
            <a:stretch/>
          </p:blipFill>
          <p:spPr>
            <a:xfrm>
              <a:off x="571500" y="1666875"/>
              <a:ext cx="2571750" cy="1076325"/>
            </a:xfrm>
            <a:prstGeom prst="rect">
              <a:avLst/>
            </a:prstGeom>
            <a:noFill/>
            <a:ln>
              <a:noFill/>
            </a:ln>
          </p:spPr>
        </p:pic>
        <p:sp>
          <p:nvSpPr>
            <p:cNvPr id="147" name="Google Shape;147;p16"/>
            <p:cNvSpPr txBox="1"/>
            <p:nvPr/>
          </p:nvSpPr>
          <p:spPr>
            <a:xfrm>
              <a:off x="771525" y="1866900"/>
              <a:ext cx="2171700" cy="485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dirty="0">
                  <a:solidFill>
                    <a:srgbClr val="3B82F6"/>
                  </a:solidFill>
                  <a:latin typeface="Inter"/>
                  <a:ea typeface="Inter"/>
                  <a:cs typeface="Inter"/>
                  <a:sym typeface="Inter"/>
                </a:rPr>
                <a:t>$</a:t>
              </a:r>
              <a:r>
                <a:rPr lang="en-US" sz="3150" b="1" dirty="0">
                  <a:solidFill>
                    <a:srgbClr val="3B82F6"/>
                  </a:solidFill>
                  <a:latin typeface="Inter"/>
                  <a:ea typeface="Inter"/>
                  <a:cs typeface="Inter"/>
                  <a:sym typeface="Inter"/>
                </a:rPr>
                <a:t>14.15 </a:t>
              </a:r>
              <a:r>
                <a:rPr lang="en-US" sz="3150" b="1" i="0" u="none" strike="noStrike" cap="none" dirty="0">
                  <a:solidFill>
                    <a:srgbClr val="3B82F6"/>
                  </a:solidFill>
                  <a:latin typeface="Inter"/>
                  <a:ea typeface="Inter"/>
                  <a:cs typeface="Inter"/>
                  <a:sym typeface="Inter"/>
                </a:rPr>
                <a:t>B</a:t>
              </a:r>
              <a:endParaRPr dirty="0"/>
            </a:p>
          </p:txBody>
        </p:sp>
        <p:sp>
          <p:nvSpPr>
            <p:cNvPr id="148" name="Google Shape;148;p16"/>
            <p:cNvSpPr txBox="1"/>
            <p:nvPr/>
          </p:nvSpPr>
          <p:spPr>
            <a:xfrm>
              <a:off x="938212" y="2371725"/>
              <a:ext cx="1881990"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dirty="0">
                  <a:solidFill>
                    <a:srgbClr val="64748B"/>
                  </a:solidFill>
                  <a:latin typeface="Inter"/>
                  <a:ea typeface="Inter"/>
                  <a:cs typeface="Inter"/>
                  <a:sym typeface="Inter"/>
                </a:rPr>
                <a:t>USA </a:t>
              </a:r>
              <a:r>
                <a:rPr lang="en-US" sz="1050" b="0" i="0" u="none" strike="noStrike" cap="none" dirty="0">
                  <a:solidFill>
                    <a:srgbClr val="64748B"/>
                  </a:solidFill>
                  <a:latin typeface="Inter"/>
                  <a:ea typeface="Inter"/>
                  <a:cs typeface="Inter"/>
                  <a:sym typeface="Inter"/>
                </a:rPr>
                <a:t>MARKET </a:t>
              </a:r>
              <a:r>
                <a:rPr lang="en-US" sz="1050" dirty="0">
                  <a:solidFill>
                    <a:srgbClr val="64748B"/>
                  </a:solidFill>
                  <a:latin typeface="Inter"/>
                  <a:ea typeface="Inter"/>
                  <a:cs typeface="Inter"/>
                  <a:sym typeface="Inter"/>
                </a:rPr>
                <a:t>SIZE</a:t>
              </a:r>
              <a:r>
                <a:rPr lang="en-US" sz="1050" b="0" i="0" u="none" strike="noStrike" cap="none" dirty="0">
                  <a:solidFill>
                    <a:srgbClr val="64748B"/>
                  </a:solidFill>
                  <a:latin typeface="Inter"/>
                  <a:ea typeface="Inter"/>
                  <a:cs typeface="Inter"/>
                  <a:sym typeface="Inter"/>
                </a:rPr>
                <a:t> (2024) </a:t>
              </a:r>
              <a:endParaRPr lang="en-US" dirty="0"/>
            </a:p>
          </p:txBody>
        </p:sp>
      </p:grpSp>
      <p:sp>
        <p:nvSpPr>
          <p:cNvPr id="149" name="Google Shape;149;p16"/>
          <p:cNvSpPr txBox="1"/>
          <p:nvPr/>
        </p:nvSpPr>
        <p:spPr>
          <a:xfrm>
            <a:off x="3533775" y="1866900"/>
            <a:ext cx="2171700" cy="485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dirty="0">
                <a:solidFill>
                  <a:srgbClr val="3B82F6"/>
                </a:solidFill>
                <a:latin typeface="Inter"/>
                <a:ea typeface="Inter"/>
                <a:cs typeface="Inter"/>
                <a:sym typeface="Inter"/>
              </a:rPr>
              <a:t>19.1%</a:t>
            </a:r>
            <a:endParaRPr dirty="0"/>
          </a:p>
        </p:txBody>
      </p:sp>
      <p:sp>
        <p:nvSpPr>
          <p:cNvPr id="150" name="Google Shape;150;p16"/>
          <p:cNvSpPr txBox="1"/>
          <p:nvPr/>
        </p:nvSpPr>
        <p:spPr>
          <a:xfrm>
            <a:off x="3990874" y="2371725"/>
            <a:ext cx="1293395"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dirty="0">
                <a:solidFill>
                  <a:srgbClr val="64748B"/>
                </a:solidFill>
                <a:latin typeface="Inter"/>
                <a:ea typeface="Inter"/>
                <a:cs typeface="Inter"/>
                <a:sym typeface="Inter"/>
              </a:rPr>
              <a:t>CAGR (2024-2032) </a:t>
            </a:r>
            <a:endParaRPr dirty="0"/>
          </a:p>
        </p:txBody>
      </p:sp>
      <p:grpSp>
        <p:nvGrpSpPr>
          <p:cNvPr id="13" name="Group 12">
            <a:extLst>
              <a:ext uri="{FF2B5EF4-FFF2-40B4-BE49-F238E27FC236}">
                <a16:creationId xmlns:a16="http://schemas.microsoft.com/office/drawing/2014/main" id="{71A8F01D-014B-629E-71EC-3BA5B5AA7B3C}"/>
              </a:ext>
            </a:extLst>
          </p:cNvPr>
          <p:cNvGrpSpPr/>
          <p:nvPr/>
        </p:nvGrpSpPr>
        <p:grpSpPr>
          <a:xfrm>
            <a:off x="3365895" y="2943225"/>
            <a:ext cx="2571750" cy="1076325"/>
            <a:chOff x="571500" y="2933700"/>
            <a:chExt cx="2571750" cy="1076325"/>
          </a:xfrm>
        </p:grpSpPr>
        <p:pic>
          <p:nvPicPr>
            <p:cNvPr id="142" name="Google Shape;142;p16" descr="image.png"/>
            <p:cNvPicPr preferRelativeResize="0"/>
            <p:nvPr/>
          </p:nvPicPr>
          <p:blipFill rotWithShape="1">
            <a:blip r:embed="rId5">
              <a:alphaModFix/>
              <a:duotone>
                <a:prstClr val="black"/>
                <a:schemeClr val="accent4">
                  <a:tint val="45000"/>
                  <a:satMod val="400000"/>
                </a:schemeClr>
              </a:duotone>
            </a:blip>
            <a:srcRect/>
            <a:stretch/>
          </p:blipFill>
          <p:spPr>
            <a:xfrm>
              <a:off x="571500" y="2933700"/>
              <a:ext cx="2571750" cy="1076325"/>
            </a:xfrm>
            <a:prstGeom prst="rect">
              <a:avLst/>
            </a:prstGeom>
            <a:noFill/>
            <a:ln>
              <a:noFill/>
            </a:ln>
          </p:spPr>
        </p:pic>
        <p:sp>
          <p:nvSpPr>
            <p:cNvPr id="151" name="Google Shape;151;p16"/>
            <p:cNvSpPr txBox="1"/>
            <p:nvPr/>
          </p:nvSpPr>
          <p:spPr>
            <a:xfrm>
              <a:off x="757326" y="3108524"/>
              <a:ext cx="2171700" cy="485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dirty="0">
                  <a:solidFill>
                    <a:srgbClr val="3B82F6"/>
                  </a:solidFill>
                  <a:latin typeface="Inter"/>
                  <a:ea typeface="Inter"/>
                  <a:cs typeface="Inter"/>
                  <a:sym typeface="Inter"/>
                </a:rPr>
                <a:t>12.8</a:t>
              </a:r>
              <a:r>
                <a:rPr lang="en-US" sz="3150" b="1" i="0" u="none" strike="noStrike" cap="none" dirty="0">
                  <a:solidFill>
                    <a:srgbClr val="3B82F6"/>
                  </a:solidFill>
                  <a:latin typeface="Inter"/>
                  <a:ea typeface="Inter"/>
                  <a:cs typeface="Inter"/>
                  <a:sym typeface="Inter"/>
                </a:rPr>
                <a:t>%</a:t>
              </a:r>
              <a:endParaRPr dirty="0"/>
            </a:p>
          </p:txBody>
        </p:sp>
        <p:sp>
          <p:nvSpPr>
            <p:cNvPr id="152" name="Google Shape;152;p16"/>
            <p:cNvSpPr txBox="1"/>
            <p:nvPr/>
          </p:nvSpPr>
          <p:spPr>
            <a:xfrm>
              <a:off x="793357" y="3630179"/>
              <a:ext cx="2171700"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dirty="0">
                  <a:solidFill>
                    <a:srgbClr val="64748B"/>
                  </a:solidFill>
                  <a:latin typeface="Inter"/>
                  <a:ea typeface="Inter"/>
                  <a:cs typeface="Inter"/>
                  <a:sym typeface="Inter"/>
                </a:rPr>
                <a:t>CAGR (2024 – 2030)</a:t>
              </a:r>
              <a:endParaRPr dirty="0"/>
            </a:p>
          </p:txBody>
        </p:sp>
      </p:grpSp>
      <p:sp>
        <p:nvSpPr>
          <p:cNvPr id="153" name="Google Shape;153;p16"/>
          <p:cNvSpPr txBox="1"/>
          <p:nvPr/>
        </p:nvSpPr>
        <p:spPr>
          <a:xfrm>
            <a:off x="6572250" y="1885950"/>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Medicare/Medicaid Adoption:</a:t>
            </a:r>
            <a:r>
              <a:rPr lang="en-US" sz="1350" b="0" i="0" u="none" strike="noStrike" cap="none" dirty="0">
                <a:solidFill>
                  <a:srgbClr val="334155"/>
                </a:solidFill>
                <a:latin typeface="Inter"/>
                <a:ea typeface="Inter"/>
                <a:cs typeface="Inter"/>
                <a:sym typeface="Inter"/>
              </a:rPr>
              <a:t> Strong push via expanded CPT codes for reimbursement.</a:t>
            </a:r>
            <a:endParaRPr dirty="0"/>
          </a:p>
        </p:txBody>
      </p:sp>
      <p:sp>
        <p:nvSpPr>
          <p:cNvPr id="154" name="Google Shape;154;p16"/>
          <p:cNvSpPr txBox="1"/>
          <p:nvPr/>
        </p:nvSpPr>
        <p:spPr>
          <a:xfrm>
            <a:off x="6572250" y="2428875"/>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Chronic Disease Burden:</a:t>
            </a:r>
            <a:r>
              <a:rPr lang="en-US" sz="1350" b="0" i="0" u="none" strike="noStrike" cap="none" dirty="0">
                <a:solidFill>
                  <a:srgbClr val="334155"/>
                </a:solidFill>
                <a:latin typeface="Inter"/>
                <a:ea typeface="Inter"/>
                <a:cs typeface="Inter"/>
                <a:sym typeface="Inter"/>
              </a:rPr>
              <a:t> 6 in 10 US adults have a chronic disease (CDC data).</a:t>
            </a:r>
            <a:endParaRPr dirty="0"/>
          </a:p>
        </p:txBody>
      </p:sp>
      <p:sp>
        <p:nvSpPr>
          <p:cNvPr id="155" name="Google Shape;155;p16"/>
          <p:cNvSpPr txBox="1"/>
          <p:nvPr/>
        </p:nvSpPr>
        <p:spPr>
          <a:xfrm>
            <a:off x="6572250" y="2971800"/>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Hospital-at-Home:</a:t>
            </a:r>
            <a:r>
              <a:rPr lang="en-US" sz="1350" b="0" i="0" u="none" strike="noStrike" cap="none" dirty="0">
                <a:solidFill>
                  <a:srgbClr val="334155"/>
                </a:solidFill>
                <a:latin typeface="Inter"/>
                <a:ea typeface="Inter"/>
                <a:cs typeface="Inter"/>
                <a:sym typeface="Inter"/>
              </a:rPr>
              <a:t> Shift from inpatient to home-based recovery models to reduce readmissions.</a:t>
            </a:r>
            <a:endParaRPr dirty="0"/>
          </a:p>
        </p:txBody>
      </p:sp>
      <p:sp>
        <p:nvSpPr>
          <p:cNvPr id="156" name="Google Shape;156;p16"/>
          <p:cNvSpPr txBox="1"/>
          <p:nvPr/>
        </p:nvSpPr>
        <p:spPr>
          <a:xfrm>
            <a:off x="6572250" y="3514725"/>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Tech Maturity:</a:t>
            </a:r>
            <a:r>
              <a:rPr lang="en-US" sz="1350" b="0" i="0" u="none" strike="noStrike" cap="none" dirty="0">
                <a:solidFill>
                  <a:srgbClr val="334155"/>
                </a:solidFill>
                <a:latin typeface="Inter"/>
                <a:ea typeface="Inter"/>
                <a:cs typeface="Inter"/>
                <a:sym typeface="Inter"/>
              </a:rPr>
              <a:t> 5G and AI improving data transmission reliability.</a:t>
            </a:r>
            <a:endParaRPr dirty="0"/>
          </a:p>
        </p:txBody>
      </p:sp>
      <p:sp>
        <p:nvSpPr>
          <p:cNvPr id="157" name="Google Shape;157;p16"/>
          <p:cNvSpPr txBox="1"/>
          <p:nvPr/>
        </p:nvSpPr>
        <p:spPr>
          <a:xfrm>
            <a:off x="571500" y="6553200"/>
            <a:ext cx="4162425"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6"/>
              </a:rPr>
              <a:t>Fortune Business Insights</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7"/>
              </a:rPr>
              <a:t>CDC Chronic Disease Data</a:t>
            </a:r>
            <a:r>
              <a:rPr lang="en-US" sz="750" b="0" i="0" u="none" strike="noStrike" cap="none" dirty="0">
                <a:solidFill>
                  <a:srgbClr val="64748B"/>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8"/>
              </a:rPr>
              <a:t>MarketsandMarkets</a:t>
            </a:r>
            <a:endParaRPr dirty="0"/>
          </a:p>
        </p:txBody>
      </p:sp>
      <p:pic>
        <p:nvPicPr>
          <p:cNvPr id="158" name="Google Shape;158;p16" descr="image.png"/>
          <p:cNvPicPr preferRelativeResize="0"/>
          <p:nvPr/>
        </p:nvPicPr>
        <p:blipFill rotWithShape="1">
          <a:blip r:embed="rId9">
            <a:alphaModFix/>
          </a:blip>
          <a:srcRect/>
          <a:stretch/>
        </p:blipFill>
        <p:spPr>
          <a:xfrm>
            <a:off x="6286500" y="1885950"/>
            <a:ext cx="171450" cy="180975"/>
          </a:xfrm>
          <a:prstGeom prst="rect">
            <a:avLst/>
          </a:prstGeom>
          <a:noFill/>
          <a:ln>
            <a:noFill/>
          </a:ln>
        </p:spPr>
      </p:pic>
      <p:pic>
        <p:nvPicPr>
          <p:cNvPr id="159" name="Google Shape;159;p16" descr="image.png"/>
          <p:cNvPicPr preferRelativeResize="0"/>
          <p:nvPr/>
        </p:nvPicPr>
        <p:blipFill rotWithShape="1">
          <a:blip r:embed="rId9">
            <a:alphaModFix/>
          </a:blip>
          <a:srcRect/>
          <a:stretch/>
        </p:blipFill>
        <p:spPr>
          <a:xfrm>
            <a:off x="6286500" y="2428875"/>
            <a:ext cx="171450" cy="180975"/>
          </a:xfrm>
          <a:prstGeom prst="rect">
            <a:avLst/>
          </a:prstGeom>
          <a:noFill/>
          <a:ln>
            <a:noFill/>
          </a:ln>
        </p:spPr>
      </p:pic>
      <p:pic>
        <p:nvPicPr>
          <p:cNvPr id="160" name="Google Shape;160;p16" descr="image.png"/>
          <p:cNvPicPr preferRelativeResize="0"/>
          <p:nvPr/>
        </p:nvPicPr>
        <p:blipFill rotWithShape="1">
          <a:blip r:embed="rId9">
            <a:alphaModFix/>
          </a:blip>
          <a:srcRect/>
          <a:stretch/>
        </p:blipFill>
        <p:spPr>
          <a:xfrm>
            <a:off x="6286500" y="2971800"/>
            <a:ext cx="171450" cy="180975"/>
          </a:xfrm>
          <a:prstGeom prst="rect">
            <a:avLst/>
          </a:prstGeom>
          <a:noFill/>
          <a:ln>
            <a:noFill/>
          </a:ln>
        </p:spPr>
      </p:pic>
      <p:pic>
        <p:nvPicPr>
          <p:cNvPr id="161" name="Google Shape;161;p16" descr="image.png"/>
          <p:cNvPicPr preferRelativeResize="0"/>
          <p:nvPr/>
        </p:nvPicPr>
        <p:blipFill rotWithShape="1">
          <a:blip r:embed="rId9">
            <a:alphaModFix/>
          </a:blip>
          <a:srcRect/>
          <a:stretch/>
        </p:blipFill>
        <p:spPr>
          <a:xfrm>
            <a:off x="6286500" y="3514725"/>
            <a:ext cx="171450" cy="180975"/>
          </a:xfrm>
          <a:prstGeom prst="rect">
            <a:avLst/>
          </a:prstGeom>
          <a:noFill/>
          <a:ln>
            <a:noFill/>
          </a:ln>
        </p:spPr>
      </p:pic>
      <p:sp>
        <p:nvSpPr>
          <p:cNvPr id="4" name="Google Shape;119;p15">
            <a:extLst>
              <a:ext uri="{FF2B5EF4-FFF2-40B4-BE49-F238E27FC236}">
                <a16:creationId xmlns:a16="http://schemas.microsoft.com/office/drawing/2014/main" id="{84718176-5B94-FC68-4075-C30176C51107}"/>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0;p15">
            <a:extLst>
              <a:ext uri="{FF2B5EF4-FFF2-40B4-BE49-F238E27FC236}">
                <a16:creationId xmlns:a16="http://schemas.microsoft.com/office/drawing/2014/main" id="{C52D8AF7-8AE3-35D2-B64E-41E93AD2D8F1}"/>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121;p15">
            <a:extLst>
              <a:ext uri="{FF2B5EF4-FFF2-40B4-BE49-F238E27FC236}">
                <a16:creationId xmlns:a16="http://schemas.microsoft.com/office/drawing/2014/main" id="{BED5264B-DD7E-7DE5-3CC0-EC3733768C0B}"/>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Google Shape;122;p15">
            <a:extLst>
              <a:ext uri="{FF2B5EF4-FFF2-40B4-BE49-F238E27FC236}">
                <a16:creationId xmlns:a16="http://schemas.microsoft.com/office/drawing/2014/main" id="{E5F7F255-F6C7-5A51-5433-0CF74F13757B}"/>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151;p16">
            <a:extLst>
              <a:ext uri="{FF2B5EF4-FFF2-40B4-BE49-F238E27FC236}">
                <a16:creationId xmlns:a16="http://schemas.microsoft.com/office/drawing/2014/main" id="{DEE5541A-9BF5-EBC8-D0BF-DB3A57324F09}"/>
              </a:ext>
            </a:extLst>
          </p:cNvPr>
          <p:cNvSpPr txBox="1"/>
          <p:nvPr/>
        </p:nvSpPr>
        <p:spPr>
          <a:xfrm>
            <a:off x="295274" y="4638675"/>
            <a:ext cx="11601450" cy="27429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1" i="0" u="none" strike="noStrike" cap="none" dirty="0">
                <a:solidFill>
                  <a:srgbClr val="334155"/>
                </a:solidFill>
                <a:latin typeface="Inter"/>
                <a:ea typeface="Inter"/>
                <a:cs typeface="Inter"/>
                <a:sym typeface="Inter"/>
              </a:rPr>
              <a:t>Key Drivers of Adoption</a:t>
            </a:r>
            <a:endParaRPr dirty="0"/>
          </a:p>
        </p:txBody>
      </p:sp>
      <p:sp>
        <p:nvSpPr>
          <p:cNvPr id="3" name="Google Shape;152;p16">
            <a:extLst>
              <a:ext uri="{FF2B5EF4-FFF2-40B4-BE49-F238E27FC236}">
                <a16:creationId xmlns:a16="http://schemas.microsoft.com/office/drawing/2014/main" id="{26F20E9C-6A02-463D-47A0-001B6B11BEB6}"/>
              </a:ext>
            </a:extLst>
          </p:cNvPr>
          <p:cNvSpPr txBox="1"/>
          <p:nvPr/>
        </p:nvSpPr>
        <p:spPr>
          <a:xfrm>
            <a:off x="571500" y="5159267"/>
            <a:ext cx="11325224" cy="664797"/>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475569"/>
                </a:solidFill>
                <a:latin typeface="Inter"/>
                <a:ea typeface="Inter"/>
                <a:cs typeface="Inter"/>
                <a:sym typeface="Inter"/>
              </a:rPr>
              <a:t>Expanded Medicare coverage (CPT codes), rising prevalence of chronic conditions (60% of US adults), and the shift towards Hospital-at-Home models.</a:t>
            </a:r>
            <a:endParaRPr dirty="0"/>
          </a:p>
        </p:txBody>
      </p:sp>
      <p:grpSp>
        <p:nvGrpSpPr>
          <p:cNvPr id="12" name="Group 11">
            <a:extLst>
              <a:ext uri="{FF2B5EF4-FFF2-40B4-BE49-F238E27FC236}">
                <a16:creationId xmlns:a16="http://schemas.microsoft.com/office/drawing/2014/main" id="{721A5D14-F45D-0125-72CA-B8858A213F36}"/>
              </a:ext>
            </a:extLst>
          </p:cNvPr>
          <p:cNvGrpSpPr/>
          <p:nvPr/>
        </p:nvGrpSpPr>
        <p:grpSpPr>
          <a:xfrm>
            <a:off x="593332" y="1681459"/>
            <a:ext cx="2571750" cy="1075732"/>
            <a:chOff x="571500" y="1881188"/>
            <a:chExt cx="5334000" cy="2124075"/>
          </a:xfrm>
        </p:grpSpPr>
        <p:pic>
          <p:nvPicPr>
            <p:cNvPr id="8" name="Google Shape;143;p16" descr="image.png">
              <a:extLst>
                <a:ext uri="{FF2B5EF4-FFF2-40B4-BE49-F238E27FC236}">
                  <a16:creationId xmlns:a16="http://schemas.microsoft.com/office/drawing/2014/main" id="{D3E664C1-0C5B-BA34-AA67-6B34D9BE023E}"/>
                </a:ext>
              </a:extLst>
            </p:cNvPr>
            <p:cNvPicPr preferRelativeResize="0"/>
            <p:nvPr/>
          </p:nvPicPr>
          <p:blipFill rotWithShape="1">
            <a:blip r:embed="rId10">
              <a:clrChange>
                <a:clrFrom>
                  <a:srgbClr val="FFFFFF"/>
                </a:clrFrom>
                <a:clrTo>
                  <a:srgbClr val="FFFFFF">
                    <a:alpha val="0"/>
                  </a:srgbClr>
                </a:clrTo>
              </a:clrChange>
              <a:alphaModFix/>
              <a:duotone>
                <a:prstClr val="black"/>
                <a:schemeClr val="accent5">
                  <a:tint val="45000"/>
                  <a:satMod val="400000"/>
                </a:schemeClr>
              </a:duotone>
              <a:extLst>
                <a:ext uri="{BEBA8EAE-BF5A-486C-A8C5-ECC9F3942E4B}">
                  <a14:imgProps xmlns:a14="http://schemas.microsoft.com/office/drawing/2010/main">
                    <a14:imgLayer r:embed="rId11">
                      <a14:imgEffect>
                        <a14:colorTemperature colorTemp="4700"/>
                      </a14:imgEffect>
                    </a14:imgLayer>
                  </a14:imgProps>
                </a:ext>
              </a:extLst>
            </a:blip>
            <a:srcRect/>
            <a:stretch/>
          </p:blipFill>
          <p:spPr>
            <a:xfrm>
              <a:off x="571500" y="1881188"/>
              <a:ext cx="5334000" cy="2124075"/>
            </a:xfrm>
            <a:prstGeom prst="rect">
              <a:avLst/>
            </a:prstGeom>
            <a:noFill/>
            <a:ln>
              <a:noFill/>
            </a:ln>
          </p:spPr>
        </p:pic>
        <p:sp>
          <p:nvSpPr>
            <p:cNvPr id="9" name="Google Shape;153;p16">
              <a:extLst>
                <a:ext uri="{FF2B5EF4-FFF2-40B4-BE49-F238E27FC236}">
                  <a16:creationId xmlns:a16="http://schemas.microsoft.com/office/drawing/2014/main" id="{2D71F892-5CC7-B320-51C1-E52C39F224B0}"/>
                </a:ext>
              </a:extLst>
            </p:cNvPr>
            <p:cNvSpPr txBox="1"/>
            <p:nvPr/>
          </p:nvSpPr>
          <p:spPr>
            <a:xfrm>
              <a:off x="866064" y="2157463"/>
              <a:ext cx="4552949" cy="52138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i="0" u="none" strike="noStrike" cap="none" dirty="0">
                  <a:solidFill>
                    <a:srgbClr val="0284C7"/>
                  </a:solidFill>
                  <a:latin typeface="Inter"/>
                  <a:ea typeface="Inter"/>
                  <a:cs typeface="Inter"/>
                  <a:sym typeface="Inter"/>
                </a:rPr>
                <a:t>$50.4 B</a:t>
              </a:r>
              <a:endParaRPr sz="900" dirty="0"/>
            </a:p>
          </p:txBody>
        </p:sp>
        <p:sp>
          <p:nvSpPr>
            <p:cNvPr id="10" name="Google Shape;154;p16">
              <a:extLst>
                <a:ext uri="{FF2B5EF4-FFF2-40B4-BE49-F238E27FC236}">
                  <a16:creationId xmlns:a16="http://schemas.microsoft.com/office/drawing/2014/main" id="{625A001A-0D51-A1C2-BEC0-3EE76DB24485}"/>
                </a:ext>
              </a:extLst>
            </p:cNvPr>
            <p:cNvSpPr txBox="1"/>
            <p:nvPr/>
          </p:nvSpPr>
          <p:spPr>
            <a:xfrm>
              <a:off x="986365" y="3325473"/>
              <a:ext cx="4552949" cy="31905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i="0" u="none" strike="noStrike" cap="none" dirty="0">
                  <a:solidFill>
                    <a:srgbClr val="475569"/>
                  </a:solidFill>
                  <a:latin typeface="Inter"/>
                  <a:ea typeface="Inter"/>
                  <a:cs typeface="Inter"/>
                  <a:sym typeface="Inter"/>
                </a:rPr>
                <a:t>GLOBAL MARKET SIZE (2024)</a:t>
              </a:r>
              <a:endParaRPr lang="en-US" sz="1050" dirty="0"/>
            </a:p>
          </p:txBody>
        </p:sp>
      </p:grpSp>
      <p:sp>
        <p:nvSpPr>
          <p:cNvPr id="11" name="TextBox 10">
            <a:extLst>
              <a:ext uri="{FF2B5EF4-FFF2-40B4-BE49-F238E27FC236}">
                <a16:creationId xmlns:a16="http://schemas.microsoft.com/office/drawing/2014/main" id="{6C12FA15-1FBB-325C-5B03-6741A90F28F6}"/>
              </a:ext>
            </a:extLst>
          </p:cNvPr>
          <p:cNvSpPr txBox="1"/>
          <p:nvPr/>
        </p:nvSpPr>
        <p:spPr>
          <a:xfrm>
            <a:off x="7458077" y="6456461"/>
            <a:ext cx="4054315" cy="307777"/>
          </a:xfrm>
          <a:prstGeom prst="rect">
            <a:avLst/>
          </a:prstGeom>
          <a:noFill/>
        </p:spPr>
        <p:txBody>
          <a:bodyPr wrap="none" rtlCol="0">
            <a:spAutoFit/>
          </a:bodyPr>
          <a:lstStyle/>
          <a:p>
            <a:r>
              <a:rPr lang="en-IN" dirty="0">
                <a:latin typeface="Inter" panose="020B0604020202020204" charset="0"/>
                <a:ea typeface="Inter" panose="020B0604020202020204" charset="0"/>
              </a:rPr>
              <a:t>Abbr.: CPT= Current Procedural Terminology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5"/>
        <p:cNvGrpSpPr/>
        <p:nvPr/>
      </p:nvGrpSpPr>
      <p:grpSpPr>
        <a:xfrm>
          <a:off x="0" y="0"/>
          <a:ext cx="0" cy="0"/>
          <a:chOff x="0" y="0"/>
          <a:chExt cx="0" cy="0"/>
        </a:xfrm>
      </p:grpSpPr>
      <p:sp>
        <p:nvSpPr>
          <p:cNvPr id="10" name="Google Shape;417;p27">
            <a:extLst>
              <a:ext uri="{FF2B5EF4-FFF2-40B4-BE49-F238E27FC236}">
                <a16:creationId xmlns:a16="http://schemas.microsoft.com/office/drawing/2014/main" id="{B96A5799-A582-4202-0771-256A3CCD567E}"/>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17"/>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2: MARKET CONTEXT &amp; REGULATORY </a:t>
            </a:r>
            <a:r>
              <a:rPr lang="en-US" dirty="0">
                <a:solidFill>
                  <a:srgbClr val="3B82F6"/>
                </a:solidFill>
                <a:latin typeface="Inter"/>
                <a:ea typeface="Inter"/>
                <a:cs typeface="Inter"/>
                <a:sym typeface="Inter"/>
              </a:rPr>
              <a:t>(2/2)</a:t>
            </a:r>
            <a:endParaRPr dirty="0"/>
          </a:p>
        </p:txBody>
      </p:sp>
      <p:sp>
        <p:nvSpPr>
          <p:cNvPr id="167" name="Google Shape;167;p17"/>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Regulatory Environment &amp; Innovations</a:t>
            </a:r>
            <a:endParaRPr/>
          </a:p>
        </p:txBody>
      </p:sp>
      <p:sp>
        <p:nvSpPr>
          <p:cNvPr id="168" name="Google Shape;168;p17"/>
          <p:cNvSpPr txBox="1"/>
          <p:nvPr/>
        </p:nvSpPr>
        <p:spPr>
          <a:xfrm>
            <a:off x="571500" y="1666875"/>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Inter"/>
                <a:ea typeface="Inter"/>
                <a:cs typeface="Inter"/>
                <a:sym typeface="Inter"/>
              </a:rPr>
              <a:t>Key CPT Reimbursement Codes (2025)</a:t>
            </a:r>
            <a:endParaRPr/>
          </a:p>
        </p:txBody>
      </p:sp>
      <p:graphicFrame>
        <p:nvGraphicFramePr>
          <p:cNvPr id="169" name="Google Shape;169;p17"/>
          <p:cNvGraphicFramePr/>
          <p:nvPr/>
        </p:nvGraphicFramePr>
        <p:xfrm>
          <a:off x="571500" y="2028825"/>
          <a:ext cx="5334000" cy="2276500"/>
        </p:xfrm>
        <a:graphic>
          <a:graphicData uri="http://schemas.openxmlformats.org/drawingml/2006/table">
            <a:tbl>
              <a:tblPr firstRow="1" bandRow="1">
                <a:noFill/>
                <a:tableStyleId>{95F03BE6-EC8F-46A9-A9EA-9C163B19A885}</a:tableStyleId>
              </a:tblPr>
              <a:tblGrid>
                <a:gridCol w="746225">
                  <a:extLst>
                    <a:ext uri="{9D8B030D-6E8A-4147-A177-3AD203B41FA5}">
                      <a16:colId xmlns:a16="http://schemas.microsoft.com/office/drawing/2014/main" val="20000"/>
                    </a:ext>
                  </a:extLst>
                </a:gridCol>
                <a:gridCol w="3652100">
                  <a:extLst>
                    <a:ext uri="{9D8B030D-6E8A-4147-A177-3AD203B41FA5}">
                      <a16:colId xmlns:a16="http://schemas.microsoft.com/office/drawing/2014/main" val="20001"/>
                    </a:ext>
                  </a:extLst>
                </a:gridCol>
                <a:gridCol w="935675">
                  <a:extLst>
                    <a:ext uri="{9D8B030D-6E8A-4147-A177-3AD203B41FA5}">
                      <a16:colId xmlns:a16="http://schemas.microsoft.com/office/drawing/2014/main" val="20002"/>
                    </a:ext>
                  </a:extLst>
                </a:gridCol>
              </a:tblGrid>
              <a:tr h="455300">
                <a:tc>
                  <a:txBody>
                    <a:bodyPr/>
                    <a:lstStyle/>
                    <a:p>
                      <a:pPr marL="0" marR="0" lvl="0" indent="0" algn="l" rtl="0">
                        <a:spcBef>
                          <a:spcPts val="0"/>
                        </a:spcBef>
                        <a:spcAft>
                          <a:spcPts val="0"/>
                        </a:spcAft>
                        <a:buNone/>
                      </a:pPr>
                      <a:r>
                        <a:rPr lang="en-US" sz="1050" b="1" i="0" u="none" strike="noStrike" cap="none">
                          <a:solidFill>
                            <a:srgbClr val="FFFFFF"/>
                          </a:solidFill>
                          <a:latin typeface="Inter"/>
                          <a:ea typeface="Inter"/>
                          <a:cs typeface="Inter"/>
                          <a:sym typeface="Inter"/>
                        </a:rPr>
                        <a:t>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Inter"/>
                          <a:ea typeface="Inter"/>
                          <a:cs typeface="Inter"/>
                          <a:sym typeface="Inter"/>
                        </a:rPr>
                        <a:t>Description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Inter"/>
                          <a:ea typeface="Inter"/>
                          <a:cs typeface="Inter"/>
                          <a:sym typeface="Inter"/>
                        </a:rPr>
                        <a:t>Avg. Rate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455300">
                <a:tc>
                  <a:txBody>
                    <a:bodyPr/>
                    <a:lstStyle/>
                    <a:p>
                      <a:pPr marL="0" marR="0" lvl="0" indent="0" algn="l" rtl="0">
                        <a:spcBef>
                          <a:spcPts val="0"/>
                        </a:spcBef>
                        <a:spcAft>
                          <a:spcPts val="0"/>
                        </a:spcAft>
                        <a:buNone/>
                      </a:pPr>
                      <a:r>
                        <a:rPr lang="en-US" sz="1050" b="1" i="0" u="none" strike="noStrike" cap="none">
                          <a:solidFill>
                            <a:srgbClr val="334155"/>
                          </a:solidFill>
                          <a:latin typeface="Inter"/>
                          <a:ea typeface="Inter"/>
                          <a:cs typeface="Inter"/>
                          <a:sym typeface="Inter"/>
                        </a:rPr>
                        <a:t>99453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Initial setup &amp; patient education (One-time)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~$19-20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455300">
                <a:tc>
                  <a:txBody>
                    <a:bodyPr/>
                    <a:lstStyle/>
                    <a:p>
                      <a:pPr marL="0" marR="0" lvl="0" indent="0" algn="l" rtl="0">
                        <a:spcBef>
                          <a:spcPts val="0"/>
                        </a:spcBef>
                        <a:spcAft>
                          <a:spcPts val="0"/>
                        </a:spcAft>
                        <a:buNone/>
                      </a:pPr>
                      <a:r>
                        <a:rPr lang="en-US" sz="1050" b="1" i="0" u="none" strike="noStrike" cap="none">
                          <a:solidFill>
                            <a:srgbClr val="334155"/>
                          </a:solidFill>
                          <a:latin typeface="Inter"/>
                          <a:ea typeface="Inter"/>
                          <a:cs typeface="Inter"/>
                          <a:sym typeface="Inter"/>
                        </a:rPr>
                        <a:t>99454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Monthly device supply &amp; transmission (16 days/mo)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~$43-47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5300">
                <a:tc>
                  <a:txBody>
                    <a:bodyPr/>
                    <a:lstStyle/>
                    <a:p>
                      <a:pPr marL="0" marR="0" lvl="0" indent="0" algn="l" rtl="0">
                        <a:spcBef>
                          <a:spcPts val="0"/>
                        </a:spcBef>
                        <a:spcAft>
                          <a:spcPts val="0"/>
                        </a:spcAft>
                        <a:buNone/>
                      </a:pPr>
                      <a:r>
                        <a:rPr lang="en-US" sz="1050" b="1" i="0" u="none" strike="noStrike" cap="none">
                          <a:solidFill>
                            <a:srgbClr val="334155"/>
                          </a:solidFill>
                          <a:latin typeface="Inter"/>
                          <a:ea typeface="Inter"/>
                          <a:cs typeface="Inter"/>
                          <a:sym typeface="Inter"/>
                        </a:rPr>
                        <a:t>99457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Remote treatment management (First 20 mins)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a:solidFill>
                            <a:srgbClr val="334155"/>
                          </a:solidFill>
                          <a:latin typeface="Inter"/>
                          <a:ea typeface="Inter"/>
                          <a:cs typeface="Inter"/>
                          <a:sym typeface="Inter"/>
                        </a:rPr>
                        <a:t>~$48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3"/>
                  </a:ext>
                </a:extLst>
              </a:tr>
              <a:tr h="455300">
                <a:tc>
                  <a:txBody>
                    <a:bodyPr/>
                    <a:lstStyle/>
                    <a:p>
                      <a:pPr marL="0" marR="0" lvl="0" indent="0" algn="l" rtl="0">
                        <a:spcBef>
                          <a:spcPts val="0"/>
                        </a:spcBef>
                        <a:spcAft>
                          <a:spcPts val="0"/>
                        </a:spcAft>
                        <a:buNone/>
                      </a:pPr>
                      <a:r>
                        <a:rPr lang="en-US" sz="1050" b="1" i="0" u="none" strike="noStrike" cap="none">
                          <a:solidFill>
                            <a:srgbClr val="334155"/>
                          </a:solidFill>
                          <a:latin typeface="Inter"/>
                          <a:ea typeface="Inter"/>
                          <a:cs typeface="Inter"/>
                          <a:sym typeface="Inter"/>
                        </a:rPr>
                        <a:t>99458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Inter"/>
                          <a:ea typeface="Inter"/>
                          <a:cs typeface="Inter"/>
                          <a:sym typeface="Inter"/>
                        </a:rPr>
                        <a:t>Addt'l 20 mins management (Add-on)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dirty="0">
                          <a:solidFill>
                            <a:srgbClr val="334155"/>
                          </a:solidFill>
                          <a:latin typeface="Inter"/>
                          <a:ea typeface="Inter"/>
                          <a:cs typeface="Inter"/>
                          <a:sym typeface="Inter"/>
                        </a:rPr>
                        <a:t>~$39</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70" name="Google Shape;170;p17"/>
          <p:cNvSpPr txBox="1"/>
          <p:nvPr/>
        </p:nvSpPr>
        <p:spPr>
          <a:xfrm>
            <a:off x="6286500" y="1666875"/>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Inter"/>
                <a:ea typeface="Inter"/>
                <a:cs typeface="Inter"/>
                <a:sym typeface="Inter"/>
              </a:rPr>
              <a:t>Compliance &amp; Tech Trends</a:t>
            </a:r>
            <a:endParaRPr/>
          </a:p>
        </p:txBody>
      </p:sp>
      <p:sp>
        <p:nvSpPr>
          <p:cNvPr id="171" name="Google Shape;171;p17"/>
          <p:cNvSpPr txBox="1"/>
          <p:nvPr/>
        </p:nvSpPr>
        <p:spPr>
          <a:xfrm>
            <a:off x="6572250" y="2028825"/>
            <a:ext cx="5048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FDA Classification:</a:t>
            </a:r>
            <a:r>
              <a:rPr lang="en-US" sz="1350" b="0" i="0" u="none" strike="noStrike" cap="none">
                <a:solidFill>
                  <a:srgbClr val="334155"/>
                </a:solidFill>
                <a:latin typeface="Inter"/>
                <a:ea typeface="Inter"/>
                <a:cs typeface="Inter"/>
                <a:sym typeface="Inter"/>
              </a:rPr>
              <a:t> Most RPM devices are Class II medical devices requiring 510(k) clearance.</a:t>
            </a:r>
            <a:endParaRPr/>
          </a:p>
        </p:txBody>
      </p:sp>
      <p:sp>
        <p:nvSpPr>
          <p:cNvPr id="172" name="Google Shape;172;p17"/>
          <p:cNvSpPr txBox="1"/>
          <p:nvPr/>
        </p:nvSpPr>
        <p:spPr>
          <a:xfrm>
            <a:off x="6572250" y="2571750"/>
            <a:ext cx="5048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HIPAA:</a:t>
            </a:r>
            <a:r>
              <a:rPr lang="en-US" sz="1350" b="0" i="0" u="none" strike="noStrike" cap="none">
                <a:solidFill>
                  <a:srgbClr val="334155"/>
                </a:solidFill>
                <a:latin typeface="Inter"/>
                <a:ea typeface="Inter"/>
                <a:cs typeface="Inter"/>
                <a:sym typeface="Inter"/>
              </a:rPr>
              <a:t> Strict data encryption requirements for cloud transmission.</a:t>
            </a:r>
            <a:endParaRPr/>
          </a:p>
        </p:txBody>
      </p:sp>
      <p:sp>
        <p:nvSpPr>
          <p:cNvPr id="173" name="Google Shape;173;p17"/>
          <p:cNvSpPr txBox="1"/>
          <p:nvPr/>
        </p:nvSpPr>
        <p:spPr>
          <a:xfrm>
            <a:off x="6572250" y="3114675"/>
            <a:ext cx="5048250" cy="11906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Recent Innovations:</a:t>
            </a:r>
            <a:endParaRPr/>
          </a:p>
        </p:txBody>
      </p:sp>
      <p:sp>
        <p:nvSpPr>
          <p:cNvPr id="174" name="Google Shape;174;p17"/>
          <p:cNvSpPr/>
          <p:nvPr/>
        </p:nvSpPr>
        <p:spPr>
          <a:xfrm>
            <a:off x="571500" y="2919412"/>
            <a:ext cx="74622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7"/>
          <p:cNvSpPr/>
          <p:nvPr/>
        </p:nvSpPr>
        <p:spPr>
          <a:xfrm>
            <a:off x="1317724" y="2919412"/>
            <a:ext cx="36520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7"/>
          <p:cNvSpPr/>
          <p:nvPr/>
        </p:nvSpPr>
        <p:spPr>
          <a:xfrm>
            <a:off x="4969817" y="2919412"/>
            <a:ext cx="9356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7"/>
          <p:cNvSpPr/>
          <p:nvPr/>
        </p:nvSpPr>
        <p:spPr>
          <a:xfrm>
            <a:off x="571500" y="3376612"/>
            <a:ext cx="74622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7"/>
          <p:cNvSpPr/>
          <p:nvPr/>
        </p:nvSpPr>
        <p:spPr>
          <a:xfrm>
            <a:off x="1317724" y="3376612"/>
            <a:ext cx="36520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7"/>
          <p:cNvSpPr/>
          <p:nvPr/>
        </p:nvSpPr>
        <p:spPr>
          <a:xfrm>
            <a:off x="4969817" y="3376612"/>
            <a:ext cx="9356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7"/>
          <p:cNvSpPr/>
          <p:nvPr/>
        </p:nvSpPr>
        <p:spPr>
          <a:xfrm>
            <a:off x="571500" y="3833812"/>
            <a:ext cx="74622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7"/>
          <p:cNvSpPr/>
          <p:nvPr/>
        </p:nvSpPr>
        <p:spPr>
          <a:xfrm>
            <a:off x="1317724" y="3833812"/>
            <a:ext cx="36520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7"/>
          <p:cNvSpPr/>
          <p:nvPr/>
        </p:nvSpPr>
        <p:spPr>
          <a:xfrm>
            <a:off x="4969817" y="3833812"/>
            <a:ext cx="9356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7"/>
          <p:cNvSpPr/>
          <p:nvPr/>
        </p:nvSpPr>
        <p:spPr>
          <a:xfrm>
            <a:off x="571500" y="4291012"/>
            <a:ext cx="74622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7"/>
          <p:cNvSpPr/>
          <p:nvPr/>
        </p:nvSpPr>
        <p:spPr>
          <a:xfrm>
            <a:off x="1317724" y="4291012"/>
            <a:ext cx="36520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7"/>
          <p:cNvSpPr/>
          <p:nvPr/>
        </p:nvSpPr>
        <p:spPr>
          <a:xfrm>
            <a:off x="4969817" y="4291012"/>
            <a:ext cx="9356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7"/>
          <p:cNvSpPr txBox="1"/>
          <p:nvPr/>
        </p:nvSpPr>
        <p:spPr>
          <a:xfrm>
            <a:off x="571500" y="6553200"/>
            <a:ext cx="4337050" cy="330860"/>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err="1">
                <a:solidFill>
                  <a:srgbClr val="64748B"/>
                </a:solidFill>
                <a:latin typeface="Inter"/>
                <a:ea typeface="Inter"/>
                <a:cs typeface="Inter"/>
                <a:sym typeface="Inter"/>
                <a:hlinkClick r:id="rId3"/>
              </a:rPr>
              <a:t>Rimidi</a:t>
            </a:r>
            <a:r>
              <a:rPr lang="en-US" sz="750" b="0" i="0" u="none" strike="noStrike" cap="none" dirty="0">
                <a:solidFill>
                  <a:srgbClr val="64748B"/>
                </a:solidFill>
                <a:latin typeface="Inter"/>
                <a:ea typeface="Inter"/>
                <a:cs typeface="Inter"/>
                <a:sym typeface="Inter"/>
                <a:hlinkClick r:id="rId3"/>
              </a:rPr>
              <a:t> (2025 CPT Codes)</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4"/>
              </a:rPr>
              <a:t>CMS Physician Fee Schedule</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5"/>
              </a:rPr>
              <a:t>FDA Digital Health Center</a:t>
            </a:r>
            <a:endParaRPr lang="en-US" sz="750" dirty="0"/>
          </a:p>
          <a:p>
            <a:pPr marL="0" marR="0" lvl="0" indent="0" algn="l" rtl="0">
              <a:spcBef>
                <a:spcPts val="0"/>
              </a:spcBef>
              <a:spcAft>
                <a:spcPts val="0"/>
              </a:spcAft>
              <a:buNone/>
            </a:pPr>
            <a:endParaRPr dirty="0"/>
          </a:p>
        </p:txBody>
      </p:sp>
      <p:pic>
        <p:nvPicPr>
          <p:cNvPr id="187" name="Google Shape;187;p17" descr="image.png"/>
          <p:cNvPicPr preferRelativeResize="0"/>
          <p:nvPr/>
        </p:nvPicPr>
        <p:blipFill rotWithShape="1">
          <a:blip r:embed="rId6">
            <a:alphaModFix/>
          </a:blip>
          <a:srcRect/>
          <a:stretch/>
        </p:blipFill>
        <p:spPr>
          <a:xfrm>
            <a:off x="6286500" y="2028825"/>
            <a:ext cx="171450" cy="180975"/>
          </a:xfrm>
          <a:prstGeom prst="rect">
            <a:avLst/>
          </a:prstGeom>
          <a:noFill/>
          <a:ln>
            <a:noFill/>
          </a:ln>
        </p:spPr>
      </p:pic>
      <p:pic>
        <p:nvPicPr>
          <p:cNvPr id="188" name="Google Shape;188;p17" descr="image.png"/>
          <p:cNvPicPr preferRelativeResize="0"/>
          <p:nvPr/>
        </p:nvPicPr>
        <p:blipFill rotWithShape="1">
          <a:blip r:embed="rId6">
            <a:alphaModFix/>
          </a:blip>
          <a:srcRect/>
          <a:stretch/>
        </p:blipFill>
        <p:spPr>
          <a:xfrm>
            <a:off x="6286500" y="2571750"/>
            <a:ext cx="171450" cy="180975"/>
          </a:xfrm>
          <a:prstGeom prst="rect">
            <a:avLst/>
          </a:prstGeom>
          <a:noFill/>
          <a:ln>
            <a:noFill/>
          </a:ln>
        </p:spPr>
      </p:pic>
      <p:pic>
        <p:nvPicPr>
          <p:cNvPr id="189" name="Google Shape;189;p17" descr="image.png"/>
          <p:cNvPicPr preferRelativeResize="0"/>
          <p:nvPr/>
        </p:nvPicPr>
        <p:blipFill rotWithShape="1">
          <a:blip r:embed="rId6">
            <a:alphaModFix/>
          </a:blip>
          <a:srcRect/>
          <a:stretch/>
        </p:blipFill>
        <p:spPr>
          <a:xfrm>
            <a:off x="6286500" y="3114675"/>
            <a:ext cx="171450" cy="180975"/>
          </a:xfrm>
          <a:prstGeom prst="rect">
            <a:avLst/>
          </a:prstGeom>
          <a:noFill/>
          <a:ln>
            <a:noFill/>
          </a:ln>
        </p:spPr>
      </p:pic>
      <p:sp>
        <p:nvSpPr>
          <p:cNvPr id="190" name="Google Shape;190;p17"/>
          <p:cNvSpPr txBox="1"/>
          <p:nvPr/>
        </p:nvSpPr>
        <p:spPr>
          <a:xfrm>
            <a:off x="7143750" y="3362325"/>
            <a:ext cx="44767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AI-Enabled RPM:</a:t>
            </a:r>
            <a:r>
              <a:rPr lang="en-US" sz="1350" b="0" i="0" u="none" strike="noStrike" cap="none" dirty="0">
                <a:solidFill>
                  <a:srgbClr val="334155"/>
                </a:solidFill>
                <a:latin typeface="Inter"/>
                <a:ea typeface="Inter"/>
                <a:cs typeface="Inter"/>
                <a:sym typeface="Inter"/>
              </a:rPr>
              <a:t> Predictive analytics to alert providers </a:t>
            </a:r>
            <a:r>
              <a:rPr lang="en-US" sz="1350" b="1" i="1" u="sng" strike="noStrike" cap="none" dirty="0">
                <a:solidFill>
                  <a:srgbClr val="334155"/>
                </a:solidFill>
                <a:latin typeface="Inter"/>
                <a:ea typeface="Inter"/>
                <a:cs typeface="Inter"/>
                <a:sym typeface="Inter"/>
              </a:rPr>
              <a:t>before</a:t>
            </a:r>
            <a:r>
              <a:rPr lang="en-US" sz="1350" b="0" i="0" u="none" strike="noStrike" cap="none" dirty="0">
                <a:solidFill>
                  <a:srgbClr val="334155"/>
                </a:solidFill>
                <a:latin typeface="Inter"/>
                <a:ea typeface="Inter"/>
                <a:cs typeface="Inter"/>
                <a:sym typeface="Inter"/>
              </a:rPr>
              <a:t> an emergency.</a:t>
            </a:r>
            <a:endParaRPr dirty="0"/>
          </a:p>
        </p:txBody>
      </p:sp>
      <p:sp>
        <p:nvSpPr>
          <p:cNvPr id="191" name="Google Shape;191;p17"/>
          <p:cNvSpPr txBox="1"/>
          <p:nvPr/>
        </p:nvSpPr>
        <p:spPr>
          <a:xfrm>
            <a:off x="7143750" y="3905250"/>
            <a:ext cx="44767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Bio-stickers:</a:t>
            </a:r>
            <a:r>
              <a:rPr lang="en-US" sz="1350" b="0" i="0" u="none" strike="noStrike" cap="none" dirty="0">
                <a:solidFill>
                  <a:srgbClr val="334155"/>
                </a:solidFill>
                <a:latin typeface="Inter"/>
                <a:ea typeface="Inter"/>
                <a:cs typeface="Inter"/>
                <a:sym typeface="Inter"/>
              </a:rPr>
              <a:t> Flexible, single-use multi-parameter patches (e.g., </a:t>
            </a:r>
            <a:r>
              <a:rPr lang="en-US" sz="1350" b="0" i="0" u="none" strike="noStrike" cap="none" dirty="0" err="1">
                <a:solidFill>
                  <a:srgbClr val="334155"/>
                </a:solidFill>
                <a:latin typeface="Inter"/>
                <a:ea typeface="Inter"/>
                <a:cs typeface="Inter"/>
                <a:sym typeface="Inter"/>
              </a:rPr>
              <a:t>BioButton</a:t>
            </a:r>
            <a:r>
              <a:rPr lang="en-US" sz="1350" b="0" i="0" u="none" strike="noStrike" cap="none" dirty="0">
                <a:solidFill>
                  <a:srgbClr val="334155"/>
                </a:solidFill>
                <a:latin typeface="Inter"/>
                <a:ea typeface="Inter"/>
                <a:cs typeface="Inter"/>
                <a:sym typeface="Inter"/>
              </a:rPr>
              <a:t>).</a:t>
            </a:r>
            <a:endParaRPr dirty="0"/>
          </a:p>
        </p:txBody>
      </p:sp>
      <p:pic>
        <p:nvPicPr>
          <p:cNvPr id="192" name="Google Shape;192;p17" descr="image.png"/>
          <p:cNvPicPr preferRelativeResize="0"/>
          <p:nvPr/>
        </p:nvPicPr>
        <p:blipFill rotWithShape="1">
          <a:blip r:embed="rId6">
            <a:alphaModFix/>
          </a:blip>
          <a:srcRect/>
          <a:stretch/>
        </p:blipFill>
        <p:spPr>
          <a:xfrm>
            <a:off x="6858000" y="3362325"/>
            <a:ext cx="171450" cy="180975"/>
          </a:xfrm>
          <a:prstGeom prst="rect">
            <a:avLst/>
          </a:prstGeom>
          <a:noFill/>
          <a:ln>
            <a:noFill/>
          </a:ln>
        </p:spPr>
      </p:pic>
      <p:pic>
        <p:nvPicPr>
          <p:cNvPr id="193" name="Google Shape;193;p17" descr="image.png"/>
          <p:cNvPicPr preferRelativeResize="0"/>
          <p:nvPr/>
        </p:nvPicPr>
        <p:blipFill rotWithShape="1">
          <a:blip r:embed="rId6">
            <a:alphaModFix/>
          </a:blip>
          <a:srcRect/>
          <a:stretch/>
        </p:blipFill>
        <p:spPr>
          <a:xfrm>
            <a:off x="6858000" y="3905250"/>
            <a:ext cx="171450" cy="180975"/>
          </a:xfrm>
          <a:prstGeom prst="rect">
            <a:avLst/>
          </a:prstGeom>
          <a:noFill/>
          <a:ln>
            <a:noFill/>
          </a:ln>
        </p:spPr>
      </p:pic>
      <p:sp>
        <p:nvSpPr>
          <p:cNvPr id="2" name="Google Shape;119;p15">
            <a:extLst>
              <a:ext uri="{FF2B5EF4-FFF2-40B4-BE49-F238E27FC236}">
                <a16:creationId xmlns:a16="http://schemas.microsoft.com/office/drawing/2014/main" id="{1F68245C-4CA7-01BC-66A2-4761C0E3EC6B}"/>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37FD7517-2254-B99B-46C9-F82A760BD27B}"/>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1ABED6F3-DB55-D33C-7759-B24350858375}"/>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83E78B2D-BD1C-C915-9F5F-14BC80EA1A08}"/>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172;p17">
            <a:extLst>
              <a:ext uri="{FF2B5EF4-FFF2-40B4-BE49-F238E27FC236}">
                <a16:creationId xmlns:a16="http://schemas.microsoft.com/office/drawing/2014/main" id="{2EC77805-40DC-D970-83B1-2C8AE88501D5}"/>
              </a:ext>
            </a:extLst>
          </p:cNvPr>
          <p:cNvSpPr txBox="1"/>
          <p:nvPr/>
        </p:nvSpPr>
        <p:spPr>
          <a:xfrm>
            <a:off x="571500" y="4697761"/>
            <a:ext cx="6600825" cy="2742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800" b="1" i="0" u="none" strike="noStrike" cap="none" dirty="0">
                <a:solidFill>
                  <a:srgbClr val="334155"/>
                </a:solidFill>
                <a:latin typeface="Inter"/>
                <a:ea typeface="Inter"/>
                <a:cs typeface="Inter"/>
                <a:sym typeface="Inter"/>
              </a:rPr>
              <a:t>Innovation Trends</a:t>
            </a:r>
            <a:endParaRPr dirty="0"/>
          </a:p>
        </p:txBody>
      </p:sp>
      <p:sp>
        <p:nvSpPr>
          <p:cNvPr id="7" name="Google Shape;173;p17">
            <a:extLst>
              <a:ext uri="{FF2B5EF4-FFF2-40B4-BE49-F238E27FC236}">
                <a16:creationId xmlns:a16="http://schemas.microsoft.com/office/drawing/2014/main" id="{54D8C37D-9BE6-3ACB-D431-BD1AC3C3D95F}"/>
              </a:ext>
            </a:extLst>
          </p:cNvPr>
          <p:cNvSpPr txBox="1"/>
          <p:nvPr/>
        </p:nvSpPr>
        <p:spPr>
          <a:xfrm>
            <a:off x="571499" y="5143501"/>
            <a:ext cx="11049000" cy="664797"/>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475569"/>
                </a:solidFill>
                <a:latin typeface="Inter"/>
                <a:ea typeface="Inter"/>
                <a:cs typeface="Inter"/>
                <a:sym typeface="Inter"/>
              </a:rPr>
              <a:t>Integration of AI for predictive analytics, rigorous HIPAA compliance for cloud data, and the rise of "deviceless" RPM using smartphone sensors.</a:t>
            </a:r>
            <a:endParaRPr dirty="0"/>
          </a:p>
        </p:txBody>
      </p:sp>
      <p:sp>
        <p:nvSpPr>
          <p:cNvPr id="8" name="TextBox 7">
            <a:extLst>
              <a:ext uri="{FF2B5EF4-FFF2-40B4-BE49-F238E27FC236}">
                <a16:creationId xmlns:a16="http://schemas.microsoft.com/office/drawing/2014/main" id="{0E0A2BEB-06F7-9922-C3F2-10C4D07BDCAB}"/>
              </a:ext>
            </a:extLst>
          </p:cNvPr>
          <p:cNvSpPr txBox="1"/>
          <p:nvPr/>
        </p:nvSpPr>
        <p:spPr>
          <a:xfrm>
            <a:off x="6391274" y="6540699"/>
            <a:ext cx="5810251" cy="307777"/>
          </a:xfrm>
          <a:prstGeom prst="rect">
            <a:avLst/>
          </a:prstGeom>
          <a:noFill/>
        </p:spPr>
        <p:txBody>
          <a:bodyPr wrap="square" rtlCol="0">
            <a:spAutoFit/>
          </a:bodyPr>
          <a:lstStyle/>
          <a:p>
            <a:r>
              <a:rPr lang="en-IN" dirty="0">
                <a:latin typeface="Inter" panose="020B0604020202020204" charset="0"/>
                <a:ea typeface="Inter" panose="020B0604020202020204" charset="0"/>
              </a:rPr>
              <a:t>Abbr.: HIPAA= </a:t>
            </a:r>
            <a:r>
              <a:rPr lang="en-US" dirty="0">
                <a:latin typeface="Inter" panose="020B0604020202020204" charset="0"/>
                <a:ea typeface="Inter" panose="020B0604020202020204" charset="0"/>
              </a:rPr>
              <a:t>Health Insurance Portability and Accountability Ac</a:t>
            </a:r>
            <a:r>
              <a:rPr lang="en-IN" dirty="0">
                <a:latin typeface="Inter" panose="020B0604020202020204" charset="0"/>
                <a:ea typeface="Inter" panose="020B0604020202020204" charset="0"/>
              </a:rPr>
              <a:t>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2" name="Google Shape;119;p15">
            <a:extLst>
              <a:ext uri="{FF2B5EF4-FFF2-40B4-BE49-F238E27FC236}">
                <a16:creationId xmlns:a16="http://schemas.microsoft.com/office/drawing/2014/main" id="{5957D5DD-0A25-B805-3A81-BCFC07187555}"/>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4E2D86BC-D525-1A82-33AB-4B202ECD8317}"/>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297B64ED-7C96-6319-0FBE-F91E54AF5850}"/>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A2CA88BE-0B02-01C7-7631-3B9B4AA2945A}"/>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 name="Google Shape;281;p21">
            <a:extLst>
              <a:ext uri="{FF2B5EF4-FFF2-40B4-BE49-F238E27FC236}">
                <a16:creationId xmlns:a16="http://schemas.microsoft.com/office/drawing/2014/main" id="{02C808BC-84B5-6126-6CA7-DE0DB4A884B1}"/>
              </a:ext>
            </a:extLst>
          </p:cNvPr>
          <p:cNvSpPr/>
          <p:nvPr/>
        </p:nvSpPr>
        <p:spPr>
          <a:xfrm>
            <a:off x="9334500" y="-952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12" name="Google Shape;188;p18" descr="image.png">
            <a:extLst>
              <a:ext uri="{FF2B5EF4-FFF2-40B4-BE49-F238E27FC236}">
                <a16:creationId xmlns:a16="http://schemas.microsoft.com/office/drawing/2014/main" id="{41068C23-9125-CCE2-807E-AE324D0C91A9}"/>
              </a:ext>
            </a:extLst>
          </p:cNvPr>
          <p:cNvPicPr preferRelativeResize="0"/>
          <p:nvPr/>
        </p:nvPicPr>
        <p:blipFill rotWithShape="1">
          <a:blip r:embed="rId3">
            <a:alphaModFix/>
          </a:blip>
          <a:srcRect/>
          <a:stretch/>
        </p:blipFill>
        <p:spPr>
          <a:xfrm>
            <a:off x="571500" y="1905892"/>
            <a:ext cx="2619375" cy="1815405"/>
          </a:xfrm>
          <a:prstGeom prst="rect">
            <a:avLst/>
          </a:prstGeom>
          <a:noFill/>
          <a:ln>
            <a:noFill/>
          </a:ln>
        </p:spPr>
      </p:pic>
      <p:pic>
        <p:nvPicPr>
          <p:cNvPr id="13" name="Google Shape;189;p18" descr="image.png">
            <a:extLst>
              <a:ext uri="{FF2B5EF4-FFF2-40B4-BE49-F238E27FC236}">
                <a16:creationId xmlns:a16="http://schemas.microsoft.com/office/drawing/2014/main" id="{7591BC71-489C-7687-CE34-C330DD85E294}"/>
              </a:ext>
            </a:extLst>
          </p:cNvPr>
          <p:cNvPicPr preferRelativeResize="0"/>
          <p:nvPr/>
        </p:nvPicPr>
        <p:blipFill rotWithShape="1">
          <a:blip r:embed="rId4">
            <a:alphaModFix/>
          </a:blip>
          <a:srcRect/>
          <a:stretch/>
        </p:blipFill>
        <p:spPr>
          <a:xfrm>
            <a:off x="3381375" y="1905892"/>
            <a:ext cx="2619375" cy="1815405"/>
          </a:xfrm>
          <a:prstGeom prst="rect">
            <a:avLst/>
          </a:prstGeom>
          <a:noFill/>
          <a:ln>
            <a:noFill/>
          </a:ln>
        </p:spPr>
      </p:pic>
      <p:pic>
        <p:nvPicPr>
          <p:cNvPr id="14" name="Google Shape;190;p18" descr="image.png">
            <a:extLst>
              <a:ext uri="{FF2B5EF4-FFF2-40B4-BE49-F238E27FC236}">
                <a16:creationId xmlns:a16="http://schemas.microsoft.com/office/drawing/2014/main" id="{2C7D0D11-817B-37D7-C7B1-AC7622718AC3}"/>
              </a:ext>
            </a:extLst>
          </p:cNvPr>
          <p:cNvPicPr preferRelativeResize="0"/>
          <p:nvPr/>
        </p:nvPicPr>
        <p:blipFill rotWithShape="1">
          <a:blip r:embed="rId5">
            <a:alphaModFix/>
          </a:blip>
          <a:srcRect/>
          <a:stretch/>
        </p:blipFill>
        <p:spPr>
          <a:xfrm>
            <a:off x="6191250" y="1905892"/>
            <a:ext cx="2619375" cy="1815405"/>
          </a:xfrm>
          <a:prstGeom prst="rect">
            <a:avLst/>
          </a:prstGeom>
          <a:noFill/>
          <a:ln>
            <a:noFill/>
          </a:ln>
        </p:spPr>
      </p:pic>
      <p:pic>
        <p:nvPicPr>
          <p:cNvPr id="15" name="Google Shape;191;p18" descr="image.png">
            <a:extLst>
              <a:ext uri="{FF2B5EF4-FFF2-40B4-BE49-F238E27FC236}">
                <a16:creationId xmlns:a16="http://schemas.microsoft.com/office/drawing/2014/main" id="{C59FF7C9-0EAA-BBE5-CE2F-3C0A27C43B02}"/>
              </a:ext>
            </a:extLst>
          </p:cNvPr>
          <p:cNvPicPr preferRelativeResize="0"/>
          <p:nvPr/>
        </p:nvPicPr>
        <p:blipFill rotWithShape="1">
          <a:blip r:embed="rId4">
            <a:alphaModFix/>
          </a:blip>
          <a:srcRect/>
          <a:stretch/>
        </p:blipFill>
        <p:spPr>
          <a:xfrm>
            <a:off x="9001125" y="1905892"/>
            <a:ext cx="2619375" cy="1815405"/>
          </a:xfrm>
          <a:prstGeom prst="rect">
            <a:avLst/>
          </a:prstGeom>
          <a:noFill/>
          <a:ln>
            <a:noFill/>
          </a:ln>
        </p:spPr>
      </p:pic>
      <p:pic>
        <p:nvPicPr>
          <p:cNvPr id="20" name="Google Shape;195;p18" descr="image.png">
            <a:extLst>
              <a:ext uri="{FF2B5EF4-FFF2-40B4-BE49-F238E27FC236}">
                <a16:creationId xmlns:a16="http://schemas.microsoft.com/office/drawing/2014/main" id="{D895B5CA-5DE7-9EB7-F929-EE3DD79BB4ED}"/>
              </a:ext>
            </a:extLst>
          </p:cNvPr>
          <p:cNvPicPr preferRelativeResize="0"/>
          <p:nvPr/>
        </p:nvPicPr>
        <p:blipFill rotWithShape="1">
          <a:blip r:embed="rId6">
            <a:alphaModFix/>
          </a:blip>
          <a:srcRect/>
          <a:stretch/>
        </p:blipFill>
        <p:spPr>
          <a:xfrm>
            <a:off x="9001125" y="3911798"/>
            <a:ext cx="2619375" cy="1615380"/>
          </a:xfrm>
          <a:prstGeom prst="rect">
            <a:avLst/>
          </a:prstGeom>
          <a:noFill/>
          <a:ln>
            <a:noFill/>
          </a:ln>
        </p:spPr>
      </p:pic>
      <p:pic>
        <p:nvPicPr>
          <p:cNvPr id="18" name="Google Shape;194;p18" descr="image.png">
            <a:extLst>
              <a:ext uri="{FF2B5EF4-FFF2-40B4-BE49-F238E27FC236}">
                <a16:creationId xmlns:a16="http://schemas.microsoft.com/office/drawing/2014/main" id="{9B2233AD-A2BD-3D54-E36B-D2ECE77593B0}"/>
              </a:ext>
            </a:extLst>
          </p:cNvPr>
          <p:cNvPicPr preferRelativeResize="0"/>
          <p:nvPr/>
        </p:nvPicPr>
        <p:blipFill rotWithShape="1">
          <a:blip r:embed="rId7">
            <a:alphaModFix/>
          </a:blip>
          <a:srcRect/>
          <a:stretch/>
        </p:blipFill>
        <p:spPr>
          <a:xfrm>
            <a:off x="6191250" y="3911798"/>
            <a:ext cx="2619375" cy="1615380"/>
          </a:xfrm>
          <a:prstGeom prst="rect">
            <a:avLst/>
          </a:prstGeom>
          <a:noFill/>
          <a:ln>
            <a:noFill/>
          </a:ln>
        </p:spPr>
      </p:pic>
      <p:pic>
        <p:nvPicPr>
          <p:cNvPr id="17" name="Google Shape;193;p18" descr="image.png">
            <a:extLst>
              <a:ext uri="{FF2B5EF4-FFF2-40B4-BE49-F238E27FC236}">
                <a16:creationId xmlns:a16="http://schemas.microsoft.com/office/drawing/2014/main" id="{E217EB28-5AD7-F6FF-8F85-626B214BB2E4}"/>
              </a:ext>
            </a:extLst>
          </p:cNvPr>
          <p:cNvPicPr preferRelativeResize="0"/>
          <p:nvPr/>
        </p:nvPicPr>
        <p:blipFill rotWithShape="1">
          <a:blip r:embed="rId6">
            <a:alphaModFix/>
          </a:blip>
          <a:srcRect/>
          <a:stretch/>
        </p:blipFill>
        <p:spPr>
          <a:xfrm>
            <a:off x="3381375" y="3911798"/>
            <a:ext cx="2619375" cy="1615380"/>
          </a:xfrm>
          <a:prstGeom prst="rect">
            <a:avLst/>
          </a:prstGeom>
          <a:noFill/>
          <a:ln>
            <a:noFill/>
          </a:ln>
        </p:spPr>
      </p:pic>
      <p:pic>
        <p:nvPicPr>
          <p:cNvPr id="16" name="Google Shape;192;p18" descr="image.png">
            <a:extLst>
              <a:ext uri="{FF2B5EF4-FFF2-40B4-BE49-F238E27FC236}">
                <a16:creationId xmlns:a16="http://schemas.microsoft.com/office/drawing/2014/main" id="{9D4E93B9-1EA3-816D-B31A-8041E2EB2B4C}"/>
              </a:ext>
            </a:extLst>
          </p:cNvPr>
          <p:cNvPicPr preferRelativeResize="0"/>
          <p:nvPr/>
        </p:nvPicPr>
        <p:blipFill rotWithShape="1">
          <a:blip r:embed="rId8">
            <a:alphaModFix/>
          </a:blip>
          <a:srcRect/>
          <a:stretch/>
        </p:blipFill>
        <p:spPr>
          <a:xfrm>
            <a:off x="571500" y="3911798"/>
            <a:ext cx="2619375" cy="1615380"/>
          </a:xfrm>
          <a:prstGeom prst="rect">
            <a:avLst/>
          </a:prstGeom>
          <a:noFill/>
          <a:ln>
            <a:noFill/>
          </a:ln>
        </p:spPr>
      </p:pic>
      <p:sp>
        <p:nvSpPr>
          <p:cNvPr id="206" name="Google Shape;206;p18"/>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3: COMPETITIVE ASSESSMENT </a:t>
            </a:r>
            <a:r>
              <a:rPr lang="en-US" dirty="0">
                <a:solidFill>
                  <a:srgbClr val="3B82F6"/>
                </a:solidFill>
                <a:latin typeface="Inter"/>
                <a:ea typeface="Inter"/>
                <a:cs typeface="Inter"/>
                <a:sym typeface="Inter"/>
              </a:rPr>
              <a:t>(1/4)</a:t>
            </a:r>
            <a:endParaRPr dirty="0"/>
          </a:p>
        </p:txBody>
      </p:sp>
      <p:sp>
        <p:nvSpPr>
          <p:cNvPr id="207" name="Google Shape;207;p18"/>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Key Competitors Landscape</a:t>
            </a:r>
            <a:endParaRPr/>
          </a:p>
        </p:txBody>
      </p:sp>
      <p:sp>
        <p:nvSpPr>
          <p:cNvPr id="224" name="Google Shape;224;p18"/>
          <p:cNvSpPr txBox="1"/>
          <p:nvPr/>
        </p:nvSpPr>
        <p:spPr>
          <a:xfrm>
            <a:off x="571499" y="6553200"/>
            <a:ext cx="4531519" cy="230832"/>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9"/>
              </a:rPr>
              <a:t>MarketsandMarkets (Top Companies)</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10"/>
              </a:rPr>
              <a:t>AVIA Marketplace Top Companies</a:t>
            </a:r>
            <a:endParaRPr lang="en-US" sz="750" dirty="0"/>
          </a:p>
          <a:p>
            <a:pPr marL="0" marR="0" lvl="0" indent="0" algn="l" rtl="0">
              <a:spcBef>
                <a:spcPts val="0"/>
              </a:spcBef>
              <a:spcAft>
                <a:spcPts val="0"/>
              </a:spcAft>
              <a:buNone/>
            </a:pPr>
            <a:r>
              <a:rPr lang="en-US" sz="750" b="0" i="0" u="none" strike="noStrike" cap="none" dirty="0">
                <a:solidFill>
                  <a:srgbClr val="64748B"/>
                </a:solidFill>
                <a:latin typeface="Inter"/>
                <a:ea typeface="Inter"/>
                <a:cs typeface="Inter"/>
                <a:sym typeface="Inter"/>
              </a:rPr>
              <a:t> </a:t>
            </a:r>
            <a:endParaRPr dirty="0"/>
          </a:p>
        </p:txBody>
      </p:sp>
      <p:pic>
        <p:nvPicPr>
          <p:cNvPr id="6" name="Picture 5" descr="A blue text on a black background&#10;&#10;AI-generated content may be incorrect.">
            <a:extLst>
              <a:ext uri="{FF2B5EF4-FFF2-40B4-BE49-F238E27FC236}">
                <a16:creationId xmlns:a16="http://schemas.microsoft.com/office/drawing/2014/main" id="{AFE0A340-6E80-1A19-34DF-1CEAC52CB48D}"/>
              </a:ext>
            </a:extLst>
          </p:cNvPr>
          <p:cNvPicPr>
            <a:picLocks noChangeAspect="1"/>
          </p:cNvPicPr>
          <p:nvPr/>
        </p:nvPicPr>
        <p:blipFill>
          <a:blip r:embed="rId11"/>
          <a:stretch>
            <a:fillRect/>
          </a:stretch>
        </p:blipFill>
        <p:spPr>
          <a:xfrm>
            <a:off x="1240103" y="1924712"/>
            <a:ext cx="1287560" cy="858373"/>
          </a:xfrm>
          <a:prstGeom prst="rect">
            <a:avLst/>
          </a:prstGeom>
        </p:spPr>
      </p:pic>
      <p:pic>
        <p:nvPicPr>
          <p:cNvPr id="7" name="Picture 6" descr="A blue letter on a black background&#10;&#10;AI-generated content may be incorrect.">
            <a:extLst>
              <a:ext uri="{FF2B5EF4-FFF2-40B4-BE49-F238E27FC236}">
                <a16:creationId xmlns:a16="http://schemas.microsoft.com/office/drawing/2014/main" id="{13F64198-B01B-AA32-D06D-00B84A90D172}"/>
              </a:ext>
            </a:extLst>
          </p:cNvPr>
          <p:cNvPicPr>
            <a:picLocks noChangeAspect="1"/>
          </p:cNvPicPr>
          <p:nvPr/>
        </p:nvPicPr>
        <p:blipFill>
          <a:blip r:embed="rId12"/>
          <a:stretch>
            <a:fillRect/>
          </a:stretch>
        </p:blipFill>
        <p:spPr>
          <a:xfrm>
            <a:off x="4162774" y="2293383"/>
            <a:ext cx="1056575" cy="193982"/>
          </a:xfrm>
          <a:prstGeom prst="rect">
            <a:avLst/>
          </a:prstGeom>
        </p:spPr>
      </p:pic>
      <p:pic>
        <p:nvPicPr>
          <p:cNvPr id="8" name="Graphic 7">
            <a:extLst>
              <a:ext uri="{FF2B5EF4-FFF2-40B4-BE49-F238E27FC236}">
                <a16:creationId xmlns:a16="http://schemas.microsoft.com/office/drawing/2014/main" id="{AA7FCD01-097C-8C2D-693E-D204294B64D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57916" y="4345057"/>
            <a:ext cx="1009298" cy="258054"/>
          </a:xfrm>
          <a:prstGeom prst="rect">
            <a:avLst/>
          </a:prstGeom>
        </p:spPr>
      </p:pic>
      <p:pic>
        <p:nvPicPr>
          <p:cNvPr id="9" name="Picture 8" descr="A purple text on a black background&#10;&#10;AI-generated content may be incorrect.">
            <a:extLst>
              <a:ext uri="{FF2B5EF4-FFF2-40B4-BE49-F238E27FC236}">
                <a16:creationId xmlns:a16="http://schemas.microsoft.com/office/drawing/2014/main" id="{18C60CC8-9785-DE0B-9FBE-EC3E0F85BB27}"/>
              </a:ext>
            </a:extLst>
          </p:cNvPr>
          <p:cNvPicPr>
            <a:picLocks noChangeAspect="1"/>
          </p:cNvPicPr>
          <p:nvPr/>
        </p:nvPicPr>
        <p:blipFill>
          <a:blip r:embed="rId15"/>
          <a:stretch>
            <a:fillRect/>
          </a:stretch>
        </p:blipFill>
        <p:spPr>
          <a:xfrm>
            <a:off x="1030001" y="4233357"/>
            <a:ext cx="1594674" cy="355201"/>
          </a:xfrm>
          <a:prstGeom prst="rect">
            <a:avLst/>
          </a:prstGeom>
        </p:spPr>
      </p:pic>
      <p:pic>
        <p:nvPicPr>
          <p:cNvPr id="10" name="Graphic 9">
            <a:extLst>
              <a:ext uri="{FF2B5EF4-FFF2-40B4-BE49-F238E27FC236}">
                <a16:creationId xmlns:a16="http://schemas.microsoft.com/office/drawing/2014/main" id="{AA68A21B-C345-C61C-6B5E-CC751BF0B5F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57823" y="4233357"/>
            <a:ext cx="1105977" cy="381531"/>
          </a:xfrm>
          <a:prstGeom prst="rect">
            <a:avLst/>
          </a:prstGeom>
        </p:spPr>
      </p:pic>
      <p:pic>
        <p:nvPicPr>
          <p:cNvPr id="11" name="Picture 10" descr="A green text on a black background&#10;&#10;AI-generated content may be incorrect.">
            <a:extLst>
              <a:ext uri="{FF2B5EF4-FFF2-40B4-BE49-F238E27FC236}">
                <a16:creationId xmlns:a16="http://schemas.microsoft.com/office/drawing/2014/main" id="{2E834EB0-52FB-C967-37EB-53E0F9132F90}"/>
              </a:ext>
            </a:extLst>
          </p:cNvPr>
          <p:cNvPicPr>
            <a:picLocks noChangeAspect="1"/>
          </p:cNvPicPr>
          <p:nvPr/>
        </p:nvPicPr>
        <p:blipFill>
          <a:blip r:embed="rId18"/>
          <a:stretch>
            <a:fillRect/>
          </a:stretch>
        </p:blipFill>
        <p:spPr>
          <a:xfrm>
            <a:off x="6845747" y="1962178"/>
            <a:ext cx="1310380" cy="854245"/>
          </a:xfrm>
          <a:prstGeom prst="rect">
            <a:avLst/>
          </a:prstGeom>
        </p:spPr>
      </p:pic>
      <p:pic>
        <p:nvPicPr>
          <p:cNvPr id="19" name="Picture 18" descr="A blue and black logo&#10;&#10;AI-generated content may be incorrect.">
            <a:extLst>
              <a:ext uri="{FF2B5EF4-FFF2-40B4-BE49-F238E27FC236}">
                <a16:creationId xmlns:a16="http://schemas.microsoft.com/office/drawing/2014/main" id="{7567A7A3-7752-9A38-01E5-147EE5830824}"/>
              </a:ext>
            </a:extLst>
          </p:cNvPr>
          <p:cNvPicPr>
            <a:picLocks noChangeAspect="1"/>
          </p:cNvPicPr>
          <p:nvPr/>
        </p:nvPicPr>
        <p:blipFill>
          <a:blip r:embed="rId19"/>
          <a:stretch>
            <a:fillRect/>
          </a:stretch>
        </p:blipFill>
        <p:spPr>
          <a:xfrm>
            <a:off x="6924384" y="4339236"/>
            <a:ext cx="1031185" cy="258054"/>
          </a:xfrm>
          <a:prstGeom prst="rect">
            <a:avLst/>
          </a:prstGeom>
        </p:spPr>
      </p:pic>
      <p:sp>
        <p:nvSpPr>
          <p:cNvPr id="23" name="Google Shape;203;p18">
            <a:extLst>
              <a:ext uri="{FF2B5EF4-FFF2-40B4-BE49-F238E27FC236}">
                <a16:creationId xmlns:a16="http://schemas.microsoft.com/office/drawing/2014/main" id="{26ACBA9A-359B-ED93-620F-0B100E1DF755}"/>
              </a:ext>
            </a:extLst>
          </p:cNvPr>
          <p:cNvSpPr txBox="1"/>
          <p:nvPr/>
        </p:nvSpPr>
        <p:spPr>
          <a:xfrm>
            <a:off x="766048" y="2601217"/>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rgbClr val="1E293B"/>
                </a:solidFill>
                <a:latin typeface="Inter"/>
                <a:ea typeface="Inter"/>
                <a:cs typeface="Inter"/>
                <a:sym typeface="Inter"/>
              </a:rPr>
              <a:t>Medtronic</a:t>
            </a:r>
            <a:endParaRPr/>
          </a:p>
        </p:txBody>
      </p:sp>
      <p:sp>
        <p:nvSpPr>
          <p:cNvPr id="24" name="Google Shape;204;p18">
            <a:extLst>
              <a:ext uri="{FF2B5EF4-FFF2-40B4-BE49-F238E27FC236}">
                <a16:creationId xmlns:a16="http://schemas.microsoft.com/office/drawing/2014/main" id="{46F6857F-D7AF-128C-0354-7D6B406CD7D3}"/>
              </a:ext>
            </a:extLst>
          </p:cNvPr>
          <p:cNvSpPr txBox="1"/>
          <p:nvPr/>
        </p:nvSpPr>
        <p:spPr>
          <a:xfrm>
            <a:off x="819150" y="2940248"/>
            <a:ext cx="2124075" cy="4000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dirty="0">
                <a:solidFill>
                  <a:srgbClr val="64748B"/>
                </a:solidFill>
                <a:latin typeface="Inter"/>
                <a:ea typeface="Inter"/>
                <a:cs typeface="Inter"/>
                <a:sym typeface="Inter"/>
              </a:rPr>
              <a:t>Leader in cardiac RPM &amp; Diabetes</a:t>
            </a:r>
            <a:endParaRPr dirty="0"/>
          </a:p>
        </p:txBody>
      </p:sp>
      <p:sp>
        <p:nvSpPr>
          <p:cNvPr id="26" name="Google Shape;206;p18">
            <a:extLst>
              <a:ext uri="{FF2B5EF4-FFF2-40B4-BE49-F238E27FC236}">
                <a16:creationId xmlns:a16="http://schemas.microsoft.com/office/drawing/2014/main" id="{31F2C90E-E04B-5E01-521E-C6F9EE055BD4}"/>
              </a:ext>
            </a:extLst>
          </p:cNvPr>
          <p:cNvSpPr txBox="1"/>
          <p:nvPr/>
        </p:nvSpPr>
        <p:spPr>
          <a:xfrm>
            <a:off x="3575923" y="2601217"/>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rgbClr val="1E293B"/>
                </a:solidFill>
                <a:latin typeface="Inter"/>
                <a:ea typeface="Inter"/>
                <a:cs typeface="Inter"/>
                <a:sym typeface="Inter"/>
              </a:rPr>
              <a:t>Philips</a:t>
            </a:r>
            <a:endParaRPr/>
          </a:p>
        </p:txBody>
      </p:sp>
      <p:sp>
        <p:nvSpPr>
          <p:cNvPr id="27" name="Google Shape;207;p18">
            <a:extLst>
              <a:ext uri="{FF2B5EF4-FFF2-40B4-BE49-F238E27FC236}">
                <a16:creationId xmlns:a16="http://schemas.microsoft.com/office/drawing/2014/main" id="{BA0DBE5E-9289-4837-78EF-EF1293923245}"/>
              </a:ext>
            </a:extLst>
          </p:cNvPr>
          <p:cNvSpPr txBox="1"/>
          <p:nvPr/>
        </p:nvSpPr>
        <p:spPr>
          <a:xfrm>
            <a:off x="3629025" y="2940248"/>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Enterprise monitoring solutions</a:t>
            </a:r>
            <a:endParaRPr/>
          </a:p>
        </p:txBody>
      </p:sp>
      <p:sp>
        <p:nvSpPr>
          <p:cNvPr id="29" name="Google Shape;209;p18">
            <a:extLst>
              <a:ext uri="{FF2B5EF4-FFF2-40B4-BE49-F238E27FC236}">
                <a16:creationId xmlns:a16="http://schemas.microsoft.com/office/drawing/2014/main" id="{C1E0019A-E567-9F7F-E7EA-53B38C9698EE}"/>
              </a:ext>
            </a:extLst>
          </p:cNvPr>
          <p:cNvSpPr txBox="1"/>
          <p:nvPr/>
        </p:nvSpPr>
        <p:spPr>
          <a:xfrm>
            <a:off x="6385798" y="2601217"/>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dirty="0">
                <a:solidFill>
                  <a:srgbClr val="1E293B"/>
                </a:solidFill>
                <a:latin typeface="Inter"/>
                <a:ea typeface="Inter"/>
                <a:cs typeface="Inter"/>
                <a:sym typeface="Inter"/>
              </a:rPr>
              <a:t>Dexcom</a:t>
            </a:r>
            <a:endParaRPr dirty="0"/>
          </a:p>
        </p:txBody>
      </p:sp>
      <p:sp>
        <p:nvSpPr>
          <p:cNvPr id="39" name="Google Shape;210;p18">
            <a:extLst>
              <a:ext uri="{FF2B5EF4-FFF2-40B4-BE49-F238E27FC236}">
                <a16:creationId xmlns:a16="http://schemas.microsoft.com/office/drawing/2014/main" id="{B6A5072C-7A71-9F75-0845-BB81B2D56B51}"/>
              </a:ext>
            </a:extLst>
          </p:cNvPr>
          <p:cNvSpPr txBox="1"/>
          <p:nvPr/>
        </p:nvSpPr>
        <p:spPr>
          <a:xfrm>
            <a:off x="6438900" y="2940248"/>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CGM Specialist (Diabetes)</a:t>
            </a:r>
            <a:endParaRPr/>
          </a:p>
        </p:txBody>
      </p:sp>
      <p:sp>
        <p:nvSpPr>
          <p:cNvPr id="41" name="Google Shape;212;p18">
            <a:extLst>
              <a:ext uri="{FF2B5EF4-FFF2-40B4-BE49-F238E27FC236}">
                <a16:creationId xmlns:a16="http://schemas.microsoft.com/office/drawing/2014/main" id="{0FDE2CCA-FA7E-3495-C2E0-3B9CF80B93EA}"/>
              </a:ext>
            </a:extLst>
          </p:cNvPr>
          <p:cNvSpPr txBox="1"/>
          <p:nvPr/>
        </p:nvSpPr>
        <p:spPr>
          <a:xfrm>
            <a:off x="9195673" y="2601217"/>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dirty="0">
                <a:solidFill>
                  <a:srgbClr val="1E293B"/>
                </a:solidFill>
                <a:latin typeface="Inter"/>
                <a:ea typeface="Inter"/>
                <a:cs typeface="Inter"/>
                <a:sym typeface="Inter"/>
              </a:rPr>
              <a:t>ResMed</a:t>
            </a:r>
            <a:endParaRPr dirty="0"/>
          </a:p>
        </p:txBody>
      </p:sp>
      <p:sp>
        <p:nvSpPr>
          <p:cNvPr id="42" name="Google Shape;213;p18">
            <a:extLst>
              <a:ext uri="{FF2B5EF4-FFF2-40B4-BE49-F238E27FC236}">
                <a16:creationId xmlns:a16="http://schemas.microsoft.com/office/drawing/2014/main" id="{97731BAF-3169-0774-003F-456FF584A167}"/>
              </a:ext>
            </a:extLst>
          </p:cNvPr>
          <p:cNvSpPr txBox="1"/>
          <p:nvPr/>
        </p:nvSpPr>
        <p:spPr>
          <a:xfrm>
            <a:off x="9248775" y="2940248"/>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Sleep &amp; Respiratory Care</a:t>
            </a:r>
            <a:endParaRPr/>
          </a:p>
        </p:txBody>
      </p:sp>
      <p:sp>
        <p:nvSpPr>
          <p:cNvPr id="44" name="Google Shape;215;p18">
            <a:extLst>
              <a:ext uri="{FF2B5EF4-FFF2-40B4-BE49-F238E27FC236}">
                <a16:creationId xmlns:a16="http://schemas.microsoft.com/office/drawing/2014/main" id="{A99B801C-EF67-68E2-12A6-796A5517195A}"/>
              </a:ext>
            </a:extLst>
          </p:cNvPr>
          <p:cNvSpPr txBox="1"/>
          <p:nvPr/>
        </p:nvSpPr>
        <p:spPr>
          <a:xfrm>
            <a:off x="766048" y="4607123"/>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rgbClr val="1E293B"/>
                </a:solidFill>
                <a:latin typeface="Inter"/>
                <a:ea typeface="Inter"/>
                <a:cs typeface="Inter"/>
                <a:sym typeface="Inter"/>
              </a:rPr>
              <a:t>GE HealthCare</a:t>
            </a:r>
            <a:endParaRPr/>
          </a:p>
        </p:txBody>
      </p:sp>
      <p:sp>
        <p:nvSpPr>
          <p:cNvPr id="45" name="Google Shape;216;p18">
            <a:extLst>
              <a:ext uri="{FF2B5EF4-FFF2-40B4-BE49-F238E27FC236}">
                <a16:creationId xmlns:a16="http://schemas.microsoft.com/office/drawing/2014/main" id="{6CDC8BD1-8704-CCE6-A40F-34D18012D04F}"/>
              </a:ext>
            </a:extLst>
          </p:cNvPr>
          <p:cNvSpPr txBox="1"/>
          <p:nvPr/>
        </p:nvSpPr>
        <p:spPr>
          <a:xfrm>
            <a:off x="819150" y="4946153"/>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Patient monitoring hardware</a:t>
            </a:r>
            <a:endParaRPr/>
          </a:p>
        </p:txBody>
      </p:sp>
      <p:sp>
        <p:nvSpPr>
          <p:cNvPr id="47" name="Google Shape;218;p18">
            <a:extLst>
              <a:ext uri="{FF2B5EF4-FFF2-40B4-BE49-F238E27FC236}">
                <a16:creationId xmlns:a16="http://schemas.microsoft.com/office/drawing/2014/main" id="{8AED5213-46F0-3179-067A-526B8F158C65}"/>
              </a:ext>
            </a:extLst>
          </p:cNvPr>
          <p:cNvSpPr txBox="1"/>
          <p:nvPr/>
        </p:nvSpPr>
        <p:spPr>
          <a:xfrm>
            <a:off x="3575923" y="4607123"/>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dirty="0">
                <a:solidFill>
                  <a:srgbClr val="1E293B"/>
                </a:solidFill>
                <a:latin typeface="Inter"/>
                <a:ea typeface="Inter"/>
                <a:cs typeface="Inter"/>
                <a:sym typeface="Inter"/>
              </a:rPr>
              <a:t>Abbott</a:t>
            </a:r>
            <a:endParaRPr dirty="0"/>
          </a:p>
        </p:txBody>
      </p:sp>
      <p:sp>
        <p:nvSpPr>
          <p:cNvPr id="48" name="Google Shape;219;p18">
            <a:extLst>
              <a:ext uri="{FF2B5EF4-FFF2-40B4-BE49-F238E27FC236}">
                <a16:creationId xmlns:a16="http://schemas.microsoft.com/office/drawing/2014/main" id="{D545E2DC-33B0-AE35-1A03-A84CFEB37891}"/>
              </a:ext>
            </a:extLst>
          </p:cNvPr>
          <p:cNvSpPr txBox="1"/>
          <p:nvPr/>
        </p:nvSpPr>
        <p:spPr>
          <a:xfrm>
            <a:off x="3629025" y="4946153"/>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dirty="0" err="1">
                <a:solidFill>
                  <a:srgbClr val="64748B"/>
                </a:solidFill>
                <a:latin typeface="Inter"/>
                <a:ea typeface="Inter"/>
                <a:cs typeface="Inter"/>
                <a:sym typeface="Inter"/>
              </a:rPr>
              <a:t>FreeStyle</a:t>
            </a:r>
            <a:r>
              <a:rPr lang="en-US" sz="1050" b="0" i="0" u="none" strike="noStrike" cap="none" dirty="0">
                <a:solidFill>
                  <a:srgbClr val="64748B"/>
                </a:solidFill>
                <a:latin typeface="Inter"/>
                <a:ea typeface="Inter"/>
                <a:cs typeface="Inter"/>
                <a:sym typeface="Inter"/>
              </a:rPr>
              <a:t> Libre (CGM)</a:t>
            </a:r>
            <a:endParaRPr dirty="0"/>
          </a:p>
        </p:txBody>
      </p:sp>
      <p:sp>
        <p:nvSpPr>
          <p:cNvPr id="50" name="Google Shape;221;p18">
            <a:extLst>
              <a:ext uri="{FF2B5EF4-FFF2-40B4-BE49-F238E27FC236}">
                <a16:creationId xmlns:a16="http://schemas.microsoft.com/office/drawing/2014/main" id="{F84C6B52-9FF3-0860-C3E8-7C390478E37F}"/>
              </a:ext>
            </a:extLst>
          </p:cNvPr>
          <p:cNvSpPr txBox="1"/>
          <p:nvPr/>
        </p:nvSpPr>
        <p:spPr>
          <a:xfrm>
            <a:off x="6385798" y="4607123"/>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a:solidFill>
                  <a:srgbClr val="1E293B"/>
                </a:solidFill>
                <a:latin typeface="Inter"/>
                <a:ea typeface="Inter"/>
                <a:cs typeface="Inter"/>
                <a:sym typeface="Inter"/>
              </a:rPr>
              <a:t>Omron</a:t>
            </a:r>
            <a:endParaRPr/>
          </a:p>
        </p:txBody>
      </p:sp>
      <p:sp>
        <p:nvSpPr>
          <p:cNvPr id="51" name="Google Shape;222;p18">
            <a:extLst>
              <a:ext uri="{FF2B5EF4-FFF2-40B4-BE49-F238E27FC236}">
                <a16:creationId xmlns:a16="http://schemas.microsoft.com/office/drawing/2014/main" id="{9E18D519-853F-4AD4-B7CC-3F01CEB4864A}"/>
              </a:ext>
            </a:extLst>
          </p:cNvPr>
          <p:cNvSpPr txBox="1"/>
          <p:nvPr/>
        </p:nvSpPr>
        <p:spPr>
          <a:xfrm>
            <a:off x="6438900" y="4946153"/>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Cardiovascular monitoring</a:t>
            </a:r>
            <a:endParaRPr/>
          </a:p>
        </p:txBody>
      </p:sp>
      <p:sp>
        <p:nvSpPr>
          <p:cNvPr id="53" name="Google Shape;224;p18">
            <a:extLst>
              <a:ext uri="{FF2B5EF4-FFF2-40B4-BE49-F238E27FC236}">
                <a16:creationId xmlns:a16="http://schemas.microsoft.com/office/drawing/2014/main" id="{6BDCFC4E-21FA-615C-9F51-8013ECA847B5}"/>
              </a:ext>
            </a:extLst>
          </p:cNvPr>
          <p:cNvSpPr txBox="1"/>
          <p:nvPr/>
        </p:nvSpPr>
        <p:spPr>
          <a:xfrm>
            <a:off x="9195673" y="4637603"/>
            <a:ext cx="2230278" cy="2056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350" b="1" i="0" u="none" strike="noStrike" cap="none" dirty="0">
                <a:solidFill>
                  <a:srgbClr val="1E293B"/>
                </a:solidFill>
                <a:latin typeface="Inter"/>
                <a:ea typeface="Inter"/>
                <a:cs typeface="Inter"/>
                <a:sym typeface="Inter"/>
              </a:rPr>
              <a:t>Boston Scientific</a:t>
            </a:r>
            <a:endParaRPr dirty="0"/>
          </a:p>
        </p:txBody>
      </p:sp>
      <p:sp>
        <p:nvSpPr>
          <p:cNvPr id="54" name="Google Shape;225;p18">
            <a:extLst>
              <a:ext uri="{FF2B5EF4-FFF2-40B4-BE49-F238E27FC236}">
                <a16:creationId xmlns:a16="http://schemas.microsoft.com/office/drawing/2014/main" id="{00726F6B-64BE-0B16-051F-4118747FB988}"/>
              </a:ext>
            </a:extLst>
          </p:cNvPr>
          <p:cNvSpPr txBox="1"/>
          <p:nvPr/>
        </p:nvSpPr>
        <p:spPr>
          <a:xfrm>
            <a:off x="9248775" y="4946153"/>
            <a:ext cx="2124075" cy="2000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64748B"/>
                </a:solidFill>
                <a:latin typeface="Inter"/>
                <a:ea typeface="Inter"/>
                <a:cs typeface="Inter"/>
                <a:sym typeface="Inter"/>
              </a:rPr>
              <a:t>Cardiac rhythm management</a:t>
            </a:r>
            <a:endParaRPr/>
          </a:p>
        </p:txBody>
      </p:sp>
      <p:pic>
        <p:nvPicPr>
          <p:cNvPr id="58" name="Picture 57" descr="A black background with a black square&#10;&#10;AI-generated content may be incorrect.">
            <a:extLst>
              <a:ext uri="{FF2B5EF4-FFF2-40B4-BE49-F238E27FC236}">
                <a16:creationId xmlns:a16="http://schemas.microsoft.com/office/drawing/2014/main" id="{6DC1E917-4D20-66F0-8FB8-6E4B6C719AD1}"/>
              </a:ext>
            </a:extLst>
          </p:cNvPr>
          <p:cNvPicPr>
            <a:picLocks noChangeAspect="1"/>
          </p:cNvPicPr>
          <p:nvPr/>
        </p:nvPicPr>
        <p:blipFill>
          <a:blip r:embed="rId20"/>
          <a:stretch>
            <a:fillRect/>
          </a:stretch>
        </p:blipFill>
        <p:spPr>
          <a:xfrm>
            <a:off x="9614908" y="2249810"/>
            <a:ext cx="1336990" cy="2793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8"/>
        <p:cNvGrpSpPr/>
        <p:nvPr/>
      </p:nvGrpSpPr>
      <p:grpSpPr>
        <a:xfrm>
          <a:off x="0" y="0"/>
          <a:ext cx="0" cy="0"/>
          <a:chOff x="0" y="0"/>
          <a:chExt cx="0" cy="0"/>
        </a:xfrm>
      </p:grpSpPr>
      <p:sp>
        <p:nvSpPr>
          <p:cNvPr id="6" name="Google Shape;417;p27">
            <a:extLst>
              <a:ext uri="{FF2B5EF4-FFF2-40B4-BE49-F238E27FC236}">
                <a16:creationId xmlns:a16="http://schemas.microsoft.com/office/drawing/2014/main" id="{AD735797-AC39-6982-180D-F172BAA21713}"/>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19" descr="image.png"/>
          <p:cNvPicPr preferRelativeResize="0"/>
          <p:nvPr/>
        </p:nvPicPr>
        <p:blipFill rotWithShape="1">
          <a:blip r:embed="rId3">
            <a:alphaModFix/>
          </a:blip>
          <a:srcRect/>
          <a:stretch/>
        </p:blipFill>
        <p:spPr>
          <a:xfrm>
            <a:off x="571500" y="1666875"/>
            <a:ext cx="11049000" cy="4810125"/>
          </a:xfrm>
          <a:prstGeom prst="rect">
            <a:avLst/>
          </a:prstGeom>
          <a:noFill/>
          <a:ln>
            <a:noFill/>
          </a:ln>
        </p:spPr>
      </p:pic>
      <p:sp>
        <p:nvSpPr>
          <p:cNvPr id="230" name="Google Shape;230;p19"/>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3: COMPETITIVE ASSESSMENT </a:t>
            </a:r>
            <a:r>
              <a:rPr lang="en-US" dirty="0">
                <a:solidFill>
                  <a:srgbClr val="3B82F6"/>
                </a:solidFill>
                <a:latin typeface="Inter"/>
                <a:ea typeface="Inter"/>
                <a:cs typeface="Inter"/>
                <a:sym typeface="Inter"/>
              </a:rPr>
              <a:t>(2/4)</a:t>
            </a:r>
            <a:endParaRPr dirty="0"/>
          </a:p>
        </p:txBody>
      </p:sp>
      <p:sp>
        <p:nvSpPr>
          <p:cNvPr id="231" name="Google Shape;231;p19"/>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a:solidFill>
                  <a:srgbClr val="0F172A"/>
                </a:solidFill>
                <a:latin typeface="Inter"/>
                <a:ea typeface="Inter"/>
                <a:cs typeface="Inter"/>
                <a:sym typeface="Inter"/>
              </a:rPr>
              <a:t>Market Size &amp; Share 2025(USD Mn)</a:t>
            </a:r>
            <a:endParaRPr dirty="0"/>
          </a:p>
        </p:txBody>
      </p:sp>
      <p:sp>
        <p:nvSpPr>
          <p:cNvPr id="232" name="Google Shape;232;p19"/>
          <p:cNvSpPr txBox="1"/>
          <p:nvPr/>
        </p:nvSpPr>
        <p:spPr>
          <a:xfrm>
            <a:off x="6286500" y="2047875"/>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0000"/>
                </a:solidFill>
                <a:latin typeface="Inter"/>
                <a:ea typeface="Inter"/>
                <a:cs typeface="Inter"/>
                <a:sym typeface="Inter"/>
              </a:rPr>
              <a:t>Analysis</a:t>
            </a:r>
            <a:endParaRPr/>
          </a:p>
        </p:txBody>
      </p:sp>
      <p:sp>
        <p:nvSpPr>
          <p:cNvPr id="233" name="Google Shape;233;p19"/>
          <p:cNvSpPr txBox="1"/>
          <p:nvPr/>
        </p:nvSpPr>
        <p:spPr>
          <a:xfrm>
            <a:off x="6286500" y="2266950"/>
            <a:ext cx="5334000" cy="9971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334155"/>
                </a:solidFill>
                <a:latin typeface="Inter"/>
                <a:ea typeface="Inter"/>
                <a:cs typeface="Inter"/>
                <a:sym typeface="Inter"/>
              </a:rPr>
              <a:t>While exact RPM-specific revenue is often blended with broader segments, the total revenue of key players highlights the scale of investment capability.</a:t>
            </a:r>
            <a:endParaRPr dirty="0"/>
          </a:p>
        </p:txBody>
      </p:sp>
      <p:sp>
        <p:nvSpPr>
          <p:cNvPr id="234" name="Google Shape;234;p19"/>
          <p:cNvSpPr txBox="1"/>
          <p:nvPr/>
        </p:nvSpPr>
        <p:spPr>
          <a:xfrm>
            <a:off x="6572250" y="3280320"/>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Dominance:</a:t>
            </a:r>
            <a:r>
              <a:rPr lang="en-US" sz="1350" b="0" i="0" u="none" strike="noStrike" cap="none" dirty="0">
                <a:solidFill>
                  <a:srgbClr val="334155"/>
                </a:solidFill>
                <a:latin typeface="Inter"/>
                <a:ea typeface="Inter"/>
                <a:cs typeface="Inter"/>
                <a:sym typeface="Inter"/>
              </a:rPr>
              <a:t> Medtronic and Abbott lead in total revenue, driven by strong cardiac and diabetes (CGM) portfolios.</a:t>
            </a:r>
            <a:endParaRPr dirty="0"/>
          </a:p>
        </p:txBody>
      </p:sp>
      <p:sp>
        <p:nvSpPr>
          <p:cNvPr id="235" name="Google Shape;235;p19"/>
          <p:cNvSpPr txBox="1"/>
          <p:nvPr/>
        </p:nvSpPr>
        <p:spPr>
          <a:xfrm>
            <a:off x="6572250" y="3823245"/>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Specialization:</a:t>
            </a:r>
            <a:r>
              <a:rPr lang="en-US" sz="1350" b="0" i="0" u="none" strike="noStrike" cap="none" dirty="0">
                <a:solidFill>
                  <a:srgbClr val="334155"/>
                </a:solidFill>
                <a:latin typeface="Inter"/>
                <a:ea typeface="Inter"/>
                <a:cs typeface="Inter"/>
                <a:sym typeface="Inter"/>
              </a:rPr>
              <a:t> Dexcom (not shown on scale, ~$3B) punches above its weight purely in the diabetes RPM niche.</a:t>
            </a:r>
            <a:endParaRPr dirty="0"/>
          </a:p>
        </p:txBody>
      </p:sp>
      <p:sp>
        <p:nvSpPr>
          <p:cNvPr id="236" name="Google Shape;236;p19"/>
          <p:cNvSpPr txBox="1"/>
          <p:nvPr/>
        </p:nvSpPr>
        <p:spPr>
          <a:xfrm>
            <a:off x="6572250" y="4366170"/>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Market Concentration:</a:t>
            </a:r>
            <a:r>
              <a:rPr lang="en-US" sz="1350" b="0" i="0" u="none" strike="noStrike" cap="none" dirty="0">
                <a:solidFill>
                  <a:srgbClr val="334155"/>
                </a:solidFill>
                <a:latin typeface="Inter"/>
                <a:ea typeface="Inter"/>
                <a:cs typeface="Inter"/>
                <a:sym typeface="Inter"/>
              </a:rPr>
              <a:t> The top 5 players control &gt;60% of the structured RPM device market.</a:t>
            </a:r>
            <a:endParaRPr dirty="0"/>
          </a:p>
        </p:txBody>
      </p:sp>
      <p:sp>
        <p:nvSpPr>
          <p:cNvPr id="237" name="Google Shape;237;p19"/>
          <p:cNvSpPr txBox="1"/>
          <p:nvPr/>
        </p:nvSpPr>
        <p:spPr>
          <a:xfrm>
            <a:off x="571500" y="6553200"/>
            <a:ext cx="2867025"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4"/>
              </a:rPr>
              <a:t>Top Medical Device Companies 2025 Revenue Data</a:t>
            </a:r>
            <a:endParaRPr dirty="0"/>
          </a:p>
        </p:txBody>
      </p:sp>
      <p:pic>
        <p:nvPicPr>
          <p:cNvPr id="238" name="Google Shape;238;p19" descr="image.png"/>
          <p:cNvPicPr preferRelativeResize="0"/>
          <p:nvPr/>
        </p:nvPicPr>
        <p:blipFill rotWithShape="1">
          <a:blip r:embed="rId5">
            <a:alphaModFix/>
          </a:blip>
          <a:srcRect/>
          <a:stretch/>
        </p:blipFill>
        <p:spPr>
          <a:xfrm>
            <a:off x="6286500" y="3328445"/>
            <a:ext cx="171450" cy="180975"/>
          </a:xfrm>
          <a:prstGeom prst="rect">
            <a:avLst/>
          </a:prstGeom>
          <a:noFill/>
          <a:ln>
            <a:noFill/>
          </a:ln>
        </p:spPr>
      </p:pic>
      <p:pic>
        <p:nvPicPr>
          <p:cNvPr id="239" name="Google Shape;239;p19" descr="image.png"/>
          <p:cNvPicPr preferRelativeResize="0"/>
          <p:nvPr/>
        </p:nvPicPr>
        <p:blipFill rotWithShape="1">
          <a:blip r:embed="rId5">
            <a:alphaModFix/>
          </a:blip>
          <a:srcRect/>
          <a:stretch/>
        </p:blipFill>
        <p:spPr>
          <a:xfrm>
            <a:off x="6286500" y="3871370"/>
            <a:ext cx="171450" cy="180975"/>
          </a:xfrm>
          <a:prstGeom prst="rect">
            <a:avLst/>
          </a:prstGeom>
          <a:noFill/>
          <a:ln>
            <a:noFill/>
          </a:ln>
        </p:spPr>
      </p:pic>
      <p:pic>
        <p:nvPicPr>
          <p:cNvPr id="240" name="Google Shape;240;p19" descr="image.png"/>
          <p:cNvPicPr preferRelativeResize="0"/>
          <p:nvPr/>
        </p:nvPicPr>
        <p:blipFill rotWithShape="1">
          <a:blip r:embed="rId5">
            <a:alphaModFix/>
          </a:blip>
          <a:srcRect/>
          <a:stretch/>
        </p:blipFill>
        <p:spPr>
          <a:xfrm>
            <a:off x="6286500" y="4414295"/>
            <a:ext cx="171450" cy="180975"/>
          </a:xfrm>
          <a:prstGeom prst="rect">
            <a:avLst/>
          </a:prstGeom>
          <a:noFill/>
          <a:ln>
            <a:noFill/>
          </a:ln>
        </p:spPr>
      </p:pic>
      <p:sp>
        <p:nvSpPr>
          <p:cNvPr id="2" name="Google Shape;119;p15">
            <a:extLst>
              <a:ext uri="{FF2B5EF4-FFF2-40B4-BE49-F238E27FC236}">
                <a16:creationId xmlns:a16="http://schemas.microsoft.com/office/drawing/2014/main" id="{ABDB6B5A-794B-154F-E7D7-6044EF22DC22}"/>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79EA0399-E4DD-2DA2-E0CE-14037181CA4B}"/>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929930A6-7F9A-1E3A-D129-F5C31636D5E1}"/>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C55D0EF0-4416-AECB-DD00-2ED6E292576B}"/>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3" name="Google Shape;417;p27">
            <a:extLst>
              <a:ext uri="{FF2B5EF4-FFF2-40B4-BE49-F238E27FC236}">
                <a16:creationId xmlns:a16="http://schemas.microsoft.com/office/drawing/2014/main" id="{4FAAE4FC-B858-BF4D-D485-A22813C7D12B}"/>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1" name="Google Shape;231;p19" descr="image.png"/>
          <p:cNvPicPr preferRelativeResize="0"/>
          <p:nvPr/>
        </p:nvPicPr>
        <p:blipFill rotWithShape="1">
          <a:blip r:embed="rId3">
            <a:alphaModFix/>
          </a:blip>
          <a:srcRect/>
          <a:stretch/>
        </p:blipFill>
        <p:spPr>
          <a:xfrm>
            <a:off x="2724150" y="1632495"/>
            <a:ext cx="3333750" cy="3333750"/>
          </a:xfrm>
          <a:prstGeom prst="rect">
            <a:avLst/>
          </a:prstGeom>
          <a:noFill/>
          <a:ln>
            <a:noFill/>
          </a:ln>
        </p:spPr>
      </p:pic>
      <p:pic>
        <p:nvPicPr>
          <p:cNvPr id="232" name="Google Shape;232;p19" descr="image.png"/>
          <p:cNvPicPr preferRelativeResize="0"/>
          <p:nvPr/>
        </p:nvPicPr>
        <p:blipFill rotWithShape="1">
          <a:blip r:embed="rId4">
            <a:alphaModFix/>
          </a:blip>
          <a:srcRect/>
          <a:stretch/>
        </p:blipFill>
        <p:spPr>
          <a:xfrm>
            <a:off x="3390900" y="2299245"/>
            <a:ext cx="2000250" cy="2000250"/>
          </a:xfrm>
          <a:prstGeom prst="rect">
            <a:avLst/>
          </a:prstGeom>
          <a:noFill/>
          <a:ln>
            <a:noFill/>
          </a:ln>
        </p:spPr>
      </p:pic>
      <p:sp>
        <p:nvSpPr>
          <p:cNvPr id="234" name="Google Shape;234;p19"/>
          <p:cNvSpPr txBox="1"/>
          <p:nvPr/>
        </p:nvSpPr>
        <p:spPr>
          <a:xfrm>
            <a:off x="2286000" y="5251995"/>
            <a:ext cx="762000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a:solidFill>
                  <a:srgbClr val="475569"/>
                </a:solidFill>
                <a:latin typeface="Inter"/>
                <a:ea typeface="Inter"/>
                <a:cs typeface="Inter"/>
                <a:sym typeface="Inter"/>
              </a:rPr>
              <a:t>North America dominates due to established reimbursement policies (CMS), high healthcare spending, and tech-savvy patient demographics.</a:t>
            </a:r>
            <a:endParaRPr dirty="0"/>
          </a:p>
        </p:txBody>
      </p:sp>
      <p:sp>
        <p:nvSpPr>
          <p:cNvPr id="240" name="Google Shape;240;p19"/>
          <p:cNvSpPr txBox="1"/>
          <p:nvPr/>
        </p:nvSpPr>
        <p:spPr>
          <a:xfrm>
            <a:off x="6734175" y="3023175"/>
            <a:ext cx="8572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Inter"/>
                <a:ea typeface="Inter"/>
                <a:cs typeface="Inter"/>
                <a:sym typeface="Inter"/>
              </a:rPr>
              <a:t>•</a:t>
            </a:r>
            <a:endParaRPr/>
          </a:p>
        </p:txBody>
      </p:sp>
      <p:sp>
        <p:nvSpPr>
          <p:cNvPr id="241" name="Google Shape;241;p19"/>
          <p:cNvSpPr txBox="1"/>
          <p:nvPr/>
        </p:nvSpPr>
        <p:spPr>
          <a:xfrm>
            <a:off x="6819900" y="3025080"/>
            <a:ext cx="2647950" cy="179040"/>
          </a:xfrm>
          <a:prstGeom prst="rect">
            <a:avLst/>
          </a:prstGeom>
          <a:noFill/>
          <a:ln>
            <a:noFill/>
          </a:ln>
        </p:spPr>
        <p:txBody>
          <a:bodyPr spcFirstLastPara="1" wrap="square" lIns="85725" tIns="0" rIns="0" bIns="0" anchor="ctr" anchorCtr="0">
            <a:spAutoFit/>
          </a:bodyPr>
          <a:lstStyle/>
          <a:p>
            <a:pPr marL="0" marR="0" lvl="0" indent="0" algn="l" rtl="0">
              <a:lnSpc>
                <a:spcPct val="160000"/>
              </a:lnSpc>
              <a:spcBef>
                <a:spcPts val="0"/>
              </a:spcBef>
              <a:spcAft>
                <a:spcPts val="0"/>
              </a:spcAft>
              <a:buNone/>
            </a:pPr>
            <a:r>
              <a:rPr lang="en-US" sz="1200" b="1" i="0" u="none" strike="noStrike" cap="none">
                <a:solidFill>
                  <a:srgbClr val="475569"/>
                </a:solidFill>
                <a:latin typeface="Inter"/>
                <a:ea typeface="Inter"/>
                <a:cs typeface="Inter"/>
                <a:sym typeface="Inter"/>
              </a:rPr>
              <a:t>North America:</a:t>
            </a:r>
            <a:r>
              <a:rPr lang="en-US" sz="1200" b="0" i="0" u="none" strike="noStrike" cap="none">
                <a:solidFill>
                  <a:srgbClr val="475569"/>
                </a:solidFill>
                <a:latin typeface="Inter"/>
                <a:ea typeface="Inter"/>
                <a:cs typeface="Inter"/>
                <a:sym typeface="Inter"/>
              </a:rPr>
              <a:t> ~48% (Dominant)</a:t>
            </a:r>
            <a:endParaRPr/>
          </a:p>
        </p:txBody>
      </p:sp>
      <p:sp>
        <p:nvSpPr>
          <p:cNvPr id="242" name="Google Shape;242;p19"/>
          <p:cNvSpPr txBox="1"/>
          <p:nvPr/>
        </p:nvSpPr>
        <p:spPr>
          <a:xfrm>
            <a:off x="6734175" y="3362205"/>
            <a:ext cx="8572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Inter"/>
                <a:ea typeface="Inter"/>
                <a:cs typeface="Inter"/>
                <a:sym typeface="Inter"/>
              </a:rPr>
              <a:t>•</a:t>
            </a:r>
            <a:endParaRPr/>
          </a:p>
        </p:txBody>
      </p:sp>
      <p:sp>
        <p:nvSpPr>
          <p:cNvPr id="243" name="Google Shape;243;p19"/>
          <p:cNvSpPr txBox="1"/>
          <p:nvPr/>
        </p:nvSpPr>
        <p:spPr>
          <a:xfrm>
            <a:off x="6819900" y="3364110"/>
            <a:ext cx="2647950" cy="179040"/>
          </a:xfrm>
          <a:prstGeom prst="rect">
            <a:avLst/>
          </a:prstGeom>
          <a:noFill/>
          <a:ln>
            <a:noFill/>
          </a:ln>
        </p:spPr>
        <p:txBody>
          <a:bodyPr spcFirstLastPara="1" wrap="square" lIns="85725" tIns="0" rIns="0" bIns="0" anchor="ctr" anchorCtr="0">
            <a:spAutoFit/>
          </a:bodyPr>
          <a:lstStyle/>
          <a:p>
            <a:pPr marL="0" marR="0" lvl="0" indent="0" algn="l" rtl="0">
              <a:lnSpc>
                <a:spcPct val="160000"/>
              </a:lnSpc>
              <a:spcBef>
                <a:spcPts val="0"/>
              </a:spcBef>
              <a:spcAft>
                <a:spcPts val="0"/>
              </a:spcAft>
              <a:buNone/>
            </a:pPr>
            <a:r>
              <a:rPr lang="en-US" sz="1200" b="1" i="0" u="none" strike="noStrike" cap="none">
                <a:solidFill>
                  <a:srgbClr val="475569"/>
                </a:solidFill>
                <a:latin typeface="Inter"/>
                <a:ea typeface="Inter"/>
                <a:cs typeface="Inter"/>
                <a:sym typeface="Inter"/>
              </a:rPr>
              <a:t>Rest of World:</a:t>
            </a:r>
            <a:r>
              <a:rPr lang="en-US" sz="1200" b="0" i="0" u="none" strike="noStrike" cap="none">
                <a:solidFill>
                  <a:srgbClr val="475569"/>
                </a:solidFill>
                <a:latin typeface="Inter"/>
                <a:ea typeface="Inter"/>
                <a:cs typeface="Inter"/>
                <a:sym typeface="Inter"/>
              </a:rPr>
              <a:t> ~52%</a:t>
            </a:r>
            <a:endParaRPr/>
          </a:p>
        </p:txBody>
      </p:sp>
      <p:sp>
        <p:nvSpPr>
          <p:cNvPr id="244" name="Google Shape;244;p19"/>
          <p:cNvSpPr txBox="1"/>
          <p:nvPr/>
        </p:nvSpPr>
        <p:spPr>
          <a:xfrm>
            <a:off x="3857625" y="2937420"/>
            <a:ext cx="1118638"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284C7"/>
                </a:solidFill>
                <a:latin typeface="Inter"/>
                <a:ea typeface="Inter"/>
                <a:cs typeface="Inter"/>
                <a:sym typeface="Inter"/>
              </a:rPr>
              <a:t>48%</a:t>
            </a:r>
            <a:endParaRPr dirty="0"/>
          </a:p>
        </p:txBody>
      </p:sp>
      <p:sp>
        <p:nvSpPr>
          <p:cNvPr id="245" name="Google Shape;245;p19"/>
          <p:cNvSpPr txBox="1"/>
          <p:nvPr/>
        </p:nvSpPr>
        <p:spPr>
          <a:xfrm>
            <a:off x="3938588" y="3499395"/>
            <a:ext cx="103767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64748B"/>
                </a:solidFill>
                <a:latin typeface="Inter"/>
                <a:ea typeface="Inter"/>
                <a:cs typeface="Inter"/>
                <a:sym typeface="Inter"/>
              </a:rPr>
              <a:t>North America </a:t>
            </a:r>
            <a:endParaRPr b="1" dirty="0"/>
          </a:p>
        </p:txBody>
      </p:sp>
      <p:sp>
        <p:nvSpPr>
          <p:cNvPr id="8" name="Google Shape;230;p19">
            <a:extLst>
              <a:ext uri="{FF2B5EF4-FFF2-40B4-BE49-F238E27FC236}">
                <a16:creationId xmlns:a16="http://schemas.microsoft.com/office/drawing/2014/main" id="{C4E05164-D927-9327-D048-9E01E73435A3}"/>
              </a:ext>
            </a:extLst>
          </p:cNvPr>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3: COMPETITIVE ASSESSMENT </a:t>
            </a:r>
            <a:r>
              <a:rPr lang="en-US" dirty="0">
                <a:solidFill>
                  <a:srgbClr val="3B82F6"/>
                </a:solidFill>
                <a:latin typeface="Inter"/>
                <a:ea typeface="Inter"/>
                <a:cs typeface="Inter"/>
                <a:sym typeface="Inter"/>
              </a:rPr>
              <a:t>(3/4)</a:t>
            </a:r>
            <a:endParaRPr dirty="0"/>
          </a:p>
        </p:txBody>
      </p:sp>
      <p:sp>
        <p:nvSpPr>
          <p:cNvPr id="9" name="Google Shape;231;p19">
            <a:extLst>
              <a:ext uri="{FF2B5EF4-FFF2-40B4-BE49-F238E27FC236}">
                <a16:creationId xmlns:a16="http://schemas.microsoft.com/office/drawing/2014/main" id="{3239A19F-AB3E-63E2-D565-828B66FCD01E}"/>
              </a:ext>
            </a:extLst>
          </p:cNvPr>
          <p:cNvSpPr txBox="1"/>
          <p:nvPr/>
        </p:nvSpPr>
        <p:spPr>
          <a:xfrm>
            <a:off x="571500" y="581025"/>
            <a:ext cx="11049000" cy="498598"/>
          </a:xfrm>
          <a:prstGeom prst="rect">
            <a:avLst/>
          </a:prstGeom>
          <a:noFill/>
          <a:ln>
            <a:noFill/>
          </a:ln>
        </p:spPr>
        <p:txBody>
          <a:bodyPr spcFirstLastPara="1" wrap="square" lIns="0" tIns="0" rIns="0" bIns="0" anchor="t" anchorCtr="0">
            <a:spAutoFit/>
          </a:bodyPr>
          <a:lstStyle/>
          <a:p>
            <a:pPr lvl="0">
              <a:lnSpc>
                <a:spcPct val="119968"/>
              </a:lnSpc>
            </a:pPr>
            <a:r>
              <a:rPr lang="en-US" sz="2700" b="1" dirty="0">
                <a:solidFill>
                  <a:srgbClr val="0F172A"/>
                </a:solidFill>
                <a:latin typeface="Inter"/>
                <a:ea typeface="Inter"/>
                <a:cs typeface="Inter"/>
                <a:sym typeface="Inter"/>
              </a:rPr>
              <a:t>Global RPM Market Share by Region (2024)</a:t>
            </a:r>
            <a:endParaRPr lang="en-US" sz="2700" dirty="0"/>
          </a:p>
        </p:txBody>
      </p:sp>
      <p:sp>
        <p:nvSpPr>
          <p:cNvPr id="10" name="Google Shape;119;p15">
            <a:extLst>
              <a:ext uri="{FF2B5EF4-FFF2-40B4-BE49-F238E27FC236}">
                <a16:creationId xmlns:a16="http://schemas.microsoft.com/office/drawing/2014/main" id="{D2BBC0E3-0E55-E693-2607-2BFDD69D4F3B}"/>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120;p15">
            <a:extLst>
              <a:ext uri="{FF2B5EF4-FFF2-40B4-BE49-F238E27FC236}">
                <a16:creationId xmlns:a16="http://schemas.microsoft.com/office/drawing/2014/main" id="{DEE8F9CB-A5B9-7C21-97B6-4A759A4C1468}"/>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21;p15">
            <a:extLst>
              <a:ext uri="{FF2B5EF4-FFF2-40B4-BE49-F238E27FC236}">
                <a16:creationId xmlns:a16="http://schemas.microsoft.com/office/drawing/2014/main" id="{67AF5C72-11ED-18D1-37BA-6A5E96692272}"/>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122;p15">
            <a:extLst>
              <a:ext uri="{FF2B5EF4-FFF2-40B4-BE49-F238E27FC236}">
                <a16:creationId xmlns:a16="http://schemas.microsoft.com/office/drawing/2014/main" id="{FAADA277-363E-6EFA-E7BD-84AD49734FC8}"/>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237;p19">
            <a:extLst>
              <a:ext uri="{FF2B5EF4-FFF2-40B4-BE49-F238E27FC236}">
                <a16:creationId xmlns:a16="http://schemas.microsoft.com/office/drawing/2014/main" id="{A384935E-E14A-5C7D-A146-2F74613A3561}"/>
              </a:ext>
            </a:extLst>
          </p:cNvPr>
          <p:cNvSpPr txBox="1"/>
          <p:nvPr/>
        </p:nvSpPr>
        <p:spPr>
          <a:xfrm>
            <a:off x="571500" y="6553200"/>
            <a:ext cx="4741645" cy="338554"/>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a:t>
            </a:r>
            <a:r>
              <a:rPr lang="en-US" sz="750" dirty="0">
                <a:solidFill>
                  <a:srgbClr val="94A3B8"/>
                </a:solidFill>
                <a:latin typeface="Inter"/>
                <a:ea typeface="Inter"/>
                <a:cs typeface="Inter"/>
                <a:sym typeface="Inter"/>
              </a:rPr>
              <a:t> </a:t>
            </a:r>
            <a:r>
              <a:rPr lang="en-US" sz="800" dirty="0">
                <a:solidFill>
                  <a:srgbClr val="94A3B8"/>
                </a:solidFill>
                <a:latin typeface="Inter"/>
                <a:ea typeface="Inter"/>
                <a:cs typeface="Inter"/>
                <a:sym typeface="Inter"/>
                <a:hlinkClick r:id="rId5"/>
              </a:rPr>
              <a:t>Fortune Business Insights</a:t>
            </a:r>
            <a:r>
              <a:rPr lang="en-US" sz="800" dirty="0">
                <a:solidFill>
                  <a:srgbClr val="94A3B8"/>
                </a:solidFill>
                <a:latin typeface="Inter"/>
                <a:ea typeface="Inter"/>
                <a:cs typeface="Inter"/>
                <a:sym typeface="Inter"/>
              </a:rPr>
              <a:t>; </a:t>
            </a:r>
            <a:r>
              <a:rPr lang="en-US" sz="800" dirty="0">
                <a:solidFill>
                  <a:srgbClr val="94A3B8"/>
                </a:solidFill>
                <a:latin typeface="Inter"/>
                <a:ea typeface="Inter"/>
                <a:cs typeface="Inter"/>
                <a:sym typeface="Inter"/>
                <a:hlinkClick r:id="rId6"/>
              </a:rPr>
              <a:t>Grand View Research Regional Analysis</a:t>
            </a:r>
            <a:endParaRPr lang="en-US" sz="800" dirty="0"/>
          </a:p>
          <a:p>
            <a:pPr marL="0" marR="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22849E42-1167-E671-FF19-B800B129AEEC}"/>
              </a:ext>
            </a:extLst>
          </p:cNvPr>
          <p:cNvSpPr txBox="1"/>
          <p:nvPr/>
        </p:nvSpPr>
        <p:spPr>
          <a:xfrm>
            <a:off x="7225060" y="6544375"/>
            <a:ext cx="4979770" cy="307777"/>
          </a:xfrm>
          <a:prstGeom prst="rect">
            <a:avLst/>
          </a:prstGeom>
          <a:noFill/>
        </p:spPr>
        <p:txBody>
          <a:bodyPr wrap="square" rtlCol="0">
            <a:spAutoFit/>
          </a:bodyPr>
          <a:lstStyle/>
          <a:p>
            <a:r>
              <a:rPr lang="en-IN" dirty="0">
                <a:latin typeface="Inter" panose="020B0604020202020204" charset="0"/>
                <a:ea typeface="Inter" panose="020B0604020202020204" charset="0"/>
              </a:rPr>
              <a:t>Abbr.: CMS= </a:t>
            </a:r>
            <a:r>
              <a:rPr lang="en-IN" dirty="0" err="1">
                <a:latin typeface="Inter" panose="020B0604020202020204" charset="0"/>
                <a:ea typeface="Inter" panose="020B0604020202020204" charset="0"/>
              </a:rPr>
              <a:t>Centers</a:t>
            </a:r>
            <a:r>
              <a:rPr lang="en-IN" dirty="0">
                <a:latin typeface="Inter" panose="020B0604020202020204" charset="0"/>
                <a:ea typeface="Inter" panose="020B0604020202020204" charset="0"/>
              </a:rPr>
              <a:t> for Medicare &amp; Medicaid Services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sp>
        <p:nvSpPr>
          <p:cNvPr id="6" name="Google Shape;417;p27">
            <a:extLst>
              <a:ext uri="{FF2B5EF4-FFF2-40B4-BE49-F238E27FC236}">
                <a16:creationId xmlns:a16="http://schemas.microsoft.com/office/drawing/2014/main" id="{F0AF7449-3C2C-1029-FB40-D531FF205727}"/>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0"/>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3: COMPETITIVE ASSESSMENT </a:t>
            </a:r>
            <a:r>
              <a:rPr lang="en-US" dirty="0">
                <a:solidFill>
                  <a:srgbClr val="3B82F6"/>
                </a:solidFill>
                <a:latin typeface="Inter"/>
                <a:ea typeface="Inter"/>
                <a:cs typeface="Inter"/>
                <a:sym typeface="Inter"/>
              </a:rPr>
              <a:t>(4/4)</a:t>
            </a:r>
            <a:endParaRPr dirty="0"/>
          </a:p>
        </p:txBody>
      </p:sp>
      <p:sp>
        <p:nvSpPr>
          <p:cNvPr id="246" name="Google Shape;246;p20"/>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a:solidFill>
                  <a:srgbClr val="0F172A"/>
                </a:solidFill>
                <a:latin typeface="Inter"/>
                <a:ea typeface="Inter"/>
                <a:cs typeface="Inter"/>
                <a:sym typeface="Inter"/>
              </a:rPr>
              <a:t>Competitor Benchmarking</a:t>
            </a:r>
            <a:endParaRPr dirty="0"/>
          </a:p>
        </p:txBody>
      </p:sp>
      <p:graphicFrame>
        <p:nvGraphicFramePr>
          <p:cNvPr id="247" name="Google Shape;247;p20"/>
          <p:cNvGraphicFramePr/>
          <p:nvPr>
            <p:extLst>
              <p:ext uri="{D42A27DB-BD31-4B8C-83A1-F6EECF244321}">
                <p14:modId xmlns:p14="http://schemas.microsoft.com/office/powerpoint/2010/main" val="3417140078"/>
              </p:ext>
            </p:extLst>
          </p:nvPr>
        </p:nvGraphicFramePr>
        <p:xfrm>
          <a:off x="571500" y="1666875"/>
          <a:ext cx="11049000" cy="3390900"/>
        </p:xfrm>
        <a:graphic>
          <a:graphicData uri="http://schemas.openxmlformats.org/drawingml/2006/table">
            <a:tbl>
              <a:tblPr firstRow="1" bandRow="1">
                <a:noFill/>
                <a:tableStyleId>{95F03BE6-EC8F-46A9-A9EA-9C163B19A885}</a:tableStyleId>
              </a:tblPr>
              <a:tblGrid>
                <a:gridCol w="1718375">
                  <a:extLst>
                    <a:ext uri="{9D8B030D-6E8A-4147-A177-3AD203B41FA5}">
                      <a16:colId xmlns:a16="http://schemas.microsoft.com/office/drawing/2014/main" val="20000"/>
                    </a:ext>
                  </a:extLst>
                </a:gridCol>
                <a:gridCol w="2520550">
                  <a:extLst>
                    <a:ext uri="{9D8B030D-6E8A-4147-A177-3AD203B41FA5}">
                      <a16:colId xmlns:a16="http://schemas.microsoft.com/office/drawing/2014/main" val="20001"/>
                    </a:ext>
                  </a:extLst>
                </a:gridCol>
                <a:gridCol w="2063350">
                  <a:extLst>
                    <a:ext uri="{9D8B030D-6E8A-4147-A177-3AD203B41FA5}">
                      <a16:colId xmlns:a16="http://schemas.microsoft.com/office/drawing/2014/main" val="20002"/>
                    </a:ext>
                  </a:extLst>
                </a:gridCol>
                <a:gridCol w="2606125">
                  <a:extLst>
                    <a:ext uri="{9D8B030D-6E8A-4147-A177-3AD203B41FA5}">
                      <a16:colId xmlns:a16="http://schemas.microsoft.com/office/drawing/2014/main" val="20003"/>
                    </a:ext>
                  </a:extLst>
                </a:gridCol>
                <a:gridCol w="2140600">
                  <a:extLst>
                    <a:ext uri="{9D8B030D-6E8A-4147-A177-3AD203B41FA5}">
                      <a16:colId xmlns:a16="http://schemas.microsoft.com/office/drawing/2014/main" val="20004"/>
                    </a:ext>
                  </a:extLst>
                </a:gridCol>
              </a:tblGrid>
              <a:tr h="565150">
                <a:tc>
                  <a:txBody>
                    <a:bodyPr/>
                    <a:lstStyle/>
                    <a:p>
                      <a:pPr marL="0" marR="0" lvl="0" indent="0" algn="l" rtl="0">
                        <a:spcBef>
                          <a:spcPts val="0"/>
                        </a:spcBef>
                        <a:spcAft>
                          <a:spcPts val="0"/>
                        </a:spcAft>
                        <a:buNone/>
                      </a:pPr>
                      <a:r>
                        <a:rPr lang="en-US" sz="1125" b="1" i="0" u="none" strike="noStrike" cap="none">
                          <a:solidFill>
                            <a:srgbClr val="FFFFFF"/>
                          </a:solidFill>
                          <a:latin typeface="Inter"/>
                          <a:ea typeface="Inter"/>
                          <a:cs typeface="Inter"/>
                          <a:sym typeface="Inter"/>
                        </a:rPr>
                        <a:t>Parameter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Inter"/>
                          <a:ea typeface="Inter"/>
                          <a:cs typeface="Inter"/>
                          <a:sym typeface="Inter"/>
                        </a:rPr>
                        <a:t>Medtronic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Inter"/>
                          <a:ea typeface="Inter"/>
                          <a:cs typeface="Inter"/>
                          <a:sym typeface="Inter"/>
                        </a:rPr>
                        <a:t>Philips Healthcare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Inter"/>
                          <a:ea typeface="Inter"/>
                          <a:cs typeface="Inter"/>
                          <a:sym typeface="Inter"/>
                        </a:rPr>
                        <a:t>Abbott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Inter"/>
                          <a:ea typeface="Inter"/>
                          <a:cs typeface="Inter"/>
                          <a:sym typeface="Inter"/>
                        </a:rPr>
                        <a:t>Dexcom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65150">
                <a:tc>
                  <a:txBody>
                    <a:bodyPr/>
                    <a:lstStyle/>
                    <a:p>
                      <a:pPr marL="0" marR="0" lvl="0" indent="0" algn="l" rtl="0">
                        <a:spcBef>
                          <a:spcPts val="0"/>
                        </a:spcBef>
                        <a:spcAft>
                          <a:spcPts val="0"/>
                        </a:spcAft>
                        <a:buNone/>
                      </a:pPr>
                      <a:r>
                        <a:rPr lang="en-US" sz="1125" b="1" i="0" u="none" strike="noStrike" cap="none" dirty="0">
                          <a:solidFill>
                            <a:srgbClr val="334155"/>
                          </a:solidFill>
                          <a:latin typeface="Inter"/>
                          <a:ea typeface="Inter"/>
                          <a:cs typeface="Inter"/>
                          <a:sym typeface="Inter"/>
                        </a:rPr>
                        <a:t>Revenue (Total) 2024</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dirty="0">
                          <a:solidFill>
                            <a:srgbClr val="334155"/>
                          </a:solidFill>
                          <a:latin typeface="Inter"/>
                          <a:ea typeface="Inter"/>
                          <a:cs typeface="Inter"/>
                          <a:sym typeface="Inter"/>
                        </a:rPr>
                        <a:t>~$33.5B (High)</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~$16.0B (Med)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~$28.3B (High)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~$3.6B (Low - Niche)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5150">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R&amp;D Strength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Very High ($2.7B annual investment)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High (Focus on AI/Software)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High (Focus on Consumer Wearables)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High (Specialized in Sensors)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5150">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Geographic Presence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Global (150+ countries)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Global (Strong in EU/USA)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Global (Strong in USA/Asia)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Global (Rapid expansion)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5150">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Manufacturing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Extensive Global Supply Chain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Consolidated Hubs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Diversified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Scaling rapidly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65150">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Key RPM Focus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Cardiac &amp; In-Hospital Monitoring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Hospital-to-Home Platforms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Diabetes (FreeStyle Libre) &amp; Cardiac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dirty="0">
                          <a:solidFill>
                            <a:srgbClr val="334155"/>
                          </a:solidFill>
                          <a:latin typeface="Inter"/>
                          <a:ea typeface="Inter"/>
                          <a:cs typeface="Inter"/>
                          <a:sym typeface="Inter"/>
                        </a:rPr>
                        <a:t>Diabetes (G6/G7/</a:t>
                      </a:r>
                      <a:r>
                        <a:rPr lang="en-US" sz="1125" b="0" i="0" u="none" strike="noStrike" cap="none" dirty="0" err="1">
                          <a:solidFill>
                            <a:srgbClr val="334155"/>
                          </a:solidFill>
                          <a:latin typeface="Inter"/>
                          <a:ea typeface="Inter"/>
                          <a:cs typeface="Inter"/>
                          <a:sym typeface="Inter"/>
                        </a:rPr>
                        <a:t>Stelo</a:t>
                      </a:r>
                      <a:r>
                        <a:rPr lang="en-US" sz="1125" b="0" i="0" u="none" strike="noStrike" cap="none" dirty="0">
                          <a:solidFill>
                            <a:srgbClr val="334155"/>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48" name="Google Shape;248;p20"/>
          <p:cNvSpPr/>
          <p:nvPr/>
        </p:nvSpPr>
        <p:spPr>
          <a:xfrm>
            <a:off x="571500" y="2595562"/>
            <a:ext cx="17183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0"/>
          <p:cNvSpPr/>
          <p:nvPr/>
        </p:nvSpPr>
        <p:spPr>
          <a:xfrm>
            <a:off x="2289869" y="2595562"/>
            <a:ext cx="25205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0"/>
          <p:cNvSpPr/>
          <p:nvPr/>
        </p:nvSpPr>
        <p:spPr>
          <a:xfrm>
            <a:off x="4810422" y="2595562"/>
            <a:ext cx="20633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0"/>
          <p:cNvSpPr/>
          <p:nvPr/>
        </p:nvSpPr>
        <p:spPr>
          <a:xfrm>
            <a:off x="6873775" y="2595562"/>
            <a:ext cx="26061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0"/>
          <p:cNvSpPr/>
          <p:nvPr/>
        </p:nvSpPr>
        <p:spPr>
          <a:xfrm>
            <a:off x="9479905" y="2595562"/>
            <a:ext cx="2140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0"/>
          <p:cNvSpPr/>
          <p:nvPr/>
        </p:nvSpPr>
        <p:spPr>
          <a:xfrm>
            <a:off x="571500" y="3252787"/>
            <a:ext cx="17183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0"/>
          <p:cNvSpPr/>
          <p:nvPr/>
        </p:nvSpPr>
        <p:spPr>
          <a:xfrm>
            <a:off x="2289869" y="3252787"/>
            <a:ext cx="25205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0"/>
          <p:cNvSpPr/>
          <p:nvPr/>
        </p:nvSpPr>
        <p:spPr>
          <a:xfrm>
            <a:off x="4810422" y="3252787"/>
            <a:ext cx="20633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0"/>
          <p:cNvSpPr/>
          <p:nvPr/>
        </p:nvSpPr>
        <p:spPr>
          <a:xfrm>
            <a:off x="6873775" y="3252787"/>
            <a:ext cx="26061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0"/>
          <p:cNvSpPr/>
          <p:nvPr/>
        </p:nvSpPr>
        <p:spPr>
          <a:xfrm>
            <a:off x="9479905" y="3252787"/>
            <a:ext cx="2140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0"/>
          <p:cNvSpPr/>
          <p:nvPr/>
        </p:nvSpPr>
        <p:spPr>
          <a:xfrm>
            <a:off x="571500" y="3910012"/>
            <a:ext cx="17183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0"/>
          <p:cNvSpPr/>
          <p:nvPr/>
        </p:nvSpPr>
        <p:spPr>
          <a:xfrm>
            <a:off x="2289869" y="3910012"/>
            <a:ext cx="25205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0"/>
          <p:cNvSpPr/>
          <p:nvPr/>
        </p:nvSpPr>
        <p:spPr>
          <a:xfrm>
            <a:off x="4810422" y="3910012"/>
            <a:ext cx="20633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0"/>
          <p:cNvSpPr/>
          <p:nvPr/>
        </p:nvSpPr>
        <p:spPr>
          <a:xfrm>
            <a:off x="6873775" y="3910012"/>
            <a:ext cx="26061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0"/>
          <p:cNvSpPr/>
          <p:nvPr/>
        </p:nvSpPr>
        <p:spPr>
          <a:xfrm>
            <a:off x="9479905" y="3910012"/>
            <a:ext cx="2140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0"/>
          <p:cNvSpPr/>
          <p:nvPr/>
        </p:nvSpPr>
        <p:spPr>
          <a:xfrm>
            <a:off x="571500" y="4386262"/>
            <a:ext cx="17183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0"/>
          <p:cNvSpPr/>
          <p:nvPr/>
        </p:nvSpPr>
        <p:spPr>
          <a:xfrm>
            <a:off x="2289869" y="4386262"/>
            <a:ext cx="25205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0"/>
          <p:cNvSpPr/>
          <p:nvPr/>
        </p:nvSpPr>
        <p:spPr>
          <a:xfrm>
            <a:off x="4810422" y="4386262"/>
            <a:ext cx="20633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0"/>
          <p:cNvSpPr/>
          <p:nvPr/>
        </p:nvSpPr>
        <p:spPr>
          <a:xfrm>
            <a:off x="6873775" y="4386262"/>
            <a:ext cx="26061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0"/>
          <p:cNvSpPr/>
          <p:nvPr/>
        </p:nvSpPr>
        <p:spPr>
          <a:xfrm>
            <a:off x="9479905" y="4386262"/>
            <a:ext cx="2140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20"/>
          <p:cNvSpPr/>
          <p:nvPr/>
        </p:nvSpPr>
        <p:spPr>
          <a:xfrm>
            <a:off x="571500" y="5043487"/>
            <a:ext cx="171836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0"/>
          <p:cNvSpPr/>
          <p:nvPr/>
        </p:nvSpPr>
        <p:spPr>
          <a:xfrm>
            <a:off x="2289869" y="5043487"/>
            <a:ext cx="25205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20"/>
          <p:cNvSpPr/>
          <p:nvPr/>
        </p:nvSpPr>
        <p:spPr>
          <a:xfrm>
            <a:off x="4810422" y="5043487"/>
            <a:ext cx="206335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0"/>
          <p:cNvSpPr/>
          <p:nvPr/>
        </p:nvSpPr>
        <p:spPr>
          <a:xfrm>
            <a:off x="6873775" y="5043487"/>
            <a:ext cx="26061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0"/>
          <p:cNvSpPr/>
          <p:nvPr/>
        </p:nvSpPr>
        <p:spPr>
          <a:xfrm>
            <a:off x="9479905" y="5043487"/>
            <a:ext cx="2140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0"/>
          <p:cNvSpPr txBox="1"/>
          <p:nvPr/>
        </p:nvSpPr>
        <p:spPr>
          <a:xfrm>
            <a:off x="571500" y="6553200"/>
            <a:ext cx="6134100" cy="1154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3"/>
              </a:rPr>
              <a:t>Medtronic Annual Report 2024</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4"/>
              </a:rPr>
              <a:t>Philips Investor Relations</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5"/>
              </a:rPr>
              <a:t>Abbott Annual Reports</a:t>
            </a:r>
            <a:r>
              <a:rPr lang="en-US" sz="750" b="0" i="0" u="none" strike="noStrike" cap="none" dirty="0">
                <a:solidFill>
                  <a:srgbClr val="64748B"/>
                </a:solidFill>
                <a:latin typeface="Inter"/>
                <a:ea typeface="Inter"/>
                <a:cs typeface="Inter"/>
                <a:sym typeface="Inter"/>
              </a:rPr>
              <a:t>; </a:t>
            </a:r>
            <a:r>
              <a:rPr lang="en-US" sz="750" b="0" i="0" u="none" strike="noStrike" cap="none" dirty="0" err="1">
                <a:solidFill>
                  <a:srgbClr val="64748B"/>
                </a:solidFill>
                <a:latin typeface="Inter"/>
                <a:ea typeface="Inter"/>
                <a:cs typeface="Inter"/>
                <a:sym typeface="Inter"/>
                <a:hlinkClick r:id="rId6"/>
              </a:rPr>
              <a:t>Dexocom</a:t>
            </a:r>
            <a:r>
              <a:rPr lang="en-US" sz="750" b="0" i="0" u="none" strike="noStrike" cap="none" dirty="0">
                <a:solidFill>
                  <a:srgbClr val="64748B"/>
                </a:solidFill>
                <a:latin typeface="Inter"/>
                <a:ea typeface="Inter"/>
                <a:cs typeface="Inter"/>
                <a:sym typeface="Inter"/>
                <a:hlinkClick r:id="rId6"/>
              </a:rPr>
              <a:t> Annual Reports</a:t>
            </a:r>
            <a:endParaRPr lang="en-US" sz="750" b="0" i="0" u="none" strike="noStrike" cap="none" dirty="0">
              <a:solidFill>
                <a:srgbClr val="64748B"/>
              </a:solidFill>
              <a:latin typeface="Inter"/>
              <a:ea typeface="Inter"/>
              <a:cs typeface="Inter"/>
              <a:sym typeface="Inter"/>
            </a:endParaRPr>
          </a:p>
        </p:txBody>
      </p:sp>
      <p:sp>
        <p:nvSpPr>
          <p:cNvPr id="2" name="Google Shape;119;p15">
            <a:extLst>
              <a:ext uri="{FF2B5EF4-FFF2-40B4-BE49-F238E27FC236}">
                <a16:creationId xmlns:a16="http://schemas.microsoft.com/office/drawing/2014/main" id="{E8895BD3-3313-32A3-A23A-AF5E88937D03}"/>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52451742-A97C-CD7D-8B70-4C0AF065C5B2}"/>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6A122BB3-F8A7-1C2C-50B8-7C3503DEBB19}"/>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73401D65-324B-89D0-94EA-C150BF70CE96}"/>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7"/>
        <p:cNvGrpSpPr/>
        <p:nvPr/>
      </p:nvGrpSpPr>
      <p:grpSpPr>
        <a:xfrm>
          <a:off x="0" y="0"/>
          <a:ext cx="0" cy="0"/>
          <a:chOff x="0" y="0"/>
          <a:chExt cx="0" cy="0"/>
        </a:xfrm>
      </p:grpSpPr>
      <p:sp>
        <p:nvSpPr>
          <p:cNvPr id="4" name="Google Shape;121;p15">
            <a:extLst>
              <a:ext uri="{FF2B5EF4-FFF2-40B4-BE49-F238E27FC236}">
                <a16:creationId xmlns:a16="http://schemas.microsoft.com/office/drawing/2014/main" id="{7AD1787B-6EEB-6C83-C73D-AA694E01B680}"/>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119;p15">
            <a:extLst>
              <a:ext uri="{FF2B5EF4-FFF2-40B4-BE49-F238E27FC236}">
                <a16:creationId xmlns:a16="http://schemas.microsoft.com/office/drawing/2014/main" id="{EFF2EBBA-6404-8558-A0B6-219FE150EE03}"/>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23A498C0-6B24-B2D5-38D3-4BA6F243033E}"/>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F4E54441-609F-0A58-2BD5-C2B9656405FF}"/>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1"/>
          <p:cNvSpPr/>
          <p:nvPr/>
        </p:nvSpPr>
        <p:spPr>
          <a:xfrm>
            <a:off x="9334500" y="-952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278" name="Google Shape;278;p21" descr="image.png"/>
          <p:cNvPicPr preferRelativeResize="0"/>
          <p:nvPr/>
        </p:nvPicPr>
        <p:blipFill rotWithShape="1">
          <a:blip r:embed="rId3">
            <a:alphaModFix/>
          </a:blip>
          <a:srcRect/>
          <a:stretch/>
        </p:blipFill>
        <p:spPr>
          <a:xfrm>
            <a:off x="571500" y="1666875"/>
            <a:ext cx="5334000" cy="4619625"/>
          </a:xfrm>
          <a:prstGeom prst="rect">
            <a:avLst/>
          </a:prstGeom>
          <a:noFill/>
          <a:ln>
            <a:noFill/>
          </a:ln>
        </p:spPr>
      </p:pic>
      <p:pic>
        <p:nvPicPr>
          <p:cNvPr id="279" name="Google Shape;279;p21" descr="image.png"/>
          <p:cNvPicPr preferRelativeResize="0"/>
          <p:nvPr/>
        </p:nvPicPr>
        <p:blipFill rotWithShape="1">
          <a:blip r:embed="rId4">
            <a:alphaModFix/>
            <a:duotone>
              <a:prstClr val="black"/>
              <a:schemeClr val="accent3">
                <a:tint val="45000"/>
                <a:satMod val="400000"/>
              </a:schemeClr>
            </a:duotone>
          </a:blip>
          <a:srcRect/>
          <a:stretch/>
        </p:blipFill>
        <p:spPr>
          <a:xfrm>
            <a:off x="6286500" y="2028825"/>
            <a:ext cx="2595562" cy="962025"/>
          </a:xfrm>
          <a:prstGeom prst="rect">
            <a:avLst/>
          </a:prstGeom>
          <a:noFill/>
          <a:ln>
            <a:noFill/>
          </a:ln>
        </p:spPr>
      </p:pic>
      <p:pic>
        <p:nvPicPr>
          <p:cNvPr id="280" name="Google Shape;280;p21" descr="image.png"/>
          <p:cNvPicPr preferRelativeResize="0"/>
          <p:nvPr/>
        </p:nvPicPr>
        <p:blipFill rotWithShape="1">
          <a:blip r:embed="rId5">
            <a:alphaModFix/>
            <a:duotone>
              <a:prstClr val="black"/>
              <a:schemeClr val="accent5">
                <a:tint val="45000"/>
                <a:satMod val="400000"/>
              </a:schemeClr>
            </a:duotone>
          </a:blip>
          <a:srcRect/>
          <a:stretch/>
        </p:blipFill>
        <p:spPr>
          <a:xfrm>
            <a:off x="9024937" y="2028825"/>
            <a:ext cx="2595562" cy="962025"/>
          </a:xfrm>
          <a:prstGeom prst="rect">
            <a:avLst/>
          </a:prstGeom>
          <a:noFill/>
          <a:ln>
            <a:noFill/>
          </a:ln>
        </p:spPr>
      </p:pic>
      <p:sp>
        <p:nvSpPr>
          <p:cNvPr id="282" name="Google Shape;282;p21"/>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4: DETAILED COMPANY PROFILE </a:t>
            </a:r>
            <a:r>
              <a:rPr lang="en-US" dirty="0">
                <a:solidFill>
                  <a:srgbClr val="3B82F6"/>
                </a:solidFill>
                <a:latin typeface="Inter"/>
                <a:ea typeface="Inter"/>
                <a:cs typeface="Inter"/>
                <a:sym typeface="Inter"/>
              </a:rPr>
              <a:t>(1/5)</a:t>
            </a:r>
            <a:endParaRPr dirty="0"/>
          </a:p>
        </p:txBody>
      </p:sp>
      <p:sp>
        <p:nvSpPr>
          <p:cNvPr id="283" name="Google Shape;283;p21"/>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Business Snapshot: Medtronic</a:t>
            </a:r>
            <a:endParaRPr/>
          </a:p>
        </p:txBody>
      </p:sp>
      <p:sp>
        <p:nvSpPr>
          <p:cNvPr id="284" name="Google Shape;284;p21"/>
          <p:cNvSpPr txBox="1"/>
          <p:nvPr/>
        </p:nvSpPr>
        <p:spPr>
          <a:xfrm>
            <a:off x="857250" y="1905000"/>
            <a:ext cx="505063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Inter"/>
                <a:ea typeface="Inter"/>
                <a:cs typeface="Inter"/>
                <a:sym typeface="Inter"/>
              </a:rPr>
              <a:t>Company Overview</a:t>
            </a:r>
            <a:endParaRPr dirty="0"/>
          </a:p>
        </p:txBody>
      </p:sp>
      <p:sp>
        <p:nvSpPr>
          <p:cNvPr id="285" name="Google Shape;285;p21"/>
          <p:cNvSpPr txBox="1"/>
          <p:nvPr/>
        </p:nvSpPr>
        <p:spPr>
          <a:xfrm>
            <a:off x="857250" y="2228850"/>
            <a:ext cx="48101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Headquarters:</a:t>
            </a:r>
            <a:r>
              <a:rPr lang="en-US" sz="1200" b="0" i="0" u="none" strike="noStrike" cap="none">
                <a:solidFill>
                  <a:srgbClr val="000000"/>
                </a:solidFill>
                <a:latin typeface="Inter"/>
                <a:ea typeface="Inter"/>
                <a:cs typeface="Inter"/>
                <a:sym typeface="Inter"/>
              </a:rPr>
              <a:t> Dublin, Ireland (Operational HQ in Minneapolis, USA)</a:t>
            </a:r>
            <a:endParaRPr/>
          </a:p>
        </p:txBody>
      </p:sp>
      <p:sp>
        <p:nvSpPr>
          <p:cNvPr id="286" name="Google Shape;286;p21"/>
          <p:cNvSpPr txBox="1"/>
          <p:nvPr/>
        </p:nvSpPr>
        <p:spPr>
          <a:xfrm>
            <a:off x="857250" y="2609850"/>
            <a:ext cx="48101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Founded:</a:t>
            </a:r>
            <a:r>
              <a:rPr lang="en-US" sz="1200" b="0" i="0" u="none" strike="noStrike" cap="none">
                <a:solidFill>
                  <a:srgbClr val="000000"/>
                </a:solidFill>
                <a:latin typeface="Inter"/>
                <a:ea typeface="Inter"/>
                <a:cs typeface="Inter"/>
                <a:sym typeface="Inter"/>
              </a:rPr>
              <a:t> 1949</a:t>
            </a:r>
            <a:endParaRPr/>
          </a:p>
        </p:txBody>
      </p:sp>
      <p:sp>
        <p:nvSpPr>
          <p:cNvPr id="287" name="Google Shape;287;p21"/>
          <p:cNvSpPr txBox="1"/>
          <p:nvPr/>
        </p:nvSpPr>
        <p:spPr>
          <a:xfrm>
            <a:off x="857250" y="2800350"/>
            <a:ext cx="48101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Employees:</a:t>
            </a:r>
            <a:r>
              <a:rPr lang="en-US" sz="1200" b="0" i="0" u="none" strike="noStrike" cap="none">
                <a:solidFill>
                  <a:srgbClr val="000000"/>
                </a:solidFill>
                <a:latin typeface="Inter"/>
                <a:ea typeface="Inter"/>
                <a:cs typeface="Inter"/>
                <a:sym typeface="Inter"/>
              </a:rPr>
              <a:t> 95,000+</a:t>
            </a:r>
            <a:endParaRPr/>
          </a:p>
        </p:txBody>
      </p:sp>
      <p:sp>
        <p:nvSpPr>
          <p:cNvPr id="288" name="Google Shape;288;p21"/>
          <p:cNvSpPr txBox="1"/>
          <p:nvPr/>
        </p:nvSpPr>
        <p:spPr>
          <a:xfrm>
            <a:off x="857250" y="2990850"/>
            <a:ext cx="48101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Mission:</a:t>
            </a:r>
            <a:r>
              <a:rPr lang="en-US" sz="1200" b="0" i="0" u="none" strike="noStrike" cap="none">
                <a:solidFill>
                  <a:srgbClr val="000000"/>
                </a:solidFill>
                <a:latin typeface="Inter"/>
                <a:ea typeface="Inter"/>
                <a:cs typeface="Inter"/>
                <a:sym typeface="Inter"/>
              </a:rPr>
              <a:t> To alleviate pain, restore health, and extend life.</a:t>
            </a:r>
            <a:endParaRPr/>
          </a:p>
        </p:txBody>
      </p:sp>
      <p:sp>
        <p:nvSpPr>
          <p:cNvPr id="289" name="Google Shape;289;p21"/>
          <p:cNvSpPr txBox="1"/>
          <p:nvPr/>
        </p:nvSpPr>
        <p:spPr>
          <a:xfrm>
            <a:off x="6286500" y="1666875"/>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0000"/>
                </a:solidFill>
                <a:latin typeface="Inter"/>
                <a:ea typeface="Inter"/>
                <a:cs typeface="Inter"/>
                <a:sym typeface="Inter"/>
              </a:rPr>
              <a:t>Financial Highlights</a:t>
            </a:r>
            <a:endParaRPr dirty="0"/>
          </a:p>
        </p:txBody>
      </p:sp>
      <p:sp>
        <p:nvSpPr>
          <p:cNvPr id="290" name="Google Shape;290;p21"/>
          <p:cNvSpPr txBox="1"/>
          <p:nvPr/>
        </p:nvSpPr>
        <p:spPr>
          <a:xfrm>
            <a:off x="6286500" y="3181350"/>
            <a:ext cx="5333999"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334155"/>
                </a:solidFill>
                <a:latin typeface="Inter"/>
                <a:ea typeface="Inter"/>
                <a:cs typeface="Inter"/>
                <a:sym typeface="Inter"/>
              </a:rPr>
              <a:t>Global Footprint:</a:t>
            </a:r>
            <a:r>
              <a:rPr lang="en-US" sz="1350" b="0" i="0" u="none" strike="noStrike" cap="none" dirty="0">
                <a:solidFill>
                  <a:srgbClr val="334155"/>
                </a:solidFill>
                <a:latin typeface="Inter"/>
                <a:ea typeface="Inter"/>
                <a:cs typeface="Inter"/>
                <a:sym typeface="Inter"/>
              </a:rPr>
              <a:t> Serving over 75 million patients annually across 150+ countries. </a:t>
            </a:r>
            <a:endParaRPr dirty="0"/>
          </a:p>
        </p:txBody>
      </p:sp>
      <p:sp>
        <p:nvSpPr>
          <p:cNvPr id="291" name="Google Shape;291;p21"/>
          <p:cNvSpPr txBox="1"/>
          <p:nvPr/>
        </p:nvSpPr>
        <p:spPr>
          <a:xfrm>
            <a:off x="6486525" y="2228850"/>
            <a:ext cx="2195512"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a:solidFill>
                  <a:srgbClr val="3B82F6"/>
                </a:solidFill>
                <a:latin typeface="Inter"/>
                <a:ea typeface="Inter"/>
                <a:cs typeface="Inter"/>
                <a:sym typeface="Inter"/>
              </a:rPr>
              <a:t>$3</a:t>
            </a:r>
            <a:r>
              <a:rPr lang="en-US" sz="2400" b="1" dirty="0">
                <a:solidFill>
                  <a:srgbClr val="3B82F6"/>
                </a:solidFill>
                <a:latin typeface="Inter"/>
                <a:ea typeface="Inter"/>
                <a:cs typeface="Inter"/>
                <a:sym typeface="Inter"/>
              </a:rPr>
              <a:t>3</a:t>
            </a:r>
            <a:r>
              <a:rPr lang="en-US" sz="2400" b="1" i="0" u="none" strike="noStrike" cap="none" dirty="0">
                <a:solidFill>
                  <a:srgbClr val="3B82F6"/>
                </a:solidFill>
                <a:latin typeface="Inter"/>
                <a:ea typeface="Inter"/>
                <a:cs typeface="Inter"/>
                <a:sym typeface="Inter"/>
              </a:rPr>
              <a:t>.5B</a:t>
            </a:r>
            <a:endParaRPr dirty="0"/>
          </a:p>
        </p:txBody>
      </p:sp>
      <p:sp>
        <p:nvSpPr>
          <p:cNvPr id="292" name="Google Shape;292;p21"/>
          <p:cNvSpPr txBox="1"/>
          <p:nvPr/>
        </p:nvSpPr>
        <p:spPr>
          <a:xfrm>
            <a:off x="7041356" y="2619375"/>
            <a:ext cx="108585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64748B"/>
                </a:solidFill>
                <a:latin typeface="Inter"/>
                <a:ea typeface="Inter"/>
                <a:cs typeface="Inter"/>
                <a:sym typeface="Inter"/>
              </a:rPr>
              <a:t>TOTAL REVENUE</a:t>
            </a:r>
            <a:endParaRPr/>
          </a:p>
        </p:txBody>
      </p:sp>
      <p:sp>
        <p:nvSpPr>
          <p:cNvPr id="293" name="Google Shape;293;p21"/>
          <p:cNvSpPr txBox="1"/>
          <p:nvPr/>
        </p:nvSpPr>
        <p:spPr>
          <a:xfrm>
            <a:off x="9224962" y="2228850"/>
            <a:ext cx="2195512"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a:solidFill>
                  <a:srgbClr val="3B82F6"/>
                </a:solidFill>
                <a:latin typeface="Inter"/>
                <a:ea typeface="Inter"/>
                <a:cs typeface="Inter"/>
                <a:sym typeface="Inter"/>
              </a:rPr>
              <a:t>$2.7B</a:t>
            </a:r>
            <a:endParaRPr dirty="0"/>
          </a:p>
        </p:txBody>
      </p:sp>
      <p:sp>
        <p:nvSpPr>
          <p:cNvPr id="294" name="Google Shape;294;p21"/>
          <p:cNvSpPr txBox="1"/>
          <p:nvPr/>
        </p:nvSpPr>
        <p:spPr>
          <a:xfrm>
            <a:off x="9946481" y="2619375"/>
            <a:ext cx="75247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64748B"/>
                </a:solidFill>
                <a:latin typeface="Inter"/>
                <a:ea typeface="Inter"/>
                <a:cs typeface="Inter"/>
                <a:sym typeface="Inter"/>
              </a:rPr>
              <a:t>R&amp;D SPEND</a:t>
            </a:r>
            <a:endParaRPr/>
          </a:p>
        </p:txBody>
      </p:sp>
      <p:sp>
        <p:nvSpPr>
          <p:cNvPr id="295" name="Google Shape;295;p21"/>
          <p:cNvSpPr txBox="1"/>
          <p:nvPr/>
        </p:nvSpPr>
        <p:spPr>
          <a:xfrm>
            <a:off x="571500" y="6553200"/>
            <a:ext cx="3505200" cy="115416"/>
          </a:xfrm>
          <a:prstGeom prst="rect">
            <a:avLst/>
          </a:prstGeom>
          <a:noFill/>
          <a:ln>
            <a:noFill/>
          </a:ln>
        </p:spPr>
        <p:txBody>
          <a:bodyPr spcFirstLastPara="1" wrap="square" lIns="0" tIns="0" rIns="0" bIns="0" anchor="t" anchorCtr="0">
            <a:spAutoFit/>
          </a:bodyPr>
          <a:lstStyle/>
          <a:p>
            <a:pPr lvl="0"/>
            <a:r>
              <a:rPr lang="en-US" sz="750" b="0" i="0" u="none" strike="noStrike" cap="none" dirty="0">
                <a:solidFill>
                  <a:srgbClr val="94A3B8"/>
                </a:solidFill>
                <a:latin typeface="Inter"/>
                <a:ea typeface="Inter"/>
                <a:cs typeface="Inter"/>
                <a:sym typeface="Inter"/>
              </a:rPr>
              <a:t>Sources: </a:t>
            </a:r>
            <a:r>
              <a:rPr lang="en-US" sz="750" dirty="0">
                <a:solidFill>
                  <a:srgbClr val="64748B"/>
                </a:solidFill>
                <a:latin typeface="Inter"/>
                <a:ea typeface="Inter"/>
                <a:cs typeface="Inter"/>
                <a:sym typeface="Inter"/>
                <a:hlinkClick r:id="rId6"/>
              </a:rPr>
              <a:t>Medtronic Annual Report 2024</a:t>
            </a:r>
            <a:r>
              <a:rPr lang="en-US" sz="750" b="0" i="0" u="none" strike="noStrike" cap="none" dirty="0">
                <a:solidFill>
                  <a:srgbClr val="64748B"/>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7"/>
              </a:rPr>
              <a:t>Interventional News</a:t>
            </a:r>
            <a:endParaRPr dirty="0"/>
          </a:p>
        </p:txBody>
      </p:sp>
      <p:pic>
        <p:nvPicPr>
          <p:cNvPr id="11" name="Picture 10" descr="A building with a sign on the side of it&#10;&#10;AI-generated content may be incorrect.">
            <a:extLst>
              <a:ext uri="{FF2B5EF4-FFF2-40B4-BE49-F238E27FC236}">
                <a16:creationId xmlns:a16="http://schemas.microsoft.com/office/drawing/2014/main" id="{2F8637FA-BBA7-66BF-7DD9-1483AF3A2D45}"/>
              </a:ext>
            </a:extLst>
          </p:cNvPr>
          <p:cNvPicPr>
            <a:picLocks noChangeAspect="1"/>
          </p:cNvPicPr>
          <p:nvPr/>
        </p:nvPicPr>
        <p:blipFill>
          <a:blip r:embed="rId8">
            <a:grayscl/>
          </a:blip>
          <a:stretch>
            <a:fillRect/>
          </a:stretch>
        </p:blipFill>
        <p:spPr>
          <a:xfrm>
            <a:off x="611679" y="3257550"/>
            <a:ext cx="5279433" cy="3028950"/>
          </a:xfrm>
          <a:prstGeom prst="roundRect">
            <a:avLst>
              <a:gd name="adj" fmla="val 2624"/>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14" name="Google Shape;417;p27">
            <a:extLst>
              <a:ext uri="{FF2B5EF4-FFF2-40B4-BE49-F238E27FC236}">
                <a16:creationId xmlns:a16="http://schemas.microsoft.com/office/drawing/2014/main" id="{880B6E3B-F8ED-3ECD-7464-7D08A123DF66}"/>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0" name="Google Shape;300;p22" descr="image.png"/>
          <p:cNvPicPr preferRelativeResize="0"/>
          <p:nvPr/>
        </p:nvPicPr>
        <p:blipFill rotWithShape="1">
          <a:blip r:embed="rId3">
            <a:alphaModFix/>
            <a:duotone>
              <a:prstClr val="black"/>
              <a:schemeClr val="accent4">
                <a:tint val="45000"/>
                <a:satMod val="400000"/>
              </a:schemeClr>
            </a:duotone>
          </a:blip>
          <a:srcRect/>
          <a:stretch/>
        </p:blipFill>
        <p:spPr>
          <a:xfrm>
            <a:off x="571500" y="1438275"/>
            <a:ext cx="3555950" cy="1895475"/>
          </a:xfrm>
          <a:prstGeom prst="rect">
            <a:avLst/>
          </a:prstGeom>
          <a:noFill/>
          <a:ln>
            <a:noFill/>
          </a:ln>
        </p:spPr>
      </p:pic>
      <p:pic>
        <p:nvPicPr>
          <p:cNvPr id="301" name="Google Shape;301;p22" descr="image.png"/>
          <p:cNvPicPr preferRelativeResize="0"/>
          <p:nvPr/>
        </p:nvPicPr>
        <p:blipFill rotWithShape="1">
          <a:blip r:embed="rId4">
            <a:alphaModFix/>
            <a:duotone>
              <a:prstClr val="black"/>
              <a:schemeClr val="accent5">
                <a:tint val="45000"/>
                <a:satMod val="400000"/>
              </a:schemeClr>
            </a:duotone>
          </a:blip>
          <a:srcRect/>
          <a:stretch/>
        </p:blipFill>
        <p:spPr>
          <a:xfrm>
            <a:off x="4317950" y="1438275"/>
            <a:ext cx="3555950" cy="1895475"/>
          </a:xfrm>
          <a:prstGeom prst="rect">
            <a:avLst/>
          </a:prstGeom>
          <a:noFill/>
          <a:ln>
            <a:noFill/>
          </a:ln>
        </p:spPr>
      </p:pic>
      <p:pic>
        <p:nvPicPr>
          <p:cNvPr id="302" name="Google Shape;302;p22" descr="image.png"/>
          <p:cNvPicPr preferRelativeResize="0"/>
          <p:nvPr/>
        </p:nvPicPr>
        <p:blipFill rotWithShape="1">
          <a:blip r:embed="rId5">
            <a:alphaModFix/>
            <a:duotone>
              <a:prstClr val="black"/>
              <a:schemeClr val="accent3">
                <a:tint val="45000"/>
                <a:satMod val="400000"/>
              </a:schemeClr>
            </a:duotone>
          </a:blip>
          <a:srcRect/>
          <a:stretch/>
        </p:blipFill>
        <p:spPr>
          <a:xfrm>
            <a:off x="8064400" y="1438275"/>
            <a:ext cx="3556099" cy="1895475"/>
          </a:xfrm>
          <a:prstGeom prst="rect">
            <a:avLst/>
          </a:prstGeom>
          <a:noFill/>
          <a:ln>
            <a:noFill/>
          </a:ln>
        </p:spPr>
      </p:pic>
      <p:sp>
        <p:nvSpPr>
          <p:cNvPr id="303" name="Google Shape;303;p22"/>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4: DETAILED COMPANY PROFILE </a:t>
            </a:r>
            <a:r>
              <a:rPr lang="en-US" dirty="0">
                <a:solidFill>
                  <a:srgbClr val="3B82F6"/>
                </a:solidFill>
                <a:latin typeface="Inter"/>
                <a:ea typeface="Inter"/>
                <a:cs typeface="Inter"/>
                <a:sym typeface="Inter"/>
              </a:rPr>
              <a:t>(2/5)</a:t>
            </a:r>
            <a:endParaRPr dirty="0"/>
          </a:p>
        </p:txBody>
      </p:sp>
      <p:sp>
        <p:nvSpPr>
          <p:cNvPr id="304" name="Google Shape;304;p22"/>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Medtronic Product Portfolio (RPM)</a:t>
            </a:r>
            <a:endParaRPr/>
          </a:p>
        </p:txBody>
      </p:sp>
      <p:sp>
        <p:nvSpPr>
          <p:cNvPr id="305" name="Google Shape;305;p22"/>
          <p:cNvSpPr txBox="1"/>
          <p:nvPr/>
        </p:nvSpPr>
        <p:spPr>
          <a:xfrm>
            <a:off x="809625" y="2286000"/>
            <a:ext cx="323368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Inter"/>
                <a:ea typeface="Inter"/>
                <a:cs typeface="Inter"/>
                <a:sym typeface="Inter"/>
              </a:rPr>
              <a:t>HealthCast™</a:t>
            </a:r>
            <a:endParaRPr dirty="0"/>
          </a:p>
        </p:txBody>
      </p:sp>
      <p:sp>
        <p:nvSpPr>
          <p:cNvPr id="306" name="Google Shape;306;p22"/>
          <p:cNvSpPr txBox="1"/>
          <p:nvPr/>
        </p:nvSpPr>
        <p:spPr>
          <a:xfrm>
            <a:off x="809625" y="2609850"/>
            <a:ext cx="30797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Intelligent patient monitoring portfolio connecting patients and data within the hospital and home. Focus on interoperability with EMRs.</a:t>
            </a:r>
            <a:endParaRPr/>
          </a:p>
        </p:txBody>
      </p:sp>
      <p:sp>
        <p:nvSpPr>
          <p:cNvPr id="307" name="Google Shape;307;p22"/>
          <p:cNvSpPr txBox="1"/>
          <p:nvPr/>
        </p:nvSpPr>
        <p:spPr>
          <a:xfrm>
            <a:off x="4556075" y="2286000"/>
            <a:ext cx="323368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Inter"/>
                <a:ea typeface="Inter"/>
                <a:cs typeface="Inter"/>
                <a:sym typeface="Inter"/>
              </a:rPr>
              <a:t>BioButton®</a:t>
            </a:r>
            <a:endParaRPr/>
          </a:p>
        </p:txBody>
      </p:sp>
      <p:sp>
        <p:nvSpPr>
          <p:cNvPr id="308" name="Google Shape;308;p22"/>
          <p:cNvSpPr txBox="1"/>
          <p:nvPr/>
        </p:nvSpPr>
        <p:spPr>
          <a:xfrm>
            <a:off x="4556075" y="2609850"/>
            <a:ext cx="30797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Multi-parameter wearable for continuous vital sign monitoring (HR, RR, skin temp) at rest. Medical-grade accuracy for post-discharge.</a:t>
            </a:r>
            <a:endParaRPr dirty="0"/>
          </a:p>
        </p:txBody>
      </p:sp>
      <p:sp>
        <p:nvSpPr>
          <p:cNvPr id="309" name="Google Shape;309;p22"/>
          <p:cNvSpPr txBox="1"/>
          <p:nvPr/>
        </p:nvSpPr>
        <p:spPr>
          <a:xfrm>
            <a:off x="8302525" y="2286000"/>
            <a:ext cx="323384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Inter"/>
                <a:ea typeface="Inter"/>
                <a:cs typeface="Inter"/>
                <a:sym typeface="Inter"/>
              </a:rPr>
              <a:t>CareLink™ Network</a:t>
            </a:r>
            <a:endParaRPr dirty="0"/>
          </a:p>
        </p:txBody>
      </p:sp>
      <p:sp>
        <p:nvSpPr>
          <p:cNvPr id="310" name="Google Shape;310;p22"/>
          <p:cNvSpPr txBox="1"/>
          <p:nvPr/>
        </p:nvSpPr>
        <p:spPr>
          <a:xfrm>
            <a:off x="8302525" y="2609850"/>
            <a:ext cx="3079849"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Leading remote monitoring network for cardiac device patients (pacemakers/ICDs), allowing remote data transmission to clinics.</a:t>
            </a:r>
            <a:endParaRPr/>
          </a:p>
        </p:txBody>
      </p:sp>
      <p:pic>
        <p:nvPicPr>
          <p:cNvPr id="311" name="Google Shape;311;p22" descr="image.png"/>
          <p:cNvPicPr preferRelativeResize="0"/>
          <p:nvPr/>
        </p:nvPicPr>
        <p:blipFill rotWithShape="1">
          <a:blip r:embed="rId6">
            <a:alphaModFix/>
          </a:blip>
          <a:srcRect/>
          <a:stretch/>
        </p:blipFill>
        <p:spPr>
          <a:xfrm>
            <a:off x="809625" y="1762125"/>
            <a:ext cx="476250" cy="381000"/>
          </a:xfrm>
          <a:prstGeom prst="rect">
            <a:avLst/>
          </a:prstGeom>
          <a:noFill/>
          <a:ln>
            <a:noFill/>
          </a:ln>
        </p:spPr>
      </p:pic>
      <p:pic>
        <p:nvPicPr>
          <p:cNvPr id="312" name="Google Shape;312;p22" descr="image.png"/>
          <p:cNvPicPr preferRelativeResize="0"/>
          <p:nvPr/>
        </p:nvPicPr>
        <p:blipFill rotWithShape="1">
          <a:blip r:embed="rId7">
            <a:alphaModFix/>
          </a:blip>
          <a:srcRect/>
          <a:stretch/>
        </p:blipFill>
        <p:spPr>
          <a:xfrm>
            <a:off x="4556075" y="1762125"/>
            <a:ext cx="381000" cy="381000"/>
          </a:xfrm>
          <a:prstGeom prst="rect">
            <a:avLst/>
          </a:prstGeom>
          <a:noFill/>
          <a:ln>
            <a:noFill/>
          </a:ln>
        </p:spPr>
      </p:pic>
      <p:pic>
        <p:nvPicPr>
          <p:cNvPr id="313" name="Google Shape;313;p22" descr="image.png"/>
          <p:cNvPicPr preferRelativeResize="0"/>
          <p:nvPr/>
        </p:nvPicPr>
        <p:blipFill rotWithShape="1">
          <a:blip r:embed="rId8">
            <a:alphaModFix/>
          </a:blip>
          <a:srcRect/>
          <a:stretch/>
        </p:blipFill>
        <p:spPr>
          <a:xfrm>
            <a:off x="8302525" y="1762125"/>
            <a:ext cx="428625" cy="381000"/>
          </a:xfrm>
          <a:prstGeom prst="rect">
            <a:avLst/>
          </a:prstGeom>
          <a:noFill/>
          <a:ln>
            <a:noFill/>
          </a:ln>
        </p:spPr>
      </p:pic>
      <p:sp>
        <p:nvSpPr>
          <p:cNvPr id="314" name="Google Shape;314;p22"/>
          <p:cNvSpPr txBox="1"/>
          <p:nvPr/>
        </p:nvSpPr>
        <p:spPr>
          <a:xfrm>
            <a:off x="571500" y="6553200"/>
            <a:ext cx="4086225" cy="338554"/>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9"/>
              </a:rPr>
              <a:t>Medtronic RPM Products</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10"/>
              </a:rPr>
              <a:t>Medtronic Product Catalog</a:t>
            </a:r>
            <a:endParaRPr lang="en-US" sz="750" dirty="0"/>
          </a:p>
          <a:p>
            <a:pPr marL="0" marR="0" lvl="0" indent="0" algn="l" rtl="0">
              <a:spcBef>
                <a:spcPts val="0"/>
              </a:spcBef>
              <a:spcAft>
                <a:spcPts val="0"/>
              </a:spcAft>
              <a:buNone/>
            </a:pPr>
            <a:endParaRPr dirty="0"/>
          </a:p>
        </p:txBody>
      </p:sp>
      <p:sp>
        <p:nvSpPr>
          <p:cNvPr id="2" name="Google Shape;119;p15">
            <a:extLst>
              <a:ext uri="{FF2B5EF4-FFF2-40B4-BE49-F238E27FC236}">
                <a16:creationId xmlns:a16="http://schemas.microsoft.com/office/drawing/2014/main" id="{AA6DB260-7FFA-015F-F51A-DE127B4EF356}"/>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82DFEC03-0573-F7DF-9366-B1C3DC048AF7}"/>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BD3BDFD9-1ECC-7767-CA16-777F6E924073}"/>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B5FC6807-D1FC-62E3-A5E1-B0256CCAD853}"/>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 name="Google Shape;303;p22" descr="image.png">
            <a:extLst>
              <a:ext uri="{FF2B5EF4-FFF2-40B4-BE49-F238E27FC236}">
                <a16:creationId xmlns:a16="http://schemas.microsoft.com/office/drawing/2014/main" id="{C7FA39BB-0FC7-773A-3095-711AF12B5CA0}"/>
              </a:ext>
            </a:extLst>
          </p:cNvPr>
          <p:cNvPicPr preferRelativeResize="0"/>
          <p:nvPr/>
        </p:nvPicPr>
        <p:blipFill rotWithShape="1">
          <a:blip r:embed="rId11">
            <a:alphaModFix/>
          </a:blip>
          <a:srcRect/>
          <a:stretch/>
        </p:blipFill>
        <p:spPr>
          <a:xfrm>
            <a:off x="571500" y="5734050"/>
            <a:ext cx="3555950" cy="464620"/>
          </a:xfrm>
          <a:prstGeom prst="rect">
            <a:avLst/>
          </a:prstGeom>
          <a:noFill/>
          <a:ln>
            <a:noFill/>
          </a:ln>
        </p:spPr>
      </p:pic>
      <p:pic>
        <p:nvPicPr>
          <p:cNvPr id="8" name="Google Shape;305;p22" descr="image.png">
            <a:extLst>
              <a:ext uri="{FF2B5EF4-FFF2-40B4-BE49-F238E27FC236}">
                <a16:creationId xmlns:a16="http://schemas.microsoft.com/office/drawing/2014/main" id="{E602F32F-58FD-FCD9-5A89-488D56C21E65}"/>
              </a:ext>
            </a:extLst>
          </p:cNvPr>
          <p:cNvPicPr preferRelativeResize="0"/>
          <p:nvPr/>
        </p:nvPicPr>
        <p:blipFill rotWithShape="1">
          <a:blip r:embed="rId12">
            <a:alphaModFix/>
          </a:blip>
          <a:srcRect/>
          <a:stretch/>
        </p:blipFill>
        <p:spPr>
          <a:xfrm>
            <a:off x="8064400" y="3458513"/>
            <a:ext cx="3573247" cy="2730631"/>
          </a:xfrm>
          <a:prstGeom prst="rect">
            <a:avLst/>
          </a:prstGeom>
          <a:noFill/>
          <a:ln>
            <a:noFill/>
          </a:ln>
        </p:spPr>
      </p:pic>
      <p:pic>
        <p:nvPicPr>
          <p:cNvPr id="9" name="Google Shape;310;p22" descr="image.png">
            <a:extLst>
              <a:ext uri="{FF2B5EF4-FFF2-40B4-BE49-F238E27FC236}">
                <a16:creationId xmlns:a16="http://schemas.microsoft.com/office/drawing/2014/main" id="{2B7C5763-1F7D-2954-F581-6E6212526604}"/>
              </a:ext>
            </a:extLst>
          </p:cNvPr>
          <p:cNvPicPr preferRelativeResize="0"/>
          <p:nvPr/>
        </p:nvPicPr>
        <p:blipFill rotWithShape="1">
          <a:blip r:embed="rId13">
            <a:alphaModFix/>
          </a:blip>
          <a:srcRect/>
          <a:stretch/>
        </p:blipFill>
        <p:spPr>
          <a:xfrm>
            <a:off x="571500" y="3505669"/>
            <a:ext cx="3555950" cy="2269542"/>
          </a:xfrm>
          <a:prstGeom prst="rect">
            <a:avLst/>
          </a:prstGeom>
          <a:noFill/>
          <a:ln>
            <a:noFill/>
          </a:ln>
        </p:spPr>
      </p:pic>
      <p:grpSp>
        <p:nvGrpSpPr>
          <p:cNvPr id="26" name="Group 25">
            <a:extLst>
              <a:ext uri="{FF2B5EF4-FFF2-40B4-BE49-F238E27FC236}">
                <a16:creationId xmlns:a16="http://schemas.microsoft.com/office/drawing/2014/main" id="{831ADC49-8582-B2E2-3D10-276E5098560C}"/>
              </a:ext>
            </a:extLst>
          </p:cNvPr>
          <p:cNvGrpSpPr/>
          <p:nvPr/>
        </p:nvGrpSpPr>
        <p:grpSpPr>
          <a:xfrm>
            <a:off x="4317950" y="3458513"/>
            <a:ext cx="3555950" cy="2740157"/>
            <a:chOff x="4317950" y="3505669"/>
            <a:chExt cx="2209800" cy="2603722"/>
          </a:xfrm>
        </p:grpSpPr>
        <p:pic>
          <p:nvPicPr>
            <p:cNvPr id="7" name="Google Shape;304;p22" descr="image.png">
              <a:extLst>
                <a:ext uri="{FF2B5EF4-FFF2-40B4-BE49-F238E27FC236}">
                  <a16:creationId xmlns:a16="http://schemas.microsoft.com/office/drawing/2014/main" id="{8F2CC2C6-1351-C48A-AE0E-2DCD7022973A}"/>
                </a:ext>
              </a:extLst>
            </p:cNvPr>
            <p:cNvPicPr preferRelativeResize="0"/>
            <p:nvPr/>
          </p:nvPicPr>
          <p:blipFill rotWithShape="1">
            <a:blip r:embed="rId14">
              <a:alphaModFix/>
            </a:blip>
            <a:srcRect/>
            <a:stretch/>
          </p:blipFill>
          <p:spPr>
            <a:xfrm>
              <a:off x="4317950" y="5667905"/>
              <a:ext cx="2209800" cy="441486"/>
            </a:xfrm>
            <a:prstGeom prst="rect">
              <a:avLst/>
            </a:prstGeom>
            <a:noFill/>
            <a:ln>
              <a:noFill/>
            </a:ln>
          </p:spPr>
        </p:pic>
        <p:pic>
          <p:nvPicPr>
            <p:cNvPr id="10" name="Google Shape;311;p22" descr="image.png">
              <a:extLst>
                <a:ext uri="{FF2B5EF4-FFF2-40B4-BE49-F238E27FC236}">
                  <a16:creationId xmlns:a16="http://schemas.microsoft.com/office/drawing/2014/main" id="{8F5B4D33-FD09-978A-FD60-EA4FCA17051B}"/>
                </a:ext>
              </a:extLst>
            </p:cNvPr>
            <p:cNvPicPr preferRelativeResize="0"/>
            <p:nvPr/>
          </p:nvPicPr>
          <p:blipFill rotWithShape="1">
            <a:blip r:embed="rId15">
              <a:alphaModFix/>
            </a:blip>
            <a:srcRect/>
            <a:stretch/>
          </p:blipFill>
          <p:spPr>
            <a:xfrm>
              <a:off x="4317950" y="3505669"/>
              <a:ext cx="2209800" cy="2201347"/>
            </a:xfrm>
            <a:prstGeom prst="rect">
              <a:avLst/>
            </a:prstGeom>
            <a:noFill/>
            <a:ln>
              <a:noFill/>
            </a:ln>
          </p:spPr>
        </p:pic>
      </p:grpSp>
      <p:pic>
        <p:nvPicPr>
          <p:cNvPr id="11" name="Google Shape;312;p22" descr="image.png">
            <a:extLst>
              <a:ext uri="{FF2B5EF4-FFF2-40B4-BE49-F238E27FC236}">
                <a16:creationId xmlns:a16="http://schemas.microsoft.com/office/drawing/2014/main" id="{525ED875-CDDD-2897-EC12-AA3468264C81}"/>
              </a:ext>
            </a:extLst>
          </p:cNvPr>
          <p:cNvPicPr preferRelativeResize="0"/>
          <p:nvPr/>
        </p:nvPicPr>
        <p:blipFill rotWithShape="1">
          <a:blip r:embed="rId16">
            <a:alphaModFix/>
          </a:blip>
          <a:srcRect/>
          <a:stretch/>
        </p:blipFill>
        <p:spPr>
          <a:xfrm>
            <a:off x="9601383" y="3651309"/>
            <a:ext cx="482131" cy="363127"/>
          </a:xfrm>
          <a:prstGeom prst="rect">
            <a:avLst/>
          </a:prstGeom>
          <a:noFill/>
          <a:ln>
            <a:noFill/>
          </a:ln>
        </p:spPr>
      </p:pic>
      <p:sp>
        <p:nvSpPr>
          <p:cNvPr id="12" name="Google Shape;313;p22">
            <a:extLst>
              <a:ext uri="{FF2B5EF4-FFF2-40B4-BE49-F238E27FC236}">
                <a16:creationId xmlns:a16="http://schemas.microsoft.com/office/drawing/2014/main" id="{191DFEBB-0550-4029-90CB-498D9EE36248}"/>
              </a:ext>
            </a:extLst>
          </p:cNvPr>
          <p:cNvSpPr txBox="1"/>
          <p:nvPr/>
        </p:nvSpPr>
        <p:spPr>
          <a:xfrm>
            <a:off x="8966760" y="4181475"/>
            <a:ext cx="1768525" cy="6647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00" b="1" i="0" u="none" strike="noStrike" cap="none" dirty="0">
                <a:solidFill>
                  <a:schemeClr val="bg1"/>
                </a:solidFill>
                <a:latin typeface="Inter"/>
                <a:ea typeface="Inter"/>
                <a:cs typeface="Inter"/>
                <a:sym typeface="Inter"/>
              </a:rPr>
              <a:t>CareLink™ Network</a:t>
            </a:r>
            <a:endParaRPr dirty="0">
              <a:solidFill>
                <a:schemeClr val="bg1"/>
              </a:solidFill>
            </a:endParaRPr>
          </a:p>
        </p:txBody>
      </p:sp>
      <p:sp>
        <p:nvSpPr>
          <p:cNvPr id="13" name="Google Shape;314;p22">
            <a:extLst>
              <a:ext uri="{FF2B5EF4-FFF2-40B4-BE49-F238E27FC236}">
                <a16:creationId xmlns:a16="http://schemas.microsoft.com/office/drawing/2014/main" id="{D05E840E-ABB7-BB63-3C7D-EA28E86B03EF}"/>
              </a:ext>
            </a:extLst>
          </p:cNvPr>
          <p:cNvSpPr txBox="1"/>
          <p:nvPr/>
        </p:nvSpPr>
        <p:spPr>
          <a:xfrm>
            <a:off x="8847032" y="4958349"/>
            <a:ext cx="2007982"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a:solidFill>
                  <a:srgbClr val="CBD5E1"/>
                </a:solidFill>
                <a:latin typeface="Inter"/>
                <a:ea typeface="Inter"/>
                <a:cs typeface="Inter"/>
                <a:sym typeface="Inter"/>
              </a:rPr>
              <a:t>Remote monitoring software connecting 2M+ patients</a:t>
            </a:r>
            <a:r>
              <a:rPr lang="en-US" sz="1350" dirty="0">
                <a:solidFill>
                  <a:srgbClr val="CBD5E1"/>
                </a:solidFill>
                <a:latin typeface="Inter"/>
                <a:ea typeface="Inter"/>
                <a:cs typeface="Inter"/>
                <a:sym typeface="Inter"/>
              </a:rPr>
              <a:t> </a:t>
            </a:r>
            <a:r>
              <a:rPr lang="en-US" sz="1350" b="0" i="0" u="none" strike="noStrike" cap="none" dirty="0">
                <a:solidFill>
                  <a:srgbClr val="CBD5E1"/>
                </a:solidFill>
                <a:latin typeface="Inter"/>
                <a:ea typeface="Inter"/>
                <a:cs typeface="Inter"/>
                <a:sym typeface="Inter"/>
              </a:rPr>
              <a:t>globally.</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6" name="Google Shape;417;p27">
            <a:extLst>
              <a:ext uri="{FF2B5EF4-FFF2-40B4-BE49-F238E27FC236}">
                <a16:creationId xmlns:a16="http://schemas.microsoft.com/office/drawing/2014/main" id="{32159B77-270C-D0C7-95C5-530218F05F40}"/>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9" name="Google Shape;319;p23" descr="image.png"/>
          <p:cNvPicPr preferRelativeResize="0"/>
          <p:nvPr/>
        </p:nvPicPr>
        <p:blipFill rotWithShape="1">
          <a:blip r:embed="rId3">
            <a:alphaModFix/>
            <a:duotone>
              <a:prstClr val="black"/>
              <a:schemeClr val="accent1">
                <a:tint val="45000"/>
                <a:satMod val="400000"/>
              </a:schemeClr>
            </a:duotone>
          </a:blip>
          <a:srcRect/>
          <a:stretch/>
        </p:blipFill>
        <p:spPr>
          <a:xfrm>
            <a:off x="6286500" y="1885950"/>
            <a:ext cx="5334000" cy="762000"/>
          </a:xfrm>
          <a:prstGeom prst="rect">
            <a:avLst/>
          </a:prstGeom>
          <a:noFill/>
          <a:ln>
            <a:noFill/>
          </a:ln>
        </p:spPr>
      </p:pic>
      <p:pic>
        <p:nvPicPr>
          <p:cNvPr id="320" name="Google Shape;320;p23" descr="image.png"/>
          <p:cNvPicPr preferRelativeResize="0"/>
          <p:nvPr/>
        </p:nvPicPr>
        <p:blipFill rotWithShape="1">
          <a:blip r:embed="rId3">
            <a:alphaModFix/>
            <a:duotone>
              <a:prstClr val="black"/>
              <a:schemeClr val="accent3">
                <a:tint val="45000"/>
                <a:satMod val="400000"/>
              </a:schemeClr>
            </a:duotone>
          </a:blip>
          <a:srcRect/>
          <a:stretch/>
        </p:blipFill>
        <p:spPr>
          <a:xfrm>
            <a:off x="6286500" y="2743200"/>
            <a:ext cx="5334000" cy="762000"/>
          </a:xfrm>
          <a:prstGeom prst="rect">
            <a:avLst/>
          </a:prstGeom>
          <a:noFill/>
          <a:ln>
            <a:noFill/>
          </a:ln>
        </p:spPr>
      </p:pic>
      <p:pic>
        <p:nvPicPr>
          <p:cNvPr id="321" name="Google Shape;321;p23" descr="image.png"/>
          <p:cNvPicPr preferRelativeResize="0"/>
          <p:nvPr/>
        </p:nvPicPr>
        <p:blipFill rotWithShape="1">
          <a:blip r:embed="rId3">
            <a:alphaModFix/>
            <a:duotone>
              <a:prstClr val="black"/>
              <a:schemeClr val="accent6">
                <a:tint val="45000"/>
                <a:satMod val="400000"/>
              </a:schemeClr>
            </a:duotone>
          </a:blip>
          <a:srcRect/>
          <a:stretch/>
        </p:blipFill>
        <p:spPr>
          <a:xfrm>
            <a:off x="6286500" y="3600450"/>
            <a:ext cx="5334000" cy="762000"/>
          </a:xfrm>
          <a:prstGeom prst="rect">
            <a:avLst/>
          </a:prstGeom>
          <a:noFill/>
          <a:ln>
            <a:noFill/>
          </a:ln>
        </p:spPr>
      </p:pic>
      <p:sp>
        <p:nvSpPr>
          <p:cNvPr id="322" name="Google Shape;322;p23"/>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4: DETAILED COMPANY PROFILE </a:t>
            </a:r>
            <a:r>
              <a:rPr lang="en-US" dirty="0">
                <a:solidFill>
                  <a:srgbClr val="3B82F6"/>
                </a:solidFill>
                <a:latin typeface="Inter"/>
                <a:ea typeface="Inter"/>
                <a:cs typeface="Inter"/>
                <a:sym typeface="Inter"/>
              </a:rPr>
              <a:t>(3/5)</a:t>
            </a:r>
            <a:endParaRPr dirty="0"/>
          </a:p>
        </p:txBody>
      </p:sp>
      <p:sp>
        <p:nvSpPr>
          <p:cNvPr id="323" name="Google Shape;323;p23"/>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Medtronic Business Model</a:t>
            </a:r>
            <a:endParaRPr/>
          </a:p>
        </p:txBody>
      </p:sp>
      <p:sp>
        <p:nvSpPr>
          <p:cNvPr id="324" name="Google Shape;324;p23"/>
          <p:cNvSpPr txBox="1"/>
          <p:nvPr/>
        </p:nvSpPr>
        <p:spPr>
          <a:xfrm>
            <a:off x="571500" y="1575435"/>
            <a:ext cx="168402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0000"/>
                </a:solidFill>
                <a:latin typeface="Inter"/>
                <a:ea typeface="Inter"/>
                <a:cs typeface="Inter"/>
                <a:sym typeface="Inter"/>
              </a:rPr>
              <a:t>Revenue Streams  </a:t>
            </a:r>
            <a:endParaRPr dirty="0"/>
          </a:p>
        </p:txBody>
      </p:sp>
      <p:sp>
        <p:nvSpPr>
          <p:cNvPr id="325" name="Google Shape;325;p23"/>
          <p:cNvSpPr txBox="1"/>
          <p:nvPr/>
        </p:nvSpPr>
        <p:spPr>
          <a:xfrm>
            <a:off x="6286500" y="1579728"/>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000000"/>
                </a:solidFill>
                <a:latin typeface="Inter"/>
                <a:ea typeface="Inter"/>
                <a:cs typeface="Inter"/>
                <a:sym typeface="Inter"/>
              </a:rPr>
              <a:t>Target Payer Segments</a:t>
            </a:r>
            <a:endParaRPr dirty="0"/>
          </a:p>
        </p:txBody>
      </p:sp>
      <p:sp>
        <p:nvSpPr>
          <p:cNvPr id="326" name="Google Shape;326;p23"/>
          <p:cNvSpPr txBox="1"/>
          <p:nvPr/>
        </p:nvSpPr>
        <p:spPr>
          <a:xfrm>
            <a:off x="857250" y="1885950"/>
            <a:ext cx="5048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Device Sales:</a:t>
            </a:r>
            <a:r>
              <a:rPr lang="en-US" sz="1350" b="0" i="0" u="none" strike="noStrike" cap="none">
                <a:solidFill>
                  <a:srgbClr val="334155"/>
                </a:solidFill>
                <a:latin typeface="Inter"/>
                <a:ea typeface="Inter"/>
                <a:cs typeface="Inter"/>
                <a:sym typeface="Inter"/>
              </a:rPr>
              <a:t> Capital equipment and consumable sensors (one-time &amp; recurring).</a:t>
            </a:r>
            <a:endParaRPr/>
          </a:p>
        </p:txBody>
      </p:sp>
      <p:sp>
        <p:nvSpPr>
          <p:cNvPr id="327" name="Google Shape;327;p23"/>
          <p:cNvSpPr txBox="1"/>
          <p:nvPr/>
        </p:nvSpPr>
        <p:spPr>
          <a:xfrm>
            <a:off x="857250" y="2428875"/>
            <a:ext cx="5048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Service Models:</a:t>
            </a:r>
            <a:r>
              <a:rPr lang="en-US" sz="1350" b="0" i="0" u="none" strike="noStrike" cap="none">
                <a:solidFill>
                  <a:srgbClr val="334155"/>
                </a:solidFill>
                <a:latin typeface="Inter"/>
                <a:ea typeface="Inter"/>
                <a:cs typeface="Inter"/>
                <a:sym typeface="Inter"/>
              </a:rPr>
              <a:t> "Remote Sales" teams providing virtual support and order management.</a:t>
            </a:r>
            <a:endParaRPr/>
          </a:p>
        </p:txBody>
      </p:sp>
      <p:sp>
        <p:nvSpPr>
          <p:cNvPr id="328" name="Google Shape;328;p23"/>
          <p:cNvSpPr txBox="1"/>
          <p:nvPr/>
        </p:nvSpPr>
        <p:spPr>
          <a:xfrm>
            <a:off x="857250" y="2971800"/>
            <a:ext cx="5048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Value-Based Care:</a:t>
            </a:r>
            <a:r>
              <a:rPr lang="en-US" sz="1350" b="0" i="0" u="none" strike="noStrike" cap="none">
                <a:solidFill>
                  <a:srgbClr val="334155"/>
                </a:solidFill>
                <a:latin typeface="Inter"/>
                <a:ea typeface="Inter"/>
                <a:cs typeface="Inter"/>
                <a:sym typeface="Inter"/>
              </a:rPr>
              <a:t> Contracts linked to patient outcomes and readmission reduction.</a:t>
            </a:r>
            <a:endParaRPr/>
          </a:p>
        </p:txBody>
      </p:sp>
      <p:sp>
        <p:nvSpPr>
          <p:cNvPr id="329" name="Google Shape;329;p23"/>
          <p:cNvSpPr txBox="1"/>
          <p:nvPr/>
        </p:nvSpPr>
        <p:spPr>
          <a:xfrm>
            <a:off x="6477000" y="2076450"/>
            <a:ext cx="333756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00000"/>
                </a:solidFill>
                <a:latin typeface="Inter"/>
                <a:ea typeface="Inter"/>
                <a:cs typeface="Inter"/>
                <a:sym typeface="Inter"/>
              </a:rPr>
              <a:t>🏥 Hospitals &amp; Health Systems </a:t>
            </a:r>
            <a:endParaRPr dirty="0"/>
          </a:p>
        </p:txBody>
      </p:sp>
      <p:sp>
        <p:nvSpPr>
          <p:cNvPr id="330" name="Google Shape;330;p23"/>
          <p:cNvSpPr txBox="1"/>
          <p:nvPr/>
        </p:nvSpPr>
        <p:spPr>
          <a:xfrm>
            <a:off x="6477000" y="2448267"/>
            <a:ext cx="48006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64748B"/>
                </a:solidFill>
                <a:latin typeface="Inter"/>
                <a:ea typeface="Inter"/>
                <a:cs typeface="Inter"/>
                <a:sym typeface="Inter"/>
              </a:rPr>
              <a:t>Primary customer for Acute Care &amp; Monitoring solutions (HealthCast). </a:t>
            </a:r>
            <a:endParaRPr dirty="0"/>
          </a:p>
        </p:txBody>
      </p:sp>
      <p:sp>
        <p:nvSpPr>
          <p:cNvPr id="331" name="Google Shape;331;p23"/>
          <p:cNvSpPr txBox="1"/>
          <p:nvPr/>
        </p:nvSpPr>
        <p:spPr>
          <a:xfrm>
            <a:off x="6477000" y="2933700"/>
            <a:ext cx="22764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 Home Healthcare Agencies</a:t>
            </a:r>
            <a:endParaRPr/>
          </a:p>
        </p:txBody>
      </p:sp>
      <p:sp>
        <p:nvSpPr>
          <p:cNvPr id="332" name="Google Shape;332;p23"/>
          <p:cNvSpPr txBox="1"/>
          <p:nvPr/>
        </p:nvSpPr>
        <p:spPr>
          <a:xfrm>
            <a:off x="6477000" y="3143250"/>
            <a:ext cx="418338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64748B"/>
                </a:solidFill>
                <a:latin typeface="Inter"/>
                <a:ea typeface="Inter"/>
                <a:cs typeface="Inter"/>
                <a:sym typeface="Inter"/>
              </a:rPr>
              <a:t>Growing segment for post-acute monitoring. </a:t>
            </a:r>
            <a:endParaRPr dirty="0"/>
          </a:p>
        </p:txBody>
      </p:sp>
      <p:sp>
        <p:nvSpPr>
          <p:cNvPr id="333" name="Google Shape;333;p23"/>
          <p:cNvSpPr txBox="1"/>
          <p:nvPr/>
        </p:nvSpPr>
        <p:spPr>
          <a:xfrm>
            <a:off x="6477000" y="3790950"/>
            <a:ext cx="16573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0000"/>
                </a:solidFill>
                <a:latin typeface="Inter"/>
                <a:ea typeface="Inter"/>
                <a:cs typeface="Inter"/>
                <a:sym typeface="Inter"/>
              </a:rPr>
              <a:t>🚑 Payers (Insurance)</a:t>
            </a:r>
            <a:endParaRPr/>
          </a:p>
        </p:txBody>
      </p:sp>
      <p:sp>
        <p:nvSpPr>
          <p:cNvPr id="334" name="Google Shape;334;p23"/>
          <p:cNvSpPr txBox="1"/>
          <p:nvPr/>
        </p:nvSpPr>
        <p:spPr>
          <a:xfrm>
            <a:off x="6477000" y="4008120"/>
            <a:ext cx="496824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64748B"/>
                </a:solidFill>
                <a:latin typeface="Inter"/>
                <a:ea typeface="Inter"/>
                <a:cs typeface="Inter"/>
                <a:sym typeface="Inter"/>
              </a:rPr>
              <a:t>Direct reimbursement for diabetes and cardiac management. </a:t>
            </a:r>
            <a:endParaRPr dirty="0"/>
          </a:p>
        </p:txBody>
      </p:sp>
      <p:sp>
        <p:nvSpPr>
          <p:cNvPr id="335" name="Google Shape;335;p23"/>
          <p:cNvSpPr txBox="1"/>
          <p:nvPr/>
        </p:nvSpPr>
        <p:spPr>
          <a:xfrm>
            <a:off x="571499" y="6553200"/>
            <a:ext cx="4605339" cy="330860"/>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err="1">
                <a:solidFill>
                  <a:srgbClr val="64748B"/>
                </a:solidFill>
                <a:latin typeface="Inter"/>
                <a:ea typeface="Inter"/>
                <a:cs typeface="Inter"/>
                <a:sym typeface="Inter"/>
                <a:hlinkClick r:id="rId4"/>
              </a:rPr>
              <a:t>PitchGrade</a:t>
            </a:r>
            <a:r>
              <a:rPr lang="en-US" sz="750" b="0" i="0" u="none" strike="noStrike" cap="none" dirty="0">
                <a:solidFill>
                  <a:srgbClr val="64748B"/>
                </a:solidFill>
                <a:latin typeface="Inter"/>
                <a:ea typeface="Inter"/>
                <a:cs typeface="Inter"/>
                <a:sym typeface="Inter"/>
                <a:hlinkClick r:id="rId4"/>
              </a:rPr>
              <a:t> Medtronic Business Model Analysis</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5"/>
              </a:rPr>
              <a:t>Medtronic Investor Presentation 2024</a:t>
            </a:r>
            <a:endParaRPr lang="en-US" sz="750" dirty="0"/>
          </a:p>
          <a:p>
            <a:pPr marL="0" marR="0" lvl="0" indent="0" algn="l" rtl="0">
              <a:spcBef>
                <a:spcPts val="0"/>
              </a:spcBef>
              <a:spcAft>
                <a:spcPts val="0"/>
              </a:spcAft>
              <a:buNone/>
            </a:pPr>
            <a:endParaRPr dirty="0"/>
          </a:p>
        </p:txBody>
      </p:sp>
      <p:pic>
        <p:nvPicPr>
          <p:cNvPr id="336" name="Google Shape;336;p23" descr="image.png"/>
          <p:cNvPicPr preferRelativeResize="0"/>
          <p:nvPr/>
        </p:nvPicPr>
        <p:blipFill rotWithShape="1">
          <a:blip r:embed="rId6">
            <a:alphaModFix/>
          </a:blip>
          <a:srcRect/>
          <a:stretch/>
        </p:blipFill>
        <p:spPr>
          <a:xfrm>
            <a:off x="571500" y="1885950"/>
            <a:ext cx="171450" cy="180975"/>
          </a:xfrm>
          <a:prstGeom prst="rect">
            <a:avLst/>
          </a:prstGeom>
          <a:noFill/>
          <a:ln>
            <a:noFill/>
          </a:ln>
        </p:spPr>
      </p:pic>
      <p:pic>
        <p:nvPicPr>
          <p:cNvPr id="337" name="Google Shape;337;p23" descr="image.png"/>
          <p:cNvPicPr preferRelativeResize="0"/>
          <p:nvPr/>
        </p:nvPicPr>
        <p:blipFill rotWithShape="1">
          <a:blip r:embed="rId6">
            <a:alphaModFix/>
          </a:blip>
          <a:srcRect/>
          <a:stretch/>
        </p:blipFill>
        <p:spPr>
          <a:xfrm>
            <a:off x="571500" y="2428875"/>
            <a:ext cx="171450" cy="180975"/>
          </a:xfrm>
          <a:prstGeom prst="rect">
            <a:avLst/>
          </a:prstGeom>
          <a:noFill/>
          <a:ln>
            <a:noFill/>
          </a:ln>
        </p:spPr>
      </p:pic>
      <p:pic>
        <p:nvPicPr>
          <p:cNvPr id="338" name="Google Shape;338;p23" descr="image.png"/>
          <p:cNvPicPr preferRelativeResize="0"/>
          <p:nvPr/>
        </p:nvPicPr>
        <p:blipFill rotWithShape="1">
          <a:blip r:embed="rId6">
            <a:alphaModFix/>
          </a:blip>
          <a:srcRect/>
          <a:stretch/>
        </p:blipFill>
        <p:spPr>
          <a:xfrm>
            <a:off x="571500" y="2971800"/>
            <a:ext cx="171450" cy="180975"/>
          </a:xfrm>
          <a:prstGeom prst="rect">
            <a:avLst/>
          </a:prstGeom>
          <a:noFill/>
          <a:ln>
            <a:noFill/>
          </a:ln>
        </p:spPr>
      </p:pic>
      <p:sp>
        <p:nvSpPr>
          <p:cNvPr id="2" name="Google Shape;119;p15">
            <a:extLst>
              <a:ext uri="{FF2B5EF4-FFF2-40B4-BE49-F238E27FC236}">
                <a16:creationId xmlns:a16="http://schemas.microsoft.com/office/drawing/2014/main" id="{6C794A8C-A528-9E07-BF35-93C6B4FFAFD9}"/>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B7C27121-68F8-AD39-9FCA-F0783766822D}"/>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CBC9753B-2E4B-38C0-DFD3-377443119E05}"/>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B96A41F5-C792-1BBD-79FB-912FA3EFFF70}"/>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Google Shape;326;p23">
            <a:extLst>
              <a:ext uri="{FF2B5EF4-FFF2-40B4-BE49-F238E27FC236}">
                <a16:creationId xmlns:a16="http://schemas.microsoft.com/office/drawing/2014/main" id="{1B21FD61-06FF-0D6D-A758-511158A10458}"/>
              </a:ext>
            </a:extLst>
          </p:cNvPr>
          <p:cNvSpPr txBox="1"/>
          <p:nvPr/>
        </p:nvSpPr>
        <p:spPr>
          <a:xfrm>
            <a:off x="571500" y="3476365"/>
            <a:ext cx="5334000" cy="9971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475569"/>
                </a:solidFill>
                <a:latin typeface="Inter"/>
                <a:ea typeface="Inter"/>
                <a:cs typeface="Inter"/>
                <a:sym typeface="Inter"/>
              </a:rPr>
              <a:t>Primary revenue from direct device sales to hospitals and distributors. Increasing recurring revenue from SaaS subscriptions (CareLink) and service contracts.</a:t>
            </a:r>
            <a:endParaRPr dirty="0"/>
          </a:p>
        </p:txBody>
      </p:sp>
      <p:sp>
        <p:nvSpPr>
          <p:cNvPr id="8" name="Google Shape;327;p23">
            <a:extLst>
              <a:ext uri="{FF2B5EF4-FFF2-40B4-BE49-F238E27FC236}">
                <a16:creationId xmlns:a16="http://schemas.microsoft.com/office/drawing/2014/main" id="{BEBB4E94-EDDC-B371-DEEC-303D435CCE22}"/>
              </a:ext>
            </a:extLst>
          </p:cNvPr>
          <p:cNvSpPr txBox="1"/>
          <p:nvPr/>
        </p:nvSpPr>
        <p:spPr>
          <a:xfrm>
            <a:off x="571501" y="4640128"/>
            <a:ext cx="5334000" cy="258532"/>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b="1" i="0" u="none" strike="noStrike" cap="none" dirty="0">
                <a:solidFill>
                  <a:srgbClr val="334155"/>
                </a:solidFill>
                <a:latin typeface="Inter"/>
                <a:ea typeface="Inter"/>
                <a:cs typeface="Inter"/>
                <a:sym typeface="Inter"/>
              </a:rPr>
              <a:t>Sales Channels</a:t>
            </a:r>
            <a:endParaRPr dirty="0"/>
          </a:p>
        </p:txBody>
      </p:sp>
      <p:sp>
        <p:nvSpPr>
          <p:cNvPr id="9" name="Google Shape;329;p23">
            <a:extLst>
              <a:ext uri="{FF2B5EF4-FFF2-40B4-BE49-F238E27FC236}">
                <a16:creationId xmlns:a16="http://schemas.microsoft.com/office/drawing/2014/main" id="{5110AA2F-EFB9-4AB9-3D51-2ECFA8C6F9C1}"/>
              </a:ext>
            </a:extLst>
          </p:cNvPr>
          <p:cNvSpPr txBox="1"/>
          <p:nvPr/>
        </p:nvSpPr>
        <p:spPr>
          <a:xfrm>
            <a:off x="809626" y="4897376"/>
            <a:ext cx="501015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Inter"/>
                <a:ea typeface="Inter"/>
                <a:cs typeface="Inter"/>
                <a:sym typeface="Inter"/>
              </a:rPr>
              <a:t>Direct:</a:t>
            </a:r>
            <a:r>
              <a:rPr lang="en-US" sz="1350" b="0" i="0" u="none" strike="noStrike" cap="none">
                <a:solidFill>
                  <a:srgbClr val="475569"/>
                </a:solidFill>
                <a:latin typeface="Inter"/>
                <a:ea typeface="Inter"/>
                <a:cs typeface="Inter"/>
                <a:sym typeface="Inter"/>
              </a:rPr>
              <a:t> Large hospital networks &amp; IDNs.</a:t>
            </a:r>
            <a:endParaRPr/>
          </a:p>
        </p:txBody>
      </p:sp>
      <p:sp>
        <p:nvSpPr>
          <p:cNvPr id="10" name="Google Shape;330;p23">
            <a:extLst>
              <a:ext uri="{FF2B5EF4-FFF2-40B4-BE49-F238E27FC236}">
                <a16:creationId xmlns:a16="http://schemas.microsoft.com/office/drawing/2014/main" id="{DCC4A6ED-329A-EA87-736A-1ED11359DC9D}"/>
              </a:ext>
            </a:extLst>
          </p:cNvPr>
          <p:cNvSpPr txBox="1"/>
          <p:nvPr/>
        </p:nvSpPr>
        <p:spPr>
          <a:xfrm>
            <a:off x="809625" y="5285966"/>
            <a:ext cx="50958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Inter"/>
                <a:ea typeface="Inter"/>
                <a:cs typeface="Inter"/>
                <a:sym typeface="Inter"/>
              </a:rPr>
              <a:t>Distributors:</a:t>
            </a:r>
            <a:r>
              <a:rPr lang="en-US" sz="1350" b="0" i="0" u="none" strike="noStrike" cap="none">
                <a:solidFill>
                  <a:srgbClr val="475569"/>
                </a:solidFill>
                <a:latin typeface="Inter"/>
                <a:ea typeface="Inter"/>
                <a:cs typeface="Inter"/>
                <a:sym typeface="Inter"/>
              </a:rPr>
              <a:t> Global supply chain partners.</a:t>
            </a:r>
            <a:endParaRPr/>
          </a:p>
        </p:txBody>
      </p:sp>
      <p:sp>
        <p:nvSpPr>
          <p:cNvPr id="11" name="Google Shape;331;p23">
            <a:extLst>
              <a:ext uri="{FF2B5EF4-FFF2-40B4-BE49-F238E27FC236}">
                <a16:creationId xmlns:a16="http://schemas.microsoft.com/office/drawing/2014/main" id="{893F13BF-3855-540A-B1E8-D106E56269E0}"/>
              </a:ext>
            </a:extLst>
          </p:cNvPr>
          <p:cNvSpPr txBox="1"/>
          <p:nvPr/>
        </p:nvSpPr>
        <p:spPr>
          <a:xfrm>
            <a:off x="809625" y="5674556"/>
            <a:ext cx="509587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Inter"/>
                <a:ea typeface="Inter"/>
                <a:cs typeface="Inter"/>
                <a:sym typeface="Inter"/>
              </a:rPr>
              <a:t>Direct-to-Patient:</a:t>
            </a:r>
            <a:r>
              <a:rPr lang="en-US" sz="1350" b="0" i="0" u="none" strike="noStrike" cap="none" dirty="0">
                <a:solidFill>
                  <a:srgbClr val="475569"/>
                </a:solidFill>
                <a:latin typeface="Inter"/>
                <a:ea typeface="Inter"/>
                <a:cs typeface="Inter"/>
                <a:sym typeface="Inter"/>
              </a:rPr>
              <a:t> Emerging channel for diabetes consumables.</a:t>
            </a:r>
            <a:endParaRPr dirty="0"/>
          </a:p>
        </p:txBody>
      </p:sp>
      <p:pic>
        <p:nvPicPr>
          <p:cNvPr id="13" name="Google Shape;333;p23" descr="image.png">
            <a:extLst>
              <a:ext uri="{FF2B5EF4-FFF2-40B4-BE49-F238E27FC236}">
                <a16:creationId xmlns:a16="http://schemas.microsoft.com/office/drawing/2014/main" id="{EB8C3F2B-E61C-5432-5706-DB22A89D1C7E}"/>
              </a:ext>
            </a:extLst>
          </p:cNvPr>
          <p:cNvPicPr preferRelativeResize="0"/>
          <p:nvPr/>
        </p:nvPicPr>
        <p:blipFill rotWithShape="1">
          <a:blip r:embed="rId7">
            <a:clrChange>
              <a:clrFrom>
                <a:srgbClr val="3B82F6"/>
              </a:clrFrom>
              <a:clrTo>
                <a:srgbClr val="3B82F6">
                  <a:alpha val="0"/>
                </a:srgbClr>
              </a:clrTo>
            </a:clrChange>
            <a:alphaModFix/>
            <a:extLst>
              <a:ext uri="{BEBA8EAE-BF5A-486C-A8C5-ECC9F3942E4B}">
                <a14:imgProps xmlns:a14="http://schemas.microsoft.com/office/drawing/2010/main">
                  <a14:imgLayer r:embed="rId8">
                    <a14:imgEffect>
                      <a14:colorTemperature colorTemp="4700"/>
                    </a14:imgEffect>
                  </a14:imgLayer>
                </a14:imgProps>
              </a:ext>
            </a:extLst>
          </a:blip>
          <a:srcRect/>
          <a:stretch/>
        </p:blipFill>
        <p:spPr>
          <a:xfrm>
            <a:off x="571500" y="5395509"/>
            <a:ext cx="152400" cy="152400"/>
          </a:xfrm>
          <a:prstGeom prst="rect">
            <a:avLst/>
          </a:prstGeom>
          <a:noFill/>
          <a:ln>
            <a:noFill/>
          </a:ln>
        </p:spPr>
      </p:pic>
      <p:pic>
        <p:nvPicPr>
          <p:cNvPr id="14" name="Google Shape;334;p23" descr="image.png">
            <a:extLst>
              <a:ext uri="{FF2B5EF4-FFF2-40B4-BE49-F238E27FC236}">
                <a16:creationId xmlns:a16="http://schemas.microsoft.com/office/drawing/2014/main" id="{A5D204B5-BDF6-26F7-E0FB-FF28AE782924}"/>
              </a:ext>
            </a:extLst>
          </p:cNvPr>
          <p:cNvPicPr preferRelativeResize="0"/>
          <p:nvPr/>
        </p:nvPicPr>
        <p:blipFill rotWithShape="1">
          <a:blip r:embed="rId7">
            <a:alphaModFix/>
            <a:extLst>
              <a:ext uri="{BEBA8EAE-BF5A-486C-A8C5-ECC9F3942E4B}">
                <a14:imgProps xmlns:a14="http://schemas.microsoft.com/office/drawing/2010/main">
                  <a14:imgLayer r:embed="rId8">
                    <a14:imgEffect>
                      <a14:colorTemperature colorTemp="4700"/>
                    </a14:imgEffect>
                  </a14:imgLayer>
                </a14:imgProps>
              </a:ext>
            </a:extLst>
          </a:blip>
          <a:srcRect/>
          <a:stretch/>
        </p:blipFill>
        <p:spPr>
          <a:xfrm>
            <a:off x="571500" y="5784099"/>
            <a:ext cx="152400" cy="152400"/>
          </a:xfrm>
          <a:prstGeom prst="rect">
            <a:avLst/>
          </a:prstGeom>
          <a:noFill/>
          <a:ln>
            <a:noFill/>
          </a:ln>
        </p:spPr>
      </p:pic>
      <p:pic>
        <p:nvPicPr>
          <p:cNvPr id="15" name="Google Shape;333;p23" descr="image.png">
            <a:extLst>
              <a:ext uri="{FF2B5EF4-FFF2-40B4-BE49-F238E27FC236}">
                <a16:creationId xmlns:a16="http://schemas.microsoft.com/office/drawing/2014/main" id="{73B3EA32-BDAA-89F5-9AD8-DBB37FE5A542}"/>
              </a:ext>
            </a:extLst>
          </p:cNvPr>
          <p:cNvPicPr preferRelativeResize="0"/>
          <p:nvPr/>
        </p:nvPicPr>
        <p:blipFill rotWithShape="1">
          <a:blip r:embed="rId7">
            <a:clrChange>
              <a:clrFrom>
                <a:srgbClr val="3B82F6"/>
              </a:clrFrom>
              <a:clrTo>
                <a:srgbClr val="3B82F6">
                  <a:alpha val="0"/>
                </a:srgbClr>
              </a:clrTo>
            </a:clrChange>
            <a:alphaModFix/>
            <a:extLst>
              <a:ext uri="{BEBA8EAE-BF5A-486C-A8C5-ECC9F3942E4B}">
                <a14:imgProps xmlns:a14="http://schemas.microsoft.com/office/drawing/2010/main">
                  <a14:imgLayer r:embed="rId8">
                    <a14:imgEffect>
                      <a14:colorTemperature colorTemp="4700"/>
                    </a14:imgEffect>
                  </a14:imgLayer>
                </a14:imgProps>
              </a:ext>
            </a:extLst>
          </a:blip>
          <a:srcRect/>
          <a:stretch/>
        </p:blipFill>
        <p:spPr>
          <a:xfrm>
            <a:off x="571500" y="4994518"/>
            <a:ext cx="152400" cy="15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23" name="Google Shape;417;p27">
            <a:extLst>
              <a:ext uri="{FF2B5EF4-FFF2-40B4-BE49-F238E27FC236}">
                <a16:creationId xmlns:a16="http://schemas.microsoft.com/office/drawing/2014/main" id="{F0D042FB-CF06-721D-270E-DD29DC6BC1D8}"/>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4"/>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4: DETAILED COMPANY PROFILE </a:t>
            </a:r>
            <a:r>
              <a:rPr lang="en-US" dirty="0">
                <a:solidFill>
                  <a:srgbClr val="3B82F6"/>
                </a:solidFill>
                <a:latin typeface="Inter"/>
                <a:ea typeface="Inter"/>
                <a:cs typeface="Inter"/>
                <a:sym typeface="Inter"/>
              </a:rPr>
              <a:t>(4/5)</a:t>
            </a:r>
            <a:endParaRPr dirty="0"/>
          </a:p>
        </p:txBody>
      </p:sp>
      <p:sp>
        <p:nvSpPr>
          <p:cNvPr id="344" name="Google Shape;344;p24"/>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Recent News &amp; Activities</a:t>
            </a:r>
            <a:endParaRPr/>
          </a:p>
        </p:txBody>
      </p:sp>
      <p:sp>
        <p:nvSpPr>
          <p:cNvPr id="345" name="Google Shape;345;p24"/>
          <p:cNvSpPr txBox="1"/>
          <p:nvPr/>
        </p:nvSpPr>
        <p:spPr>
          <a:xfrm>
            <a:off x="857250" y="1387744"/>
            <a:ext cx="10763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Strategic Spin-off (Intention):</a:t>
            </a:r>
            <a:r>
              <a:rPr lang="en-US" sz="1350" b="0" i="0" u="none" strike="noStrike" cap="none">
                <a:solidFill>
                  <a:srgbClr val="334155"/>
                </a:solidFill>
                <a:latin typeface="Inter"/>
                <a:ea typeface="Inter"/>
                <a:cs typeface="Inter"/>
                <a:sym typeface="Inter"/>
              </a:rPr>
              <a:t> Medtronic announced plans to separate its Patient Monitoring and Respiratory Interventions businesses into a new independent company ("NewCo") to unlock value and focus on core cardio/neuro assets.</a:t>
            </a:r>
            <a:endParaRPr/>
          </a:p>
        </p:txBody>
      </p:sp>
      <p:sp>
        <p:nvSpPr>
          <p:cNvPr id="346" name="Google Shape;346;p24"/>
          <p:cNvSpPr txBox="1"/>
          <p:nvPr/>
        </p:nvSpPr>
        <p:spPr>
          <a:xfrm>
            <a:off x="857250" y="2025919"/>
            <a:ext cx="10763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4155"/>
                </a:solidFill>
                <a:latin typeface="Inter"/>
                <a:ea typeface="Inter"/>
                <a:cs typeface="Inter"/>
                <a:sym typeface="Inter"/>
              </a:rPr>
              <a:t>Awards:</a:t>
            </a:r>
            <a:r>
              <a:rPr lang="en-US" sz="1350" b="0" i="0" u="none" strike="noStrike" cap="none" dirty="0">
                <a:solidFill>
                  <a:srgbClr val="334155"/>
                </a:solidFill>
                <a:latin typeface="Inter"/>
                <a:ea typeface="Inter"/>
                <a:cs typeface="Inter"/>
                <a:sym typeface="Inter"/>
              </a:rPr>
              <a:t> HealthCast™ intelligent patient monitoring won the "Best New Technology Solution" at the 2024 MedTech Breakthrough Awards.</a:t>
            </a:r>
            <a:endParaRPr dirty="0"/>
          </a:p>
        </p:txBody>
      </p:sp>
      <p:sp>
        <p:nvSpPr>
          <p:cNvPr id="347" name="Google Shape;347;p24"/>
          <p:cNvSpPr txBox="1"/>
          <p:nvPr/>
        </p:nvSpPr>
        <p:spPr>
          <a:xfrm>
            <a:off x="857250" y="2664094"/>
            <a:ext cx="10763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AI Integration:</a:t>
            </a:r>
            <a:r>
              <a:rPr lang="en-US" sz="1350" b="0" i="0" u="none" strike="noStrike" cap="none">
                <a:solidFill>
                  <a:srgbClr val="334155"/>
                </a:solidFill>
                <a:latin typeface="Inter"/>
                <a:ea typeface="Inter"/>
                <a:cs typeface="Inter"/>
                <a:sym typeface="Inter"/>
              </a:rPr>
              <a:t> Continued partnership with AI firms (like Cosmo Pharmaceuticals in endoscopy) and internal development of AI algorithms for cardiac monitoring alerts.</a:t>
            </a:r>
            <a:endParaRPr/>
          </a:p>
        </p:txBody>
      </p:sp>
      <p:sp>
        <p:nvSpPr>
          <p:cNvPr id="348" name="Google Shape;348;p24"/>
          <p:cNvSpPr txBox="1"/>
          <p:nvPr/>
        </p:nvSpPr>
        <p:spPr>
          <a:xfrm>
            <a:off x="857250" y="3302269"/>
            <a:ext cx="10763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Product Launch:</a:t>
            </a:r>
            <a:r>
              <a:rPr lang="en-US" sz="1350" b="0" i="0" u="none" strike="noStrike" cap="none">
                <a:solidFill>
                  <a:srgbClr val="334155"/>
                </a:solidFill>
                <a:latin typeface="Inter"/>
                <a:ea typeface="Inter"/>
                <a:cs typeface="Inter"/>
                <a:sym typeface="Inter"/>
              </a:rPr>
              <a:t> Ongoing rollout of the Evolut™ FX+ TAVR system, supported by remote monitoring capabilities for post-op care.</a:t>
            </a:r>
            <a:endParaRPr/>
          </a:p>
        </p:txBody>
      </p:sp>
      <p:sp>
        <p:nvSpPr>
          <p:cNvPr id="349" name="Google Shape;349;p24"/>
          <p:cNvSpPr txBox="1"/>
          <p:nvPr/>
        </p:nvSpPr>
        <p:spPr>
          <a:xfrm>
            <a:off x="571499" y="6553200"/>
            <a:ext cx="6410325" cy="1154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3"/>
              </a:rPr>
              <a:t>Medtronic Spin-off Announcement</a:t>
            </a:r>
            <a:r>
              <a:rPr lang="en-US" sz="750" b="0" i="0" u="none" strike="noStrike" cap="none" dirty="0">
                <a:solidFill>
                  <a:srgbClr val="94A3B8"/>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4"/>
              </a:rPr>
              <a:t>Medtronic Newsroom</a:t>
            </a:r>
            <a:r>
              <a:rPr lang="en-US" sz="750" b="0" i="0" u="none" strike="noStrike" cap="none" dirty="0">
                <a:solidFill>
                  <a:srgbClr val="64748B"/>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4"/>
              </a:rPr>
              <a:t>Medtronic Press Releases</a:t>
            </a:r>
            <a:r>
              <a:rPr lang="en-US" sz="750" b="0" i="0" u="none" strike="noStrike" cap="none" dirty="0">
                <a:solidFill>
                  <a:srgbClr val="64748B"/>
                </a:solidFill>
                <a:latin typeface="Inter"/>
                <a:ea typeface="Inter"/>
                <a:cs typeface="Inter"/>
                <a:sym typeface="Inter"/>
              </a:rPr>
              <a:t>; </a:t>
            </a:r>
            <a:r>
              <a:rPr lang="en-US" sz="750" b="0" i="0" u="none" strike="noStrike" cap="none" dirty="0" err="1">
                <a:solidFill>
                  <a:srgbClr val="64748B"/>
                </a:solidFill>
                <a:latin typeface="Inter"/>
                <a:ea typeface="Inter"/>
                <a:cs typeface="Inter"/>
                <a:sym typeface="Inter"/>
                <a:hlinkClick r:id="rId5"/>
              </a:rPr>
              <a:t>FierceBiotech</a:t>
            </a:r>
            <a:endParaRPr dirty="0"/>
          </a:p>
        </p:txBody>
      </p:sp>
      <p:pic>
        <p:nvPicPr>
          <p:cNvPr id="350" name="Google Shape;350;p24" descr="image.png"/>
          <p:cNvPicPr preferRelativeResize="0"/>
          <p:nvPr/>
        </p:nvPicPr>
        <p:blipFill rotWithShape="1">
          <a:blip r:embed="rId6">
            <a:alphaModFix/>
          </a:blip>
          <a:srcRect/>
          <a:stretch/>
        </p:blipFill>
        <p:spPr>
          <a:xfrm>
            <a:off x="571500" y="1387744"/>
            <a:ext cx="171450" cy="180975"/>
          </a:xfrm>
          <a:prstGeom prst="rect">
            <a:avLst/>
          </a:prstGeom>
          <a:noFill/>
          <a:ln>
            <a:noFill/>
          </a:ln>
        </p:spPr>
      </p:pic>
      <p:pic>
        <p:nvPicPr>
          <p:cNvPr id="351" name="Google Shape;351;p24" descr="image.png"/>
          <p:cNvPicPr preferRelativeResize="0"/>
          <p:nvPr/>
        </p:nvPicPr>
        <p:blipFill rotWithShape="1">
          <a:blip r:embed="rId6">
            <a:alphaModFix/>
          </a:blip>
          <a:srcRect/>
          <a:stretch/>
        </p:blipFill>
        <p:spPr>
          <a:xfrm>
            <a:off x="571500" y="2025919"/>
            <a:ext cx="171450" cy="180975"/>
          </a:xfrm>
          <a:prstGeom prst="rect">
            <a:avLst/>
          </a:prstGeom>
          <a:noFill/>
          <a:ln>
            <a:noFill/>
          </a:ln>
        </p:spPr>
      </p:pic>
      <p:pic>
        <p:nvPicPr>
          <p:cNvPr id="352" name="Google Shape;352;p24" descr="image.png"/>
          <p:cNvPicPr preferRelativeResize="0"/>
          <p:nvPr/>
        </p:nvPicPr>
        <p:blipFill rotWithShape="1">
          <a:blip r:embed="rId6">
            <a:alphaModFix/>
          </a:blip>
          <a:srcRect/>
          <a:stretch/>
        </p:blipFill>
        <p:spPr>
          <a:xfrm>
            <a:off x="571500" y="2664094"/>
            <a:ext cx="171450" cy="180975"/>
          </a:xfrm>
          <a:prstGeom prst="rect">
            <a:avLst/>
          </a:prstGeom>
          <a:noFill/>
          <a:ln>
            <a:noFill/>
          </a:ln>
        </p:spPr>
      </p:pic>
      <p:pic>
        <p:nvPicPr>
          <p:cNvPr id="353" name="Google Shape;353;p24" descr="image.png"/>
          <p:cNvPicPr preferRelativeResize="0"/>
          <p:nvPr/>
        </p:nvPicPr>
        <p:blipFill rotWithShape="1">
          <a:blip r:embed="rId6">
            <a:alphaModFix/>
          </a:blip>
          <a:srcRect/>
          <a:stretch/>
        </p:blipFill>
        <p:spPr>
          <a:xfrm>
            <a:off x="571500" y="3302269"/>
            <a:ext cx="171450" cy="180975"/>
          </a:xfrm>
          <a:prstGeom prst="rect">
            <a:avLst/>
          </a:prstGeom>
          <a:noFill/>
          <a:ln>
            <a:noFill/>
          </a:ln>
        </p:spPr>
      </p:pic>
      <p:sp>
        <p:nvSpPr>
          <p:cNvPr id="2" name="Google Shape;119;p15">
            <a:extLst>
              <a:ext uri="{FF2B5EF4-FFF2-40B4-BE49-F238E27FC236}">
                <a16:creationId xmlns:a16="http://schemas.microsoft.com/office/drawing/2014/main" id="{1A47ED7A-4671-C8D7-670D-C700FB767FA4}"/>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E6F2FA42-5AE9-09E5-804F-618B66611A84}"/>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A39CD8BD-D33A-E0E6-0B1D-D1E2755261B1}"/>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2940B9CE-B71E-7036-C8FA-C25BC911C2D4}"/>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 name="Google Shape;340;p24" descr="image.png">
            <a:extLst>
              <a:ext uri="{FF2B5EF4-FFF2-40B4-BE49-F238E27FC236}">
                <a16:creationId xmlns:a16="http://schemas.microsoft.com/office/drawing/2014/main" id="{75874283-695A-3F87-9D3F-6E9470ED346F}"/>
              </a:ext>
            </a:extLst>
          </p:cNvPr>
          <p:cNvPicPr preferRelativeResize="0"/>
          <p:nvPr/>
        </p:nvPicPr>
        <p:blipFill rotWithShape="1">
          <a:blip r:embed="rId7">
            <a:alphaModFix/>
            <a:duotone>
              <a:prstClr val="black"/>
              <a:schemeClr val="accent6">
                <a:tint val="45000"/>
                <a:satMod val="400000"/>
              </a:schemeClr>
            </a:duotone>
          </a:blip>
          <a:srcRect/>
          <a:stretch/>
        </p:blipFill>
        <p:spPr>
          <a:xfrm>
            <a:off x="1227622" y="4613006"/>
            <a:ext cx="2095500" cy="952500"/>
          </a:xfrm>
          <a:prstGeom prst="rect">
            <a:avLst/>
          </a:prstGeom>
          <a:noFill/>
          <a:ln>
            <a:noFill/>
          </a:ln>
        </p:spPr>
      </p:pic>
      <p:pic>
        <p:nvPicPr>
          <p:cNvPr id="7" name="Google Shape;341;p24" descr="image.png">
            <a:extLst>
              <a:ext uri="{FF2B5EF4-FFF2-40B4-BE49-F238E27FC236}">
                <a16:creationId xmlns:a16="http://schemas.microsoft.com/office/drawing/2014/main" id="{BBB178C6-C55B-AE3D-75F4-3DD96E38845D}"/>
              </a:ext>
            </a:extLst>
          </p:cNvPr>
          <p:cNvPicPr preferRelativeResize="0"/>
          <p:nvPr/>
        </p:nvPicPr>
        <p:blipFill rotWithShape="1">
          <a:blip r:embed="rId8">
            <a:alphaModFix/>
            <a:duotone>
              <a:prstClr val="black"/>
              <a:schemeClr val="accent3">
                <a:tint val="45000"/>
                <a:satMod val="400000"/>
              </a:schemeClr>
            </a:duotone>
          </a:blip>
          <a:srcRect/>
          <a:stretch/>
        </p:blipFill>
        <p:spPr>
          <a:xfrm>
            <a:off x="3704122" y="4613006"/>
            <a:ext cx="2095500" cy="952500"/>
          </a:xfrm>
          <a:prstGeom prst="rect">
            <a:avLst/>
          </a:prstGeom>
          <a:noFill/>
          <a:ln>
            <a:noFill/>
          </a:ln>
        </p:spPr>
      </p:pic>
      <p:pic>
        <p:nvPicPr>
          <p:cNvPr id="8" name="Google Shape;342;p24" descr="image.png">
            <a:extLst>
              <a:ext uri="{FF2B5EF4-FFF2-40B4-BE49-F238E27FC236}">
                <a16:creationId xmlns:a16="http://schemas.microsoft.com/office/drawing/2014/main" id="{CE48AF43-D0C4-1007-36DA-7F71F33CA737}"/>
              </a:ext>
            </a:extLst>
          </p:cNvPr>
          <p:cNvPicPr preferRelativeResize="0"/>
          <p:nvPr/>
        </p:nvPicPr>
        <p:blipFill rotWithShape="1">
          <a:blip r:embed="rId9">
            <a:alphaModFix/>
            <a:duotone>
              <a:prstClr val="black"/>
              <a:schemeClr val="accent5">
                <a:tint val="45000"/>
                <a:satMod val="400000"/>
              </a:schemeClr>
            </a:duotone>
          </a:blip>
          <a:srcRect/>
          <a:stretch/>
        </p:blipFill>
        <p:spPr>
          <a:xfrm>
            <a:off x="6180622" y="4613006"/>
            <a:ext cx="2095500" cy="952500"/>
          </a:xfrm>
          <a:prstGeom prst="rect">
            <a:avLst/>
          </a:prstGeom>
          <a:noFill/>
          <a:ln>
            <a:noFill/>
          </a:ln>
        </p:spPr>
      </p:pic>
      <p:pic>
        <p:nvPicPr>
          <p:cNvPr id="9" name="Google Shape;343;p24" descr="image.png">
            <a:extLst>
              <a:ext uri="{FF2B5EF4-FFF2-40B4-BE49-F238E27FC236}">
                <a16:creationId xmlns:a16="http://schemas.microsoft.com/office/drawing/2014/main" id="{80D302E8-3C30-6FFF-4BA7-A275BBF257C0}"/>
              </a:ext>
            </a:extLst>
          </p:cNvPr>
          <p:cNvPicPr preferRelativeResize="0"/>
          <p:nvPr/>
        </p:nvPicPr>
        <p:blipFill rotWithShape="1">
          <a:blip r:embed="rId10">
            <a:alphaModFix/>
            <a:duotone>
              <a:prstClr val="black"/>
              <a:schemeClr val="accent4">
                <a:tint val="45000"/>
                <a:satMod val="400000"/>
              </a:schemeClr>
            </a:duotone>
          </a:blip>
          <a:srcRect/>
          <a:stretch/>
        </p:blipFill>
        <p:spPr>
          <a:xfrm>
            <a:off x="8657122" y="4613006"/>
            <a:ext cx="2095500" cy="952500"/>
          </a:xfrm>
          <a:prstGeom prst="rect">
            <a:avLst/>
          </a:prstGeom>
          <a:noFill/>
          <a:ln>
            <a:noFill/>
          </a:ln>
        </p:spPr>
      </p:pic>
      <p:sp>
        <p:nvSpPr>
          <p:cNvPr id="10" name="Google Shape;350;p24">
            <a:extLst>
              <a:ext uri="{FF2B5EF4-FFF2-40B4-BE49-F238E27FC236}">
                <a16:creationId xmlns:a16="http://schemas.microsoft.com/office/drawing/2014/main" id="{06CEE618-745D-1480-728C-B737E51516EC}"/>
              </a:ext>
            </a:extLst>
          </p:cNvPr>
          <p:cNvSpPr/>
          <p:nvPr/>
        </p:nvSpPr>
        <p:spPr>
          <a:xfrm>
            <a:off x="1227622" y="4579668"/>
            <a:ext cx="9525000" cy="19050"/>
          </a:xfrm>
          <a:prstGeom prst="roundRect">
            <a:avLst>
              <a:gd name="adj" fmla="val 16667"/>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351;p24">
            <a:extLst>
              <a:ext uri="{FF2B5EF4-FFF2-40B4-BE49-F238E27FC236}">
                <a16:creationId xmlns:a16="http://schemas.microsoft.com/office/drawing/2014/main" id="{A6C9546F-A448-A02C-A882-CBB6EB1FADF8}"/>
              </a:ext>
            </a:extLst>
          </p:cNvPr>
          <p:cNvSpPr/>
          <p:nvPr/>
        </p:nvSpPr>
        <p:spPr>
          <a:xfrm>
            <a:off x="2180122" y="3993881"/>
            <a:ext cx="190500" cy="190500"/>
          </a:xfrm>
          <a:prstGeom prst="roundRect">
            <a:avLst>
              <a:gd name="adj" fmla="val 16667"/>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3B82F6"/>
              </a:solidFill>
              <a:latin typeface="Calibri"/>
              <a:ea typeface="Calibri"/>
              <a:cs typeface="Calibri"/>
              <a:sym typeface="Calibri"/>
            </a:endParaRPr>
          </a:p>
        </p:txBody>
      </p:sp>
      <p:sp>
        <p:nvSpPr>
          <p:cNvPr id="12" name="Google Shape;352;p24">
            <a:extLst>
              <a:ext uri="{FF2B5EF4-FFF2-40B4-BE49-F238E27FC236}">
                <a16:creationId xmlns:a16="http://schemas.microsoft.com/office/drawing/2014/main" id="{BC008BE5-9F9D-9B70-7B25-C81B3CC8A69D}"/>
              </a:ext>
            </a:extLst>
          </p:cNvPr>
          <p:cNvSpPr txBox="1"/>
          <p:nvPr/>
        </p:nvSpPr>
        <p:spPr>
          <a:xfrm>
            <a:off x="1227622" y="4374881"/>
            <a:ext cx="20955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3B82F6"/>
                </a:solidFill>
                <a:latin typeface="Inter"/>
                <a:ea typeface="Inter"/>
                <a:cs typeface="Inter"/>
                <a:sym typeface="Inter"/>
              </a:rPr>
              <a:t>Q3 2024</a:t>
            </a:r>
            <a:endParaRPr dirty="0">
              <a:solidFill>
                <a:srgbClr val="3B82F6"/>
              </a:solidFill>
            </a:endParaRPr>
          </a:p>
        </p:txBody>
      </p:sp>
      <p:sp>
        <p:nvSpPr>
          <p:cNvPr id="13" name="Google Shape;353;p24">
            <a:extLst>
              <a:ext uri="{FF2B5EF4-FFF2-40B4-BE49-F238E27FC236}">
                <a16:creationId xmlns:a16="http://schemas.microsoft.com/office/drawing/2014/main" id="{D6933A76-0136-63E1-0875-D4C4E2225112}"/>
              </a:ext>
            </a:extLst>
          </p:cNvPr>
          <p:cNvSpPr/>
          <p:nvPr/>
        </p:nvSpPr>
        <p:spPr>
          <a:xfrm>
            <a:off x="4656622" y="3993881"/>
            <a:ext cx="190500" cy="190500"/>
          </a:xfrm>
          <a:prstGeom prst="roundRect">
            <a:avLst>
              <a:gd name="adj" fmla="val 16667"/>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3B82F6"/>
              </a:solidFill>
              <a:latin typeface="Calibri"/>
              <a:ea typeface="Calibri"/>
              <a:cs typeface="Calibri"/>
              <a:sym typeface="Calibri"/>
            </a:endParaRPr>
          </a:p>
        </p:txBody>
      </p:sp>
      <p:sp>
        <p:nvSpPr>
          <p:cNvPr id="14" name="Google Shape;354;p24">
            <a:extLst>
              <a:ext uri="{FF2B5EF4-FFF2-40B4-BE49-F238E27FC236}">
                <a16:creationId xmlns:a16="http://schemas.microsoft.com/office/drawing/2014/main" id="{B9F1492E-7479-66B7-49C1-02C985DD29AE}"/>
              </a:ext>
            </a:extLst>
          </p:cNvPr>
          <p:cNvSpPr txBox="1"/>
          <p:nvPr/>
        </p:nvSpPr>
        <p:spPr>
          <a:xfrm>
            <a:off x="3704122" y="4374881"/>
            <a:ext cx="20955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B82F6"/>
                </a:solidFill>
                <a:latin typeface="Inter"/>
                <a:ea typeface="Inter"/>
                <a:cs typeface="Inter"/>
                <a:sym typeface="Inter"/>
              </a:rPr>
              <a:t>Q1 2025</a:t>
            </a:r>
            <a:endParaRPr>
              <a:solidFill>
                <a:srgbClr val="3B82F6"/>
              </a:solidFill>
            </a:endParaRPr>
          </a:p>
        </p:txBody>
      </p:sp>
      <p:sp>
        <p:nvSpPr>
          <p:cNvPr id="15" name="Google Shape;355;p24">
            <a:extLst>
              <a:ext uri="{FF2B5EF4-FFF2-40B4-BE49-F238E27FC236}">
                <a16:creationId xmlns:a16="http://schemas.microsoft.com/office/drawing/2014/main" id="{2ECB3FE1-6EBF-91EB-4FCF-49C1612B87BA}"/>
              </a:ext>
            </a:extLst>
          </p:cNvPr>
          <p:cNvSpPr/>
          <p:nvPr/>
        </p:nvSpPr>
        <p:spPr>
          <a:xfrm>
            <a:off x="7133122" y="3993881"/>
            <a:ext cx="190500" cy="190500"/>
          </a:xfrm>
          <a:prstGeom prst="roundRect">
            <a:avLst>
              <a:gd name="adj" fmla="val 16667"/>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bg1"/>
              </a:solidFill>
              <a:latin typeface="Calibri"/>
              <a:ea typeface="Calibri"/>
              <a:cs typeface="Calibri"/>
              <a:sym typeface="Calibri"/>
            </a:endParaRPr>
          </a:p>
        </p:txBody>
      </p:sp>
      <p:sp>
        <p:nvSpPr>
          <p:cNvPr id="16" name="Google Shape;356;p24">
            <a:extLst>
              <a:ext uri="{FF2B5EF4-FFF2-40B4-BE49-F238E27FC236}">
                <a16:creationId xmlns:a16="http://schemas.microsoft.com/office/drawing/2014/main" id="{5CFB6544-E6BE-DD4C-1016-D1C0A41700AC}"/>
              </a:ext>
            </a:extLst>
          </p:cNvPr>
          <p:cNvSpPr txBox="1"/>
          <p:nvPr/>
        </p:nvSpPr>
        <p:spPr>
          <a:xfrm>
            <a:off x="6180622" y="4374881"/>
            <a:ext cx="20955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B82F6"/>
                </a:solidFill>
                <a:latin typeface="Inter"/>
                <a:ea typeface="Inter"/>
                <a:cs typeface="Inter"/>
                <a:sym typeface="Inter"/>
              </a:rPr>
              <a:t>Q2 2025</a:t>
            </a:r>
            <a:endParaRPr>
              <a:solidFill>
                <a:srgbClr val="3B82F6"/>
              </a:solidFill>
            </a:endParaRPr>
          </a:p>
        </p:txBody>
      </p:sp>
      <p:sp>
        <p:nvSpPr>
          <p:cNvPr id="17" name="Google Shape;357;p24">
            <a:extLst>
              <a:ext uri="{FF2B5EF4-FFF2-40B4-BE49-F238E27FC236}">
                <a16:creationId xmlns:a16="http://schemas.microsoft.com/office/drawing/2014/main" id="{3D573C57-FDA4-1F13-D01A-9F78591DD2E9}"/>
              </a:ext>
            </a:extLst>
          </p:cNvPr>
          <p:cNvSpPr/>
          <p:nvPr/>
        </p:nvSpPr>
        <p:spPr>
          <a:xfrm>
            <a:off x="9609622" y="3993881"/>
            <a:ext cx="190500" cy="190500"/>
          </a:xfrm>
          <a:prstGeom prst="roundRect">
            <a:avLst>
              <a:gd name="adj" fmla="val 16667"/>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3B82F6"/>
              </a:solidFill>
              <a:latin typeface="Calibri"/>
              <a:ea typeface="Calibri"/>
              <a:cs typeface="Calibri"/>
              <a:sym typeface="Calibri"/>
            </a:endParaRPr>
          </a:p>
        </p:txBody>
      </p:sp>
      <p:sp>
        <p:nvSpPr>
          <p:cNvPr id="18" name="Google Shape;358;p24">
            <a:extLst>
              <a:ext uri="{FF2B5EF4-FFF2-40B4-BE49-F238E27FC236}">
                <a16:creationId xmlns:a16="http://schemas.microsoft.com/office/drawing/2014/main" id="{50EC032B-765D-B606-68B0-8CC869E35E77}"/>
              </a:ext>
            </a:extLst>
          </p:cNvPr>
          <p:cNvSpPr txBox="1"/>
          <p:nvPr/>
        </p:nvSpPr>
        <p:spPr>
          <a:xfrm>
            <a:off x="8657122" y="4374881"/>
            <a:ext cx="20955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B82F6"/>
                </a:solidFill>
                <a:latin typeface="Inter"/>
                <a:ea typeface="Inter"/>
                <a:cs typeface="Inter"/>
                <a:sym typeface="Inter"/>
              </a:rPr>
              <a:t>Future</a:t>
            </a:r>
            <a:endParaRPr>
              <a:solidFill>
                <a:srgbClr val="3B82F6"/>
              </a:solidFill>
            </a:endParaRPr>
          </a:p>
        </p:txBody>
      </p:sp>
      <p:sp>
        <p:nvSpPr>
          <p:cNvPr id="19" name="Google Shape;359;p24">
            <a:extLst>
              <a:ext uri="{FF2B5EF4-FFF2-40B4-BE49-F238E27FC236}">
                <a16:creationId xmlns:a16="http://schemas.microsoft.com/office/drawing/2014/main" id="{3BD609C6-4F31-5FEE-B8C1-C417A8C7F3A2}"/>
              </a:ext>
            </a:extLst>
          </p:cNvPr>
          <p:cNvSpPr txBox="1"/>
          <p:nvPr/>
        </p:nvSpPr>
        <p:spPr>
          <a:xfrm>
            <a:off x="1889609" y="4765406"/>
            <a:ext cx="77152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00000"/>
                </a:solidFill>
                <a:latin typeface="Inter"/>
                <a:ea typeface="Inter"/>
                <a:cs typeface="Inter"/>
                <a:sym typeface="Inter"/>
              </a:rPr>
              <a:t>Partnership</a:t>
            </a:r>
            <a:endParaRPr/>
          </a:p>
        </p:txBody>
      </p:sp>
      <p:sp>
        <p:nvSpPr>
          <p:cNvPr id="20" name="Google Shape;360;p24">
            <a:extLst>
              <a:ext uri="{FF2B5EF4-FFF2-40B4-BE49-F238E27FC236}">
                <a16:creationId xmlns:a16="http://schemas.microsoft.com/office/drawing/2014/main" id="{59B3505E-352B-9C8C-2207-CFC931275287}"/>
              </a:ext>
            </a:extLst>
          </p:cNvPr>
          <p:cNvSpPr txBox="1"/>
          <p:nvPr/>
        </p:nvSpPr>
        <p:spPr>
          <a:xfrm>
            <a:off x="4232759" y="4765406"/>
            <a:ext cx="103822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00000"/>
                </a:solidFill>
                <a:latin typeface="Inter"/>
                <a:ea typeface="Inter"/>
                <a:cs typeface="Inter"/>
                <a:sym typeface="Inter"/>
              </a:rPr>
              <a:t>Product Launch</a:t>
            </a:r>
            <a:endParaRPr/>
          </a:p>
        </p:txBody>
      </p:sp>
      <p:sp>
        <p:nvSpPr>
          <p:cNvPr id="21" name="Google Shape;361;p24">
            <a:extLst>
              <a:ext uri="{FF2B5EF4-FFF2-40B4-BE49-F238E27FC236}">
                <a16:creationId xmlns:a16="http://schemas.microsoft.com/office/drawing/2014/main" id="{D9461134-9C88-037A-6C87-2B2F8B05EDE7}"/>
              </a:ext>
            </a:extLst>
          </p:cNvPr>
          <p:cNvSpPr txBox="1"/>
          <p:nvPr/>
        </p:nvSpPr>
        <p:spPr>
          <a:xfrm>
            <a:off x="6730139" y="4771487"/>
            <a:ext cx="996466"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000000"/>
                </a:solidFill>
                <a:latin typeface="Inter"/>
                <a:ea typeface="Inter"/>
                <a:cs typeface="Inter"/>
                <a:sym typeface="Inter"/>
              </a:rPr>
              <a:t>M&amp;A Activity </a:t>
            </a:r>
            <a:endParaRPr dirty="0"/>
          </a:p>
        </p:txBody>
      </p:sp>
      <p:sp>
        <p:nvSpPr>
          <p:cNvPr id="22" name="Google Shape;362;p24">
            <a:extLst>
              <a:ext uri="{FF2B5EF4-FFF2-40B4-BE49-F238E27FC236}">
                <a16:creationId xmlns:a16="http://schemas.microsoft.com/office/drawing/2014/main" id="{070A458B-0325-2968-03C1-A56345E06622}"/>
              </a:ext>
            </a:extLst>
          </p:cNvPr>
          <p:cNvSpPr txBox="1"/>
          <p:nvPr/>
        </p:nvSpPr>
        <p:spPr>
          <a:xfrm>
            <a:off x="9357209" y="4755881"/>
            <a:ext cx="69532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000000"/>
                </a:solidFill>
                <a:latin typeface="Inter"/>
                <a:ea typeface="Inter"/>
                <a:cs typeface="Inter"/>
                <a:sym typeface="Inter"/>
              </a:rPr>
              <a:t>Expansion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7"/>
        <p:cNvGrpSpPr/>
        <p:nvPr/>
      </p:nvGrpSpPr>
      <p:grpSpPr>
        <a:xfrm>
          <a:off x="0" y="0"/>
          <a:ext cx="0" cy="0"/>
          <a:chOff x="0" y="0"/>
          <a:chExt cx="0" cy="0"/>
        </a:xfrm>
      </p:grpSpPr>
      <p:sp>
        <p:nvSpPr>
          <p:cNvPr id="6" name="Google Shape;417;p27">
            <a:extLst>
              <a:ext uri="{FF2B5EF4-FFF2-40B4-BE49-F238E27FC236}">
                <a16:creationId xmlns:a16="http://schemas.microsoft.com/office/drawing/2014/main" id="{79D44B87-15CE-DDAF-D5AD-0C94C2B65F95}"/>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8" name="Google Shape;358;p25" descr="image.png"/>
          <p:cNvPicPr preferRelativeResize="0"/>
          <p:nvPr/>
        </p:nvPicPr>
        <p:blipFill rotWithShape="1">
          <a:blip r:embed="rId3">
            <a:alphaModFix/>
            <a:duotone>
              <a:prstClr val="black"/>
              <a:schemeClr val="accent6">
                <a:tint val="45000"/>
                <a:satMod val="400000"/>
              </a:schemeClr>
            </a:duotone>
          </a:blip>
          <a:srcRect/>
          <a:stretch/>
        </p:blipFill>
        <p:spPr>
          <a:xfrm>
            <a:off x="571500" y="1666875"/>
            <a:ext cx="5429250" cy="2309812"/>
          </a:xfrm>
          <a:prstGeom prst="rect">
            <a:avLst/>
          </a:prstGeom>
          <a:noFill/>
          <a:ln>
            <a:noFill/>
          </a:ln>
        </p:spPr>
      </p:pic>
      <p:pic>
        <p:nvPicPr>
          <p:cNvPr id="359" name="Google Shape;359;p25" descr="image.png"/>
          <p:cNvPicPr preferRelativeResize="0"/>
          <p:nvPr/>
        </p:nvPicPr>
        <p:blipFill rotWithShape="1">
          <a:blip r:embed="rId4">
            <a:alphaModFix/>
            <a:duotone>
              <a:prstClr val="black"/>
              <a:schemeClr val="accent1">
                <a:tint val="45000"/>
                <a:satMod val="400000"/>
              </a:schemeClr>
            </a:duotone>
          </a:blip>
          <a:srcRect/>
          <a:stretch/>
        </p:blipFill>
        <p:spPr>
          <a:xfrm>
            <a:off x="6191250" y="1666875"/>
            <a:ext cx="5429250" cy="2309812"/>
          </a:xfrm>
          <a:prstGeom prst="rect">
            <a:avLst/>
          </a:prstGeom>
          <a:noFill/>
          <a:ln>
            <a:noFill/>
          </a:ln>
        </p:spPr>
      </p:pic>
      <p:pic>
        <p:nvPicPr>
          <p:cNvPr id="360" name="Google Shape;360;p25" descr="image.png"/>
          <p:cNvPicPr preferRelativeResize="0"/>
          <p:nvPr/>
        </p:nvPicPr>
        <p:blipFill rotWithShape="1">
          <a:blip r:embed="rId5">
            <a:alphaModFix/>
            <a:duotone>
              <a:prstClr val="black"/>
              <a:schemeClr val="accent3">
                <a:tint val="45000"/>
                <a:satMod val="400000"/>
              </a:schemeClr>
            </a:duotone>
          </a:blip>
          <a:srcRect/>
          <a:stretch/>
        </p:blipFill>
        <p:spPr>
          <a:xfrm>
            <a:off x="571500" y="4167187"/>
            <a:ext cx="5429250" cy="2309812"/>
          </a:xfrm>
          <a:prstGeom prst="rect">
            <a:avLst/>
          </a:prstGeom>
          <a:noFill/>
          <a:ln>
            <a:noFill/>
          </a:ln>
        </p:spPr>
      </p:pic>
      <p:pic>
        <p:nvPicPr>
          <p:cNvPr id="361" name="Google Shape;361;p25" descr="image.png"/>
          <p:cNvPicPr preferRelativeResize="0"/>
          <p:nvPr/>
        </p:nvPicPr>
        <p:blipFill rotWithShape="1">
          <a:blip r:embed="rId6">
            <a:alphaModFix/>
            <a:duotone>
              <a:prstClr val="black"/>
              <a:schemeClr val="accent4">
                <a:tint val="45000"/>
                <a:satMod val="400000"/>
              </a:schemeClr>
            </a:duotone>
          </a:blip>
          <a:srcRect/>
          <a:stretch/>
        </p:blipFill>
        <p:spPr>
          <a:xfrm>
            <a:off x="6191250" y="4167187"/>
            <a:ext cx="5429250" cy="2309812"/>
          </a:xfrm>
          <a:prstGeom prst="rect">
            <a:avLst/>
          </a:prstGeom>
          <a:noFill/>
          <a:ln>
            <a:noFill/>
          </a:ln>
        </p:spPr>
      </p:pic>
      <p:sp>
        <p:nvSpPr>
          <p:cNvPr id="362" name="Google Shape;362;p25"/>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4: DETAILED COMPANY PROFILE </a:t>
            </a:r>
            <a:r>
              <a:rPr lang="en-US" dirty="0">
                <a:solidFill>
                  <a:srgbClr val="3B82F6"/>
                </a:solidFill>
                <a:latin typeface="Inter"/>
                <a:ea typeface="Inter"/>
                <a:cs typeface="Inter"/>
                <a:sym typeface="Inter"/>
              </a:rPr>
              <a:t>(5/5)</a:t>
            </a:r>
            <a:endParaRPr dirty="0"/>
          </a:p>
        </p:txBody>
      </p:sp>
      <p:sp>
        <p:nvSpPr>
          <p:cNvPr id="363" name="Google Shape;363;p25"/>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SWOT Analysis: Medtronic</a:t>
            </a:r>
            <a:endParaRPr/>
          </a:p>
        </p:txBody>
      </p:sp>
      <p:sp>
        <p:nvSpPr>
          <p:cNvPr id="364" name="Google Shape;364;p25"/>
          <p:cNvSpPr txBox="1"/>
          <p:nvPr/>
        </p:nvSpPr>
        <p:spPr>
          <a:xfrm>
            <a:off x="857250" y="1905000"/>
            <a:ext cx="51506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5803D"/>
                </a:solidFill>
                <a:latin typeface="Inter"/>
                <a:ea typeface="Inter"/>
                <a:cs typeface="Inter"/>
                <a:sym typeface="Inter"/>
              </a:rPr>
              <a:t>Strengths</a:t>
            </a:r>
            <a:endParaRPr/>
          </a:p>
        </p:txBody>
      </p:sp>
      <p:sp>
        <p:nvSpPr>
          <p:cNvPr id="365" name="Google Shape;365;p25"/>
          <p:cNvSpPr txBox="1"/>
          <p:nvPr/>
        </p:nvSpPr>
        <p:spPr>
          <a:xfrm>
            <a:off x="6477000" y="1905000"/>
            <a:ext cx="51506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B91C1C"/>
                </a:solidFill>
                <a:latin typeface="Inter"/>
                <a:ea typeface="Inter"/>
                <a:cs typeface="Inter"/>
                <a:sym typeface="Inter"/>
              </a:rPr>
              <a:t>Weaknesses</a:t>
            </a:r>
            <a:endParaRPr/>
          </a:p>
        </p:txBody>
      </p:sp>
      <p:sp>
        <p:nvSpPr>
          <p:cNvPr id="366" name="Google Shape;366;p25"/>
          <p:cNvSpPr txBox="1"/>
          <p:nvPr/>
        </p:nvSpPr>
        <p:spPr>
          <a:xfrm>
            <a:off x="857250" y="4405312"/>
            <a:ext cx="51506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D4ED8"/>
                </a:solidFill>
                <a:latin typeface="Inter"/>
                <a:ea typeface="Inter"/>
                <a:cs typeface="Inter"/>
                <a:sym typeface="Inter"/>
              </a:rPr>
              <a:t>Opportunities</a:t>
            </a:r>
            <a:endParaRPr/>
          </a:p>
        </p:txBody>
      </p:sp>
      <p:sp>
        <p:nvSpPr>
          <p:cNvPr id="367" name="Google Shape;367;p25"/>
          <p:cNvSpPr txBox="1"/>
          <p:nvPr/>
        </p:nvSpPr>
        <p:spPr>
          <a:xfrm>
            <a:off x="6477000" y="4405312"/>
            <a:ext cx="51506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B45309"/>
                </a:solidFill>
                <a:latin typeface="Inter"/>
                <a:ea typeface="Inter"/>
                <a:cs typeface="Inter"/>
                <a:sym typeface="Inter"/>
              </a:rPr>
              <a:t>Threats</a:t>
            </a:r>
            <a:endParaRPr/>
          </a:p>
        </p:txBody>
      </p:sp>
      <p:sp>
        <p:nvSpPr>
          <p:cNvPr id="368" name="Google Shape;368;p25"/>
          <p:cNvSpPr txBox="1"/>
          <p:nvPr/>
        </p:nvSpPr>
        <p:spPr>
          <a:xfrm>
            <a:off x="971550" y="2214562"/>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69" name="Google Shape;369;p25"/>
          <p:cNvSpPr txBox="1"/>
          <p:nvPr/>
        </p:nvSpPr>
        <p:spPr>
          <a:xfrm>
            <a:off x="1047750" y="2228850"/>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Market Leader in Cardiac Rhythm Management (CRM)</a:t>
            </a:r>
            <a:endParaRPr dirty="0"/>
          </a:p>
        </p:txBody>
      </p:sp>
      <p:sp>
        <p:nvSpPr>
          <p:cNvPr id="370" name="Google Shape;370;p25"/>
          <p:cNvSpPr txBox="1"/>
          <p:nvPr/>
        </p:nvSpPr>
        <p:spPr>
          <a:xfrm>
            <a:off x="971550" y="2376487"/>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71" name="Google Shape;371;p25"/>
          <p:cNvSpPr txBox="1"/>
          <p:nvPr/>
        </p:nvSpPr>
        <p:spPr>
          <a:xfrm>
            <a:off x="1047750" y="2390775"/>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Massive R&amp;D budget ($2.7B) driving innovation</a:t>
            </a:r>
            <a:endParaRPr dirty="0"/>
          </a:p>
        </p:txBody>
      </p:sp>
      <p:sp>
        <p:nvSpPr>
          <p:cNvPr id="372" name="Google Shape;372;p25"/>
          <p:cNvSpPr txBox="1"/>
          <p:nvPr/>
        </p:nvSpPr>
        <p:spPr>
          <a:xfrm>
            <a:off x="971550" y="2538412"/>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a:t>
            </a:r>
            <a:endParaRPr dirty="0"/>
          </a:p>
        </p:txBody>
      </p:sp>
      <p:sp>
        <p:nvSpPr>
          <p:cNvPr id="373" name="Google Shape;373;p25"/>
          <p:cNvSpPr txBox="1"/>
          <p:nvPr/>
        </p:nvSpPr>
        <p:spPr>
          <a:xfrm>
            <a:off x="1047750" y="2552700"/>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Diversified portfolio reduces reliance on single product</a:t>
            </a:r>
            <a:endParaRPr dirty="0"/>
          </a:p>
        </p:txBody>
      </p:sp>
      <p:sp>
        <p:nvSpPr>
          <p:cNvPr id="374" name="Google Shape;374;p25"/>
          <p:cNvSpPr txBox="1"/>
          <p:nvPr/>
        </p:nvSpPr>
        <p:spPr>
          <a:xfrm>
            <a:off x="6591300" y="2214562"/>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75" name="Google Shape;375;p25"/>
          <p:cNvSpPr txBox="1"/>
          <p:nvPr/>
        </p:nvSpPr>
        <p:spPr>
          <a:xfrm>
            <a:off x="6667500" y="2228850"/>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Recent product recalls (e.g., respiratory devices)</a:t>
            </a:r>
            <a:endParaRPr dirty="0"/>
          </a:p>
        </p:txBody>
      </p:sp>
      <p:sp>
        <p:nvSpPr>
          <p:cNvPr id="376" name="Google Shape;376;p25"/>
          <p:cNvSpPr txBox="1"/>
          <p:nvPr/>
        </p:nvSpPr>
        <p:spPr>
          <a:xfrm>
            <a:off x="6591300" y="2376487"/>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77" name="Google Shape;377;p25"/>
          <p:cNvSpPr txBox="1"/>
          <p:nvPr/>
        </p:nvSpPr>
        <p:spPr>
          <a:xfrm>
            <a:off x="6667500" y="2390775"/>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Slower growth in Diabetes vs competitors (Dexcom)</a:t>
            </a:r>
            <a:endParaRPr dirty="0"/>
          </a:p>
        </p:txBody>
      </p:sp>
      <p:sp>
        <p:nvSpPr>
          <p:cNvPr id="378" name="Google Shape;378;p25"/>
          <p:cNvSpPr txBox="1"/>
          <p:nvPr/>
        </p:nvSpPr>
        <p:spPr>
          <a:xfrm>
            <a:off x="6591300" y="2538412"/>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79" name="Google Shape;379;p25"/>
          <p:cNvSpPr txBox="1"/>
          <p:nvPr/>
        </p:nvSpPr>
        <p:spPr>
          <a:xfrm>
            <a:off x="6667500" y="2552700"/>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Complex organizational structure</a:t>
            </a:r>
            <a:endParaRPr dirty="0"/>
          </a:p>
        </p:txBody>
      </p:sp>
      <p:sp>
        <p:nvSpPr>
          <p:cNvPr id="380" name="Google Shape;380;p25"/>
          <p:cNvSpPr txBox="1"/>
          <p:nvPr/>
        </p:nvSpPr>
        <p:spPr>
          <a:xfrm>
            <a:off x="971550" y="4714875"/>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81" name="Google Shape;381;p25"/>
          <p:cNvSpPr txBox="1"/>
          <p:nvPr/>
        </p:nvSpPr>
        <p:spPr>
          <a:xfrm>
            <a:off x="1047750" y="4729162"/>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Expansion in emerging markets (APAC)</a:t>
            </a:r>
            <a:endParaRPr dirty="0"/>
          </a:p>
        </p:txBody>
      </p:sp>
      <p:sp>
        <p:nvSpPr>
          <p:cNvPr id="382" name="Google Shape;382;p25"/>
          <p:cNvSpPr txBox="1"/>
          <p:nvPr/>
        </p:nvSpPr>
        <p:spPr>
          <a:xfrm>
            <a:off x="971550" y="4876800"/>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83" name="Google Shape;383;p25"/>
          <p:cNvSpPr txBox="1"/>
          <p:nvPr/>
        </p:nvSpPr>
        <p:spPr>
          <a:xfrm>
            <a:off x="1047750" y="4891087"/>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a:t>
            </a:r>
            <a:r>
              <a:rPr lang="en-US" sz="1050" b="0" i="0" u="none" strike="noStrike" cap="none" dirty="0" err="1">
                <a:solidFill>
                  <a:srgbClr val="000000"/>
                </a:solidFill>
                <a:latin typeface="Inter"/>
                <a:ea typeface="Inter"/>
                <a:cs typeface="Inter"/>
                <a:sym typeface="Inter"/>
              </a:rPr>
              <a:t>NewCo</a:t>
            </a:r>
            <a:r>
              <a:rPr lang="en-US" sz="1050" b="0" i="0" u="none" strike="noStrike" cap="none" dirty="0">
                <a:solidFill>
                  <a:srgbClr val="000000"/>
                </a:solidFill>
                <a:latin typeface="Inter"/>
                <a:ea typeface="Inter"/>
                <a:cs typeface="Inter"/>
                <a:sym typeface="Inter"/>
              </a:rPr>
              <a:t>" spin-off allows sharper focus on RPM</a:t>
            </a:r>
            <a:endParaRPr dirty="0"/>
          </a:p>
        </p:txBody>
      </p:sp>
      <p:sp>
        <p:nvSpPr>
          <p:cNvPr id="384" name="Google Shape;384;p25"/>
          <p:cNvSpPr txBox="1"/>
          <p:nvPr/>
        </p:nvSpPr>
        <p:spPr>
          <a:xfrm>
            <a:off x="971550" y="5038725"/>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85" name="Google Shape;385;p25"/>
          <p:cNvSpPr txBox="1"/>
          <p:nvPr/>
        </p:nvSpPr>
        <p:spPr>
          <a:xfrm>
            <a:off x="1047750" y="5053012"/>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AI-driven predictive diagnostics</a:t>
            </a:r>
            <a:endParaRPr dirty="0"/>
          </a:p>
        </p:txBody>
      </p:sp>
      <p:sp>
        <p:nvSpPr>
          <p:cNvPr id="386" name="Google Shape;386;p25"/>
          <p:cNvSpPr txBox="1"/>
          <p:nvPr/>
        </p:nvSpPr>
        <p:spPr>
          <a:xfrm>
            <a:off x="6591300" y="4714875"/>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87" name="Google Shape;387;p25"/>
          <p:cNvSpPr txBox="1"/>
          <p:nvPr/>
        </p:nvSpPr>
        <p:spPr>
          <a:xfrm>
            <a:off x="6667500" y="4729162"/>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Intense competition (Abbott, nimble startups)</a:t>
            </a:r>
            <a:endParaRPr dirty="0"/>
          </a:p>
        </p:txBody>
      </p:sp>
      <p:sp>
        <p:nvSpPr>
          <p:cNvPr id="388" name="Google Shape;388;p25"/>
          <p:cNvSpPr txBox="1"/>
          <p:nvPr/>
        </p:nvSpPr>
        <p:spPr>
          <a:xfrm>
            <a:off x="6591300" y="4876800"/>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89" name="Google Shape;389;p25"/>
          <p:cNvSpPr txBox="1"/>
          <p:nvPr/>
        </p:nvSpPr>
        <p:spPr>
          <a:xfrm>
            <a:off x="6667500" y="4891087"/>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Pricing pressure from hospital procurement groups</a:t>
            </a:r>
            <a:endParaRPr dirty="0"/>
          </a:p>
        </p:txBody>
      </p:sp>
      <p:sp>
        <p:nvSpPr>
          <p:cNvPr id="390" name="Google Shape;390;p25"/>
          <p:cNvSpPr txBox="1"/>
          <p:nvPr/>
        </p:nvSpPr>
        <p:spPr>
          <a:xfrm>
            <a:off x="6591300" y="5038725"/>
            <a:ext cx="762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000000"/>
                </a:solidFill>
                <a:latin typeface="Inter"/>
                <a:ea typeface="Inter"/>
                <a:cs typeface="Inter"/>
                <a:sym typeface="Inter"/>
              </a:rPr>
              <a:t>•</a:t>
            </a:r>
            <a:endParaRPr/>
          </a:p>
        </p:txBody>
      </p:sp>
      <p:sp>
        <p:nvSpPr>
          <p:cNvPr id="391" name="Google Shape;391;p25"/>
          <p:cNvSpPr txBox="1"/>
          <p:nvPr/>
        </p:nvSpPr>
        <p:spPr>
          <a:xfrm>
            <a:off x="6667500" y="5053012"/>
            <a:ext cx="4714875" cy="161925"/>
          </a:xfrm>
          <a:prstGeom prst="rect">
            <a:avLst/>
          </a:prstGeom>
          <a:noFill/>
          <a:ln>
            <a:noFill/>
          </a:ln>
        </p:spPr>
        <p:txBody>
          <a:bodyPr spcFirstLastPara="1" wrap="square" lIns="76200" tIns="0" rIns="0" bIns="0" anchor="t" anchorCtr="0">
            <a:spAutoFit/>
          </a:bodyPr>
          <a:lstStyle/>
          <a:p>
            <a:pPr marL="0" marR="0" lvl="0" indent="0" algn="l" rtl="0">
              <a:spcBef>
                <a:spcPts val="0"/>
              </a:spcBef>
              <a:spcAft>
                <a:spcPts val="0"/>
              </a:spcAft>
              <a:buNone/>
            </a:pPr>
            <a:r>
              <a:rPr lang="en-US" sz="1050" b="0" i="0" u="none" strike="noStrike" cap="none" dirty="0">
                <a:solidFill>
                  <a:srgbClr val="000000"/>
                </a:solidFill>
                <a:latin typeface="Inter"/>
                <a:ea typeface="Inter"/>
                <a:cs typeface="Inter"/>
                <a:sym typeface="Inter"/>
              </a:rPr>
              <a:t>Regulatory hurdles (FDA/MDR) delaying launches</a:t>
            </a:r>
            <a:endParaRPr dirty="0"/>
          </a:p>
        </p:txBody>
      </p:sp>
      <p:sp>
        <p:nvSpPr>
          <p:cNvPr id="392" name="Google Shape;392;p25"/>
          <p:cNvSpPr txBox="1"/>
          <p:nvPr/>
        </p:nvSpPr>
        <p:spPr>
          <a:xfrm>
            <a:off x="571500" y="6553200"/>
            <a:ext cx="6019800" cy="1154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7"/>
              </a:rPr>
              <a:t>Investing.com SWOT Analysis</a:t>
            </a:r>
            <a:r>
              <a:rPr lang="en-US" sz="750" b="0" i="0" u="none" strike="noStrike" cap="none" dirty="0">
                <a:solidFill>
                  <a:srgbClr val="64748B"/>
                </a:solidFill>
                <a:latin typeface="Inter"/>
                <a:ea typeface="Inter"/>
                <a:cs typeface="Inter"/>
                <a:sym typeface="Inter"/>
              </a:rPr>
              <a:t>; </a:t>
            </a:r>
            <a:r>
              <a:rPr lang="en-US" sz="750" b="0" i="0" u="none" strike="noStrike" cap="none" dirty="0">
                <a:solidFill>
                  <a:srgbClr val="64748B"/>
                </a:solidFill>
                <a:latin typeface="Inter"/>
                <a:ea typeface="Inter"/>
                <a:cs typeface="Inter"/>
                <a:sym typeface="Inter"/>
                <a:hlinkClick r:id="rId8"/>
              </a:rPr>
              <a:t>SWOT </a:t>
            </a:r>
            <a:r>
              <a:rPr lang="en-US" sz="750" dirty="0">
                <a:solidFill>
                  <a:srgbClr val="64748B"/>
                </a:solidFill>
                <a:latin typeface="Inter"/>
                <a:ea typeface="Inter"/>
                <a:cs typeface="Inter"/>
                <a:sym typeface="Inter"/>
                <a:hlinkClick r:id="rId8"/>
              </a:rPr>
              <a:t>&amp; </a:t>
            </a:r>
            <a:r>
              <a:rPr lang="en-US" sz="750" b="0" i="0" u="none" strike="noStrike" cap="none" dirty="0">
                <a:solidFill>
                  <a:srgbClr val="64748B"/>
                </a:solidFill>
                <a:latin typeface="Inter"/>
                <a:ea typeface="Inter"/>
                <a:cs typeface="Inter"/>
                <a:sym typeface="Inter"/>
                <a:hlinkClick r:id="rId8"/>
              </a:rPr>
              <a:t>pestle analysis</a:t>
            </a:r>
            <a:r>
              <a:rPr lang="en-US" sz="750" b="0" i="0" u="none" strike="noStrike" cap="none" dirty="0">
                <a:solidFill>
                  <a:srgbClr val="64748B"/>
                </a:solidFill>
                <a:latin typeface="Inter"/>
                <a:ea typeface="Inter"/>
                <a:cs typeface="Inter"/>
                <a:sym typeface="Inter"/>
              </a:rPr>
              <a:t>; </a:t>
            </a:r>
            <a:r>
              <a:rPr lang="en-US" sz="750" b="0" i="0" u="none" strike="noStrike" cap="none" dirty="0" err="1">
                <a:solidFill>
                  <a:srgbClr val="64748B"/>
                </a:solidFill>
                <a:latin typeface="Inter"/>
                <a:ea typeface="Inter"/>
                <a:cs typeface="Inter"/>
                <a:sym typeface="Inter"/>
                <a:hlinkClick r:id="rId9"/>
              </a:rPr>
              <a:t>PitchGrade</a:t>
            </a:r>
            <a:r>
              <a:rPr lang="en-US" sz="750" b="0" i="0" u="none" strike="noStrike" cap="none" dirty="0">
                <a:solidFill>
                  <a:srgbClr val="64748B"/>
                </a:solidFill>
                <a:latin typeface="Inter"/>
                <a:ea typeface="Inter"/>
                <a:cs typeface="Inter"/>
                <a:sym typeface="Inter"/>
                <a:hlinkClick r:id="rId9"/>
              </a:rPr>
              <a:t> </a:t>
            </a:r>
            <a:r>
              <a:rPr lang="en-US" sz="750" b="0" i="0" u="none" strike="noStrike" cap="none" dirty="0" err="1">
                <a:solidFill>
                  <a:srgbClr val="64748B"/>
                </a:solidFill>
                <a:latin typeface="Inter"/>
                <a:ea typeface="Inter"/>
                <a:cs typeface="Inter"/>
                <a:sym typeface="Inter"/>
                <a:hlinkClick r:id="rId9"/>
              </a:rPr>
              <a:t>Medtronics</a:t>
            </a:r>
            <a:r>
              <a:rPr lang="en-US" sz="750" b="0" i="0" u="none" strike="noStrike" cap="none" dirty="0">
                <a:solidFill>
                  <a:srgbClr val="64748B"/>
                </a:solidFill>
                <a:latin typeface="Inter"/>
                <a:ea typeface="Inter"/>
                <a:cs typeface="Inter"/>
                <a:sym typeface="Inter"/>
                <a:hlinkClick r:id="rId9"/>
              </a:rPr>
              <a:t> Analysis </a:t>
            </a:r>
            <a:endParaRPr dirty="0"/>
          </a:p>
        </p:txBody>
      </p:sp>
      <p:sp>
        <p:nvSpPr>
          <p:cNvPr id="2" name="Google Shape;119;p15">
            <a:extLst>
              <a:ext uri="{FF2B5EF4-FFF2-40B4-BE49-F238E27FC236}">
                <a16:creationId xmlns:a16="http://schemas.microsoft.com/office/drawing/2014/main" id="{0D0F1123-8B07-DA60-AB2C-9B27A03AE641}"/>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57AE6173-67F0-79CE-D13F-D8F1BB48AC29}"/>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F8794F36-712A-05E0-C79D-597F37A8319C}"/>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7867ED6A-CAE0-91BA-F38E-26C8AEB42A6B}"/>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6"/>
        <p:cNvGrpSpPr/>
        <p:nvPr/>
      </p:nvGrpSpPr>
      <p:grpSpPr>
        <a:xfrm>
          <a:off x="0" y="0"/>
          <a:ext cx="0" cy="0"/>
          <a:chOff x="0" y="0"/>
          <a:chExt cx="0" cy="0"/>
        </a:xfrm>
      </p:grpSpPr>
      <p:sp>
        <p:nvSpPr>
          <p:cNvPr id="7" name="Google Shape;281;p21">
            <a:extLst>
              <a:ext uri="{FF2B5EF4-FFF2-40B4-BE49-F238E27FC236}">
                <a16:creationId xmlns:a16="http://schemas.microsoft.com/office/drawing/2014/main" id="{39CE416E-40F1-6798-2D46-4414D5F9260C}"/>
              </a:ext>
            </a:extLst>
          </p:cNvPr>
          <p:cNvSpPr/>
          <p:nvPr/>
        </p:nvSpPr>
        <p:spPr>
          <a:xfrm>
            <a:off x="9334500" y="-1029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397" name="Google Shape;397;p26" descr="image.png"/>
          <p:cNvPicPr preferRelativeResize="0"/>
          <p:nvPr/>
        </p:nvPicPr>
        <p:blipFill rotWithShape="1">
          <a:blip r:embed="rId3">
            <a:alphaModFix/>
            <a:duotone>
              <a:prstClr val="black"/>
              <a:schemeClr val="accent4">
                <a:tint val="45000"/>
                <a:satMod val="400000"/>
              </a:schemeClr>
            </a:duotone>
          </a:blip>
          <a:srcRect/>
          <a:stretch/>
        </p:blipFill>
        <p:spPr>
          <a:xfrm>
            <a:off x="571500" y="1666875"/>
            <a:ext cx="5334000" cy="1123950"/>
          </a:xfrm>
          <a:prstGeom prst="rect">
            <a:avLst/>
          </a:prstGeom>
          <a:noFill/>
          <a:ln>
            <a:noFill/>
          </a:ln>
        </p:spPr>
      </p:pic>
      <p:pic>
        <p:nvPicPr>
          <p:cNvPr id="398" name="Google Shape;398;p26" descr="image.png"/>
          <p:cNvPicPr preferRelativeResize="0"/>
          <p:nvPr/>
        </p:nvPicPr>
        <p:blipFill rotWithShape="1">
          <a:blip r:embed="rId4">
            <a:alphaModFix/>
            <a:duotone>
              <a:prstClr val="black"/>
              <a:schemeClr val="accent6">
                <a:tint val="45000"/>
                <a:satMod val="400000"/>
              </a:schemeClr>
            </a:duotone>
          </a:blip>
          <a:srcRect/>
          <a:stretch/>
        </p:blipFill>
        <p:spPr>
          <a:xfrm>
            <a:off x="571500" y="2981325"/>
            <a:ext cx="5334000" cy="1123950"/>
          </a:xfrm>
          <a:prstGeom prst="rect">
            <a:avLst/>
          </a:prstGeom>
          <a:noFill/>
          <a:ln>
            <a:noFill/>
          </a:ln>
        </p:spPr>
      </p:pic>
      <p:pic>
        <p:nvPicPr>
          <p:cNvPr id="399" name="Google Shape;399;p26" descr="image.png"/>
          <p:cNvPicPr preferRelativeResize="0"/>
          <p:nvPr/>
        </p:nvPicPr>
        <p:blipFill rotWithShape="1">
          <a:blip r:embed="rId5">
            <a:alphaModFix/>
            <a:duotone>
              <a:prstClr val="black"/>
              <a:schemeClr val="accent5">
                <a:tint val="45000"/>
                <a:satMod val="400000"/>
              </a:schemeClr>
            </a:duotone>
          </a:blip>
          <a:srcRect/>
          <a:stretch/>
        </p:blipFill>
        <p:spPr>
          <a:xfrm>
            <a:off x="6286500" y="1666875"/>
            <a:ext cx="5334000" cy="1123950"/>
          </a:xfrm>
          <a:prstGeom prst="rect">
            <a:avLst/>
          </a:prstGeom>
          <a:noFill/>
          <a:ln>
            <a:noFill/>
          </a:ln>
        </p:spPr>
      </p:pic>
      <p:pic>
        <p:nvPicPr>
          <p:cNvPr id="400" name="Google Shape;400;p26" descr="image.png"/>
          <p:cNvPicPr preferRelativeResize="0"/>
          <p:nvPr/>
        </p:nvPicPr>
        <p:blipFill rotWithShape="1">
          <a:blip r:embed="rId6">
            <a:alphaModFix/>
            <a:duotone>
              <a:prstClr val="black"/>
              <a:schemeClr val="accent3">
                <a:tint val="45000"/>
                <a:satMod val="400000"/>
              </a:schemeClr>
            </a:duotone>
          </a:blip>
          <a:srcRect/>
          <a:stretch/>
        </p:blipFill>
        <p:spPr>
          <a:xfrm>
            <a:off x="6286500" y="2981325"/>
            <a:ext cx="5334000" cy="1123950"/>
          </a:xfrm>
          <a:prstGeom prst="rect">
            <a:avLst/>
          </a:prstGeom>
          <a:noFill/>
          <a:ln>
            <a:noFill/>
          </a:ln>
        </p:spPr>
      </p:pic>
      <p:sp>
        <p:nvSpPr>
          <p:cNvPr id="401" name="Google Shape;401;p26"/>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5: MARKET DYNAMICS </a:t>
            </a:r>
            <a:r>
              <a:rPr lang="en-US" dirty="0">
                <a:solidFill>
                  <a:srgbClr val="3B82F6"/>
                </a:solidFill>
                <a:latin typeface="Inter"/>
                <a:ea typeface="Inter"/>
                <a:cs typeface="Inter"/>
                <a:sym typeface="Inter"/>
              </a:rPr>
              <a:t>(1/3)</a:t>
            </a:r>
            <a:endParaRPr dirty="0"/>
          </a:p>
        </p:txBody>
      </p:sp>
      <p:sp>
        <p:nvSpPr>
          <p:cNvPr id="402" name="Google Shape;402;p26"/>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Market Dynamics (DROC)</a:t>
            </a:r>
            <a:endParaRPr/>
          </a:p>
        </p:txBody>
      </p:sp>
      <p:sp>
        <p:nvSpPr>
          <p:cNvPr id="403" name="Google Shape;403;p26"/>
          <p:cNvSpPr txBox="1"/>
          <p:nvPr/>
        </p:nvSpPr>
        <p:spPr>
          <a:xfrm>
            <a:off x="857250" y="1905000"/>
            <a:ext cx="505063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5803D"/>
                </a:solidFill>
                <a:latin typeface="Inter"/>
                <a:ea typeface="Inter"/>
                <a:cs typeface="Inter"/>
                <a:sym typeface="Inter"/>
              </a:rPr>
              <a:t>Drivers</a:t>
            </a:r>
            <a:endParaRPr/>
          </a:p>
        </p:txBody>
      </p:sp>
      <p:sp>
        <p:nvSpPr>
          <p:cNvPr id="404" name="Google Shape;404;p26"/>
          <p:cNvSpPr txBox="1"/>
          <p:nvPr/>
        </p:nvSpPr>
        <p:spPr>
          <a:xfrm>
            <a:off x="857250" y="2228850"/>
            <a:ext cx="4810125" cy="484748"/>
          </a:xfrm>
          <a:prstGeom prst="rect">
            <a:avLst/>
          </a:prstGeom>
          <a:noFill/>
          <a:ln>
            <a:noFill/>
          </a:ln>
        </p:spPr>
        <p:txBody>
          <a:bodyPr spcFirstLastPara="1" wrap="square" lIns="0" tIns="0" rIns="0" bIns="0" anchor="t" anchorCtr="0">
            <a:spAutoFit/>
          </a:bodyPr>
          <a:lstStyle/>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Rising geriatric population (1 in 6 people worldwide by 2030)</a:t>
            </a:r>
          </a:p>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Need to reduce </a:t>
            </a:r>
            <a:r>
              <a:rPr lang="en-US" sz="1050" dirty="0">
                <a:latin typeface="Inter"/>
                <a:ea typeface="Inter"/>
                <a:sym typeface="Inter"/>
              </a:rPr>
              <a:t>hospital</a:t>
            </a:r>
            <a:r>
              <a:rPr lang="en-US" sz="1050" b="0" i="0" u="none" strike="noStrike" cap="none" dirty="0">
                <a:solidFill>
                  <a:srgbClr val="000000"/>
                </a:solidFill>
                <a:latin typeface="Inter"/>
                <a:ea typeface="Inter"/>
                <a:cs typeface="Inter"/>
                <a:sym typeface="Inter"/>
              </a:rPr>
              <a:t> readmission penalties</a:t>
            </a:r>
            <a:endParaRPr dirty="0"/>
          </a:p>
        </p:txBody>
      </p:sp>
      <p:sp>
        <p:nvSpPr>
          <p:cNvPr id="405" name="Google Shape;405;p26"/>
          <p:cNvSpPr txBox="1"/>
          <p:nvPr/>
        </p:nvSpPr>
        <p:spPr>
          <a:xfrm>
            <a:off x="857250" y="3219450"/>
            <a:ext cx="505063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B91C1C"/>
                </a:solidFill>
                <a:latin typeface="Inter"/>
                <a:ea typeface="Inter"/>
                <a:cs typeface="Inter"/>
                <a:sym typeface="Inter"/>
              </a:rPr>
              <a:t>Restraints</a:t>
            </a:r>
            <a:endParaRPr/>
          </a:p>
        </p:txBody>
      </p:sp>
      <p:sp>
        <p:nvSpPr>
          <p:cNvPr id="406" name="Google Shape;406;p26"/>
          <p:cNvSpPr txBox="1"/>
          <p:nvPr/>
        </p:nvSpPr>
        <p:spPr>
          <a:xfrm>
            <a:off x="857250" y="3543300"/>
            <a:ext cx="4810125" cy="484748"/>
          </a:xfrm>
          <a:prstGeom prst="rect">
            <a:avLst/>
          </a:prstGeom>
          <a:noFill/>
          <a:ln>
            <a:noFill/>
          </a:ln>
        </p:spPr>
        <p:txBody>
          <a:bodyPr spcFirstLastPara="1" wrap="square" lIns="0" tIns="0" rIns="0" bIns="0" anchor="t" anchorCtr="0">
            <a:spAutoFit/>
          </a:bodyPr>
          <a:lstStyle/>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High initial cost of </a:t>
            </a:r>
            <a:r>
              <a:rPr lang="en-US" sz="1050" dirty="0">
                <a:latin typeface="Inter"/>
                <a:ea typeface="Inter"/>
                <a:sym typeface="Inter"/>
              </a:rPr>
              <a:t>implementation</a:t>
            </a:r>
            <a:r>
              <a:rPr lang="en-US" sz="1050" b="0" i="0" u="none" strike="noStrike" cap="none" dirty="0">
                <a:solidFill>
                  <a:srgbClr val="000000"/>
                </a:solidFill>
                <a:latin typeface="Inter"/>
                <a:ea typeface="Inter"/>
                <a:cs typeface="Inter"/>
                <a:sym typeface="Inter"/>
              </a:rPr>
              <a:t> for health systems</a:t>
            </a:r>
            <a:endParaRPr lang="en-US" sz="1050" dirty="0">
              <a:latin typeface="Inter"/>
              <a:ea typeface="Inter"/>
              <a:cs typeface="Inter"/>
              <a:sym typeface="Inter"/>
            </a:endParaRPr>
          </a:p>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Lack of standardized interoperability between devices</a:t>
            </a:r>
            <a:endParaRPr dirty="0"/>
          </a:p>
        </p:txBody>
      </p:sp>
      <p:sp>
        <p:nvSpPr>
          <p:cNvPr id="407" name="Google Shape;407;p26"/>
          <p:cNvSpPr txBox="1"/>
          <p:nvPr/>
        </p:nvSpPr>
        <p:spPr>
          <a:xfrm>
            <a:off x="6572250" y="1905000"/>
            <a:ext cx="505063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1D4ED8"/>
                </a:solidFill>
                <a:latin typeface="Inter"/>
                <a:ea typeface="Inter"/>
                <a:cs typeface="Inter"/>
                <a:sym typeface="Inter"/>
              </a:rPr>
              <a:t>Opportunities</a:t>
            </a:r>
            <a:endParaRPr dirty="0"/>
          </a:p>
        </p:txBody>
      </p:sp>
      <p:sp>
        <p:nvSpPr>
          <p:cNvPr id="408" name="Google Shape;408;p26"/>
          <p:cNvSpPr txBox="1"/>
          <p:nvPr/>
        </p:nvSpPr>
        <p:spPr>
          <a:xfrm>
            <a:off x="6572250" y="2228850"/>
            <a:ext cx="4810125" cy="484748"/>
          </a:xfrm>
          <a:prstGeom prst="rect">
            <a:avLst/>
          </a:prstGeom>
          <a:noFill/>
          <a:ln>
            <a:noFill/>
          </a:ln>
        </p:spPr>
        <p:txBody>
          <a:bodyPr spcFirstLastPara="1" wrap="square" lIns="0" tIns="0" rIns="0" bIns="0" anchor="t" anchorCtr="0">
            <a:spAutoFit/>
          </a:bodyPr>
          <a:lstStyle/>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Expansion into rural telehealth markets</a:t>
            </a:r>
            <a:endParaRPr lang="en-US" sz="1050" dirty="0">
              <a:latin typeface="Inter"/>
              <a:ea typeface="Inter"/>
              <a:cs typeface="Inter"/>
              <a:sym typeface="Inter"/>
            </a:endParaRPr>
          </a:p>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Integration of RPM with behavioral health</a:t>
            </a:r>
            <a:endParaRPr dirty="0"/>
          </a:p>
        </p:txBody>
      </p:sp>
      <p:sp>
        <p:nvSpPr>
          <p:cNvPr id="409" name="Google Shape;409;p26"/>
          <p:cNvSpPr txBox="1"/>
          <p:nvPr/>
        </p:nvSpPr>
        <p:spPr>
          <a:xfrm>
            <a:off x="6572250" y="3219450"/>
            <a:ext cx="505063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B45309"/>
                </a:solidFill>
                <a:latin typeface="Inter"/>
                <a:ea typeface="Inter"/>
                <a:cs typeface="Inter"/>
                <a:sym typeface="Inter"/>
              </a:rPr>
              <a:t>Challenges</a:t>
            </a:r>
            <a:endParaRPr dirty="0"/>
          </a:p>
        </p:txBody>
      </p:sp>
      <p:sp>
        <p:nvSpPr>
          <p:cNvPr id="410" name="Google Shape;410;p26"/>
          <p:cNvSpPr txBox="1"/>
          <p:nvPr/>
        </p:nvSpPr>
        <p:spPr>
          <a:xfrm>
            <a:off x="6572250" y="3543300"/>
            <a:ext cx="4810125" cy="484748"/>
          </a:xfrm>
          <a:prstGeom prst="rect">
            <a:avLst/>
          </a:prstGeom>
          <a:noFill/>
          <a:ln>
            <a:noFill/>
          </a:ln>
        </p:spPr>
        <p:txBody>
          <a:bodyPr spcFirstLastPara="1" wrap="square" lIns="0" tIns="0" rIns="0" bIns="0" anchor="t" anchorCtr="0">
            <a:spAutoFit/>
          </a:bodyPr>
          <a:lstStyle/>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Ensuring data privacy (cybersecurity threats)</a:t>
            </a:r>
          </a:p>
          <a:p>
            <a:pPr marL="171450" marR="0" lvl="0" indent="-171450" algn="l" rtl="0">
              <a:lnSpc>
                <a:spcPct val="150000"/>
              </a:lnSpc>
              <a:spcBef>
                <a:spcPts val="0"/>
              </a:spcBef>
              <a:spcAft>
                <a:spcPts val="0"/>
              </a:spcAft>
              <a:buFont typeface="Arial" panose="020B0604020202020204" pitchFamily="34" charset="0"/>
              <a:buChar char="•"/>
            </a:pPr>
            <a:r>
              <a:rPr lang="en-US" sz="1050" b="0" i="0" u="none" strike="noStrike" cap="none" dirty="0">
                <a:solidFill>
                  <a:srgbClr val="000000"/>
                </a:solidFill>
                <a:latin typeface="Inter"/>
                <a:ea typeface="Inter"/>
                <a:cs typeface="Inter"/>
                <a:sym typeface="Inter"/>
              </a:rPr>
              <a:t>Maintaining patient adherence/compliance with devices</a:t>
            </a:r>
            <a:endParaRPr dirty="0"/>
          </a:p>
        </p:txBody>
      </p:sp>
      <p:sp>
        <p:nvSpPr>
          <p:cNvPr id="411" name="Google Shape;411;p26"/>
          <p:cNvSpPr txBox="1"/>
          <p:nvPr/>
        </p:nvSpPr>
        <p:spPr>
          <a:xfrm>
            <a:off x="571500" y="6553200"/>
            <a:ext cx="6781800" cy="457818"/>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7"/>
              </a:rPr>
              <a:t>Precedence Research Market Dynamics</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8"/>
              </a:rPr>
              <a:t>MarketsandMarkets RPM Report</a:t>
            </a:r>
            <a:r>
              <a:rPr lang="en-US" sz="750" dirty="0">
                <a:solidFill>
                  <a:srgbClr val="94A3B8"/>
                </a:solidFill>
                <a:latin typeface="Inter"/>
                <a:ea typeface="Inter"/>
                <a:cs typeface="Inter"/>
                <a:sym typeface="Inter"/>
              </a:rPr>
              <a:t>; </a:t>
            </a:r>
            <a:r>
              <a:rPr lang="en-US" sz="750" dirty="0">
                <a:solidFill>
                  <a:srgbClr val="94A3B8"/>
                </a:solidFill>
                <a:latin typeface="Inter"/>
                <a:ea typeface="Inter"/>
                <a:cs typeface="Inter"/>
                <a:sym typeface="Inter"/>
                <a:hlinkClick r:id="rId9"/>
              </a:rPr>
              <a:t>Grand View Research</a:t>
            </a:r>
            <a:endParaRPr lang="en-US" sz="750" dirty="0"/>
          </a:p>
          <a:p>
            <a:endParaRPr lang="en-US" sz="750" dirty="0"/>
          </a:p>
          <a:p>
            <a:pPr marL="0" marR="0" lvl="0" indent="0" algn="l" rtl="0">
              <a:spcBef>
                <a:spcPts val="0"/>
              </a:spcBef>
              <a:spcAft>
                <a:spcPts val="0"/>
              </a:spcAft>
              <a:buNone/>
            </a:pPr>
            <a:endParaRPr dirty="0"/>
          </a:p>
        </p:txBody>
      </p:sp>
      <p:sp>
        <p:nvSpPr>
          <p:cNvPr id="2" name="Google Shape;119;p15">
            <a:extLst>
              <a:ext uri="{FF2B5EF4-FFF2-40B4-BE49-F238E27FC236}">
                <a16:creationId xmlns:a16="http://schemas.microsoft.com/office/drawing/2014/main" id="{26BEEB57-F7AC-D387-D0E3-EDE1D47BB23E}"/>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80FD74FC-168F-638B-1040-3D08DA451F35}"/>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1D2C187B-DF56-495C-F063-6D5627A822C2}"/>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A0FD1EF4-1B38-3776-D9BD-FD9D540FBF14}"/>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5"/>
        <p:cNvGrpSpPr/>
        <p:nvPr/>
      </p:nvGrpSpPr>
      <p:grpSpPr>
        <a:xfrm>
          <a:off x="0" y="0"/>
          <a:ext cx="0" cy="0"/>
          <a:chOff x="0" y="0"/>
          <a:chExt cx="0" cy="0"/>
        </a:xfrm>
      </p:grpSpPr>
      <p:sp>
        <p:nvSpPr>
          <p:cNvPr id="417" name="Google Shape;417;p27"/>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6" name="Google Shape;416;p27" descr="image.png"/>
          <p:cNvPicPr preferRelativeResize="0"/>
          <p:nvPr/>
        </p:nvPicPr>
        <p:blipFill rotWithShape="1">
          <a:blip r:embed="rId3">
            <a:alphaModFix/>
            <a:duotone>
              <a:prstClr val="black"/>
              <a:schemeClr val="accent3">
                <a:tint val="45000"/>
                <a:satMod val="400000"/>
              </a:schemeClr>
            </a:duotone>
          </a:blip>
          <a:srcRect/>
          <a:stretch/>
        </p:blipFill>
        <p:spPr>
          <a:xfrm>
            <a:off x="6286500" y="1666875"/>
            <a:ext cx="5334000" cy="2857500"/>
          </a:xfrm>
          <a:prstGeom prst="rect">
            <a:avLst/>
          </a:prstGeom>
          <a:noFill/>
          <a:ln>
            <a:noFill/>
          </a:ln>
        </p:spPr>
      </p:pic>
      <p:sp>
        <p:nvSpPr>
          <p:cNvPr id="418" name="Google Shape;418;p27"/>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5: MARKET DYNAMICS </a:t>
            </a:r>
            <a:r>
              <a:rPr lang="en-US" dirty="0">
                <a:solidFill>
                  <a:srgbClr val="3B82F6"/>
                </a:solidFill>
                <a:latin typeface="Inter"/>
                <a:ea typeface="Inter"/>
                <a:cs typeface="Inter"/>
                <a:sym typeface="Inter"/>
              </a:rPr>
              <a:t>(2/3)</a:t>
            </a:r>
            <a:endParaRPr dirty="0"/>
          </a:p>
        </p:txBody>
      </p:sp>
      <p:sp>
        <p:nvSpPr>
          <p:cNvPr id="419" name="Google Shape;419;p27"/>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Deep Dive: Rise in Chronic Diseases</a:t>
            </a:r>
            <a:endParaRPr/>
          </a:p>
        </p:txBody>
      </p:sp>
      <p:sp>
        <p:nvSpPr>
          <p:cNvPr id="420" name="Google Shape;420;p27"/>
          <p:cNvSpPr txBox="1"/>
          <p:nvPr/>
        </p:nvSpPr>
        <p:spPr>
          <a:xfrm>
            <a:off x="571500" y="1666875"/>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0000"/>
                </a:solidFill>
                <a:latin typeface="Inter"/>
                <a:ea typeface="Inter"/>
                <a:cs typeface="Inter"/>
                <a:sym typeface="Inter"/>
              </a:rPr>
              <a:t>The Burden of Chronic Illness</a:t>
            </a:r>
            <a:endParaRPr/>
          </a:p>
        </p:txBody>
      </p:sp>
      <p:sp>
        <p:nvSpPr>
          <p:cNvPr id="421" name="Google Shape;421;p27"/>
          <p:cNvSpPr txBox="1"/>
          <p:nvPr/>
        </p:nvSpPr>
        <p:spPr>
          <a:xfrm>
            <a:off x="571500" y="1885950"/>
            <a:ext cx="5334000" cy="9971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334155"/>
                </a:solidFill>
                <a:latin typeface="Inter"/>
                <a:ea typeface="Inter"/>
                <a:cs typeface="Inter"/>
                <a:sym typeface="Inter"/>
              </a:rPr>
              <a:t>The primary catalyst for RPM adoption is the sheer volume of patients requiring long-term management rather than acute episodic care.</a:t>
            </a:r>
            <a:endParaRPr dirty="0"/>
          </a:p>
        </p:txBody>
      </p:sp>
      <p:sp>
        <p:nvSpPr>
          <p:cNvPr id="422" name="Google Shape;422;p27"/>
          <p:cNvSpPr txBox="1"/>
          <p:nvPr/>
        </p:nvSpPr>
        <p:spPr>
          <a:xfrm>
            <a:off x="6486525" y="2152650"/>
            <a:ext cx="4933950" cy="485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dirty="0">
                <a:solidFill>
                  <a:srgbClr val="3B82F6"/>
                </a:solidFill>
                <a:latin typeface="Inter"/>
                <a:ea typeface="Inter"/>
                <a:cs typeface="Inter"/>
                <a:sym typeface="Inter"/>
              </a:rPr>
              <a:t>60%</a:t>
            </a:r>
            <a:endParaRPr dirty="0"/>
          </a:p>
        </p:txBody>
      </p:sp>
      <p:sp>
        <p:nvSpPr>
          <p:cNvPr id="423" name="Google Shape;423;p27"/>
          <p:cNvSpPr txBox="1"/>
          <p:nvPr/>
        </p:nvSpPr>
        <p:spPr>
          <a:xfrm>
            <a:off x="6486525" y="2638425"/>
            <a:ext cx="493395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dirty="0">
                <a:solidFill>
                  <a:srgbClr val="64748B"/>
                </a:solidFill>
                <a:latin typeface="Inter"/>
                <a:ea typeface="Inter"/>
                <a:cs typeface="Inter"/>
                <a:sym typeface="Inter"/>
              </a:rPr>
              <a:t>OF US ADULTS HAVE AT LEAST ONE CHRONIC DISEASE</a:t>
            </a:r>
            <a:endParaRPr dirty="0"/>
          </a:p>
        </p:txBody>
      </p:sp>
      <p:sp>
        <p:nvSpPr>
          <p:cNvPr id="424" name="Google Shape;424;p27"/>
          <p:cNvSpPr txBox="1"/>
          <p:nvPr/>
        </p:nvSpPr>
        <p:spPr>
          <a:xfrm>
            <a:off x="6486525" y="3571875"/>
            <a:ext cx="4933950" cy="4857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dirty="0">
                <a:solidFill>
                  <a:srgbClr val="3B82F6"/>
                </a:solidFill>
                <a:latin typeface="Inter"/>
                <a:ea typeface="Inter"/>
                <a:cs typeface="Inter"/>
                <a:sym typeface="Inter"/>
              </a:rPr>
              <a:t>40%</a:t>
            </a:r>
            <a:endParaRPr dirty="0"/>
          </a:p>
        </p:txBody>
      </p:sp>
      <p:sp>
        <p:nvSpPr>
          <p:cNvPr id="425" name="Google Shape;425;p27"/>
          <p:cNvSpPr txBox="1"/>
          <p:nvPr/>
        </p:nvSpPr>
        <p:spPr>
          <a:xfrm>
            <a:off x="6486525" y="4057650"/>
            <a:ext cx="493395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64748B"/>
                </a:solidFill>
                <a:latin typeface="Inter"/>
                <a:ea typeface="Inter"/>
                <a:cs typeface="Inter"/>
                <a:sym typeface="Inter"/>
              </a:rPr>
              <a:t>HAVE TWO OR MORE</a:t>
            </a:r>
            <a:endParaRPr/>
          </a:p>
        </p:txBody>
      </p:sp>
      <p:sp>
        <p:nvSpPr>
          <p:cNvPr id="426" name="Google Shape;426;p27"/>
          <p:cNvSpPr txBox="1"/>
          <p:nvPr/>
        </p:nvSpPr>
        <p:spPr>
          <a:xfrm>
            <a:off x="857250" y="2899320"/>
            <a:ext cx="5048250" cy="62324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Prevalence:</a:t>
            </a:r>
            <a:r>
              <a:rPr lang="en-US" sz="1350" b="0" i="0" u="none" strike="noStrike" cap="none" dirty="0">
                <a:solidFill>
                  <a:srgbClr val="334155"/>
                </a:solidFill>
                <a:latin typeface="Inter"/>
                <a:ea typeface="Inter"/>
                <a:cs typeface="Inter"/>
                <a:sym typeface="Inter"/>
              </a:rPr>
              <a:t> 90% of the US annual healthcare expenditure ($4.1 Trillion) is for people with chronic and mental health conditions (CDC).</a:t>
            </a:r>
            <a:endParaRPr dirty="0"/>
          </a:p>
        </p:txBody>
      </p:sp>
      <p:sp>
        <p:nvSpPr>
          <p:cNvPr id="427" name="Google Shape;427;p27"/>
          <p:cNvSpPr txBox="1"/>
          <p:nvPr/>
        </p:nvSpPr>
        <p:spPr>
          <a:xfrm>
            <a:off x="857250" y="3642270"/>
            <a:ext cx="504825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Impact:</a:t>
            </a:r>
            <a:r>
              <a:rPr lang="en-US" sz="1350" b="0" i="0" u="none" strike="noStrike" cap="none" dirty="0">
                <a:solidFill>
                  <a:srgbClr val="334155"/>
                </a:solidFill>
                <a:latin typeface="Inter"/>
                <a:ea typeface="Inter"/>
                <a:cs typeface="Inter"/>
                <a:sym typeface="Inter"/>
              </a:rPr>
              <a:t> Diabetes, Heart Disease, and COPD require daily monitoring.</a:t>
            </a:r>
            <a:endParaRPr dirty="0"/>
          </a:p>
        </p:txBody>
      </p:sp>
      <p:sp>
        <p:nvSpPr>
          <p:cNvPr id="428" name="Google Shape;428;p27"/>
          <p:cNvSpPr txBox="1"/>
          <p:nvPr/>
        </p:nvSpPr>
        <p:spPr>
          <a:xfrm>
            <a:off x="857250" y="4185195"/>
            <a:ext cx="5048250" cy="62324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Solution:</a:t>
            </a:r>
            <a:r>
              <a:rPr lang="en-US" sz="1350" b="0" i="0" u="none" strike="noStrike" cap="none" dirty="0">
                <a:solidFill>
                  <a:srgbClr val="334155"/>
                </a:solidFill>
                <a:latin typeface="Inter"/>
                <a:ea typeface="Inter"/>
                <a:cs typeface="Inter"/>
                <a:sym typeface="Inter"/>
              </a:rPr>
              <a:t> RPM shifts the data collection from "snapshot" (clinic visit) to "continuous movie" (home monitoring), allowing early intervention.</a:t>
            </a:r>
            <a:endParaRPr dirty="0"/>
          </a:p>
        </p:txBody>
      </p:sp>
      <p:sp>
        <p:nvSpPr>
          <p:cNvPr id="429" name="Google Shape;429;p27"/>
          <p:cNvSpPr txBox="1"/>
          <p:nvPr/>
        </p:nvSpPr>
        <p:spPr>
          <a:xfrm>
            <a:off x="571500" y="6553200"/>
            <a:ext cx="7626350" cy="330860"/>
          </a:xfrm>
          <a:prstGeom prst="rect">
            <a:avLst/>
          </a:prstGeom>
          <a:noFill/>
          <a:ln>
            <a:noFill/>
          </a:ln>
        </p:spPr>
        <p:txBody>
          <a:bodyPr spcFirstLastPara="1" wrap="square" lIns="0" tIns="0" rIns="0" bIns="0" anchor="t" anchorCtr="0">
            <a:spAutoFit/>
          </a:bodyPr>
          <a:lstStyle/>
          <a:p>
            <a:r>
              <a:rPr lang="en-US" sz="750" b="0" i="0" u="none" strike="noStrike" cap="none" dirty="0">
                <a:solidFill>
                  <a:srgbClr val="94A3B8"/>
                </a:solidFill>
                <a:latin typeface="Inter"/>
                <a:ea typeface="Inter"/>
                <a:cs typeface="Inter"/>
                <a:sym typeface="Inter"/>
              </a:rPr>
              <a:t>Sources: </a:t>
            </a:r>
            <a:r>
              <a:rPr lang="en-US" sz="750" b="0" i="0" u="none" strike="noStrike" cap="none" dirty="0">
                <a:solidFill>
                  <a:srgbClr val="64748B"/>
                </a:solidFill>
                <a:latin typeface="Inter"/>
                <a:ea typeface="Inter"/>
                <a:cs typeface="Inter"/>
                <a:sym typeface="Inter"/>
                <a:hlinkClick r:id="rId4"/>
              </a:rPr>
              <a:t>CDC National Center for Chronic Disease Prevention</a:t>
            </a:r>
            <a:r>
              <a:rPr lang="en-US" sz="750" b="0" i="0" u="none" strike="noStrike" cap="none" dirty="0">
                <a:solidFill>
                  <a:srgbClr val="64748B"/>
                </a:solidFill>
                <a:latin typeface="Inter"/>
                <a:ea typeface="Inter"/>
                <a:cs typeface="Inter"/>
                <a:sym typeface="Inter"/>
              </a:rPr>
              <a:t>; </a:t>
            </a:r>
            <a:r>
              <a:rPr lang="en-US" sz="750" dirty="0">
                <a:solidFill>
                  <a:srgbClr val="94A3B8"/>
                </a:solidFill>
                <a:latin typeface="Inter"/>
                <a:ea typeface="Inter"/>
                <a:cs typeface="Inter"/>
                <a:sym typeface="Inter"/>
                <a:hlinkClick r:id="rId5"/>
              </a:rPr>
              <a:t>CDC Chronic Disease Data</a:t>
            </a:r>
            <a:r>
              <a:rPr lang="en-IN" sz="750" dirty="0">
                <a:solidFill>
                  <a:srgbClr val="94A3B8"/>
                </a:solidFill>
                <a:latin typeface="Inter"/>
                <a:ea typeface="Inter"/>
                <a:cs typeface="Inter"/>
                <a:sym typeface="Inter"/>
              </a:rPr>
              <a:t>; </a:t>
            </a:r>
            <a:r>
              <a:rPr lang="en-US" sz="750" dirty="0">
                <a:solidFill>
                  <a:srgbClr val="94A3B8"/>
                </a:solidFill>
                <a:latin typeface="Inter"/>
                <a:ea typeface="Inter"/>
                <a:cs typeface="Inter"/>
                <a:sym typeface="Inter"/>
                <a:hlinkClick r:id="rId6"/>
              </a:rPr>
              <a:t>US Census Bureau</a:t>
            </a:r>
            <a:endParaRPr lang="en-US" sz="750" dirty="0"/>
          </a:p>
          <a:p>
            <a:endParaRPr dirty="0"/>
          </a:p>
        </p:txBody>
      </p:sp>
      <p:pic>
        <p:nvPicPr>
          <p:cNvPr id="430" name="Google Shape;430;p27" descr="image.png"/>
          <p:cNvPicPr preferRelativeResize="0"/>
          <p:nvPr/>
        </p:nvPicPr>
        <p:blipFill rotWithShape="1">
          <a:blip r:embed="rId7">
            <a:alphaModFix/>
          </a:blip>
          <a:srcRect/>
          <a:stretch/>
        </p:blipFill>
        <p:spPr>
          <a:xfrm>
            <a:off x="571500" y="2899320"/>
            <a:ext cx="171450" cy="180975"/>
          </a:xfrm>
          <a:prstGeom prst="rect">
            <a:avLst/>
          </a:prstGeom>
          <a:noFill/>
          <a:ln>
            <a:noFill/>
          </a:ln>
        </p:spPr>
      </p:pic>
      <p:pic>
        <p:nvPicPr>
          <p:cNvPr id="431" name="Google Shape;431;p27" descr="image.png"/>
          <p:cNvPicPr preferRelativeResize="0"/>
          <p:nvPr/>
        </p:nvPicPr>
        <p:blipFill rotWithShape="1">
          <a:blip r:embed="rId7">
            <a:alphaModFix/>
          </a:blip>
          <a:srcRect/>
          <a:stretch/>
        </p:blipFill>
        <p:spPr>
          <a:xfrm>
            <a:off x="571500" y="3642270"/>
            <a:ext cx="171450" cy="180975"/>
          </a:xfrm>
          <a:prstGeom prst="rect">
            <a:avLst/>
          </a:prstGeom>
          <a:noFill/>
          <a:ln>
            <a:noFill/>
          </a:ln>
        </p:spPr>
      </p:pic>
      <p:pic>
        <p:nvPicPr>
          <p:cNvPr id="432" name="Google Shape;432;p27" descr="image.png"/>
          <p:cNvPicPr preferRelativeResize="0"/>
          <p:nvPr/>
        </p:nvPicPr>
        <p:blipFill rotWithShape="1">
          <a:blip r:embed="rId7">
            <a:alphaModFix/>
          </a:blip>
          <a:srcRect/>
          <a:stretch/>
        </p:blipFill>
        <p:spPr>
          <a:xfrm>
            <a:off x="571500" y="4185195"/>
            <a:ext cx="171450" cy="180975"/>
          </a:xfrm>
          <a:prstGeom prst="rect">
            <a:avLst/>
          </a:prstGeom>
          <a:noFill/>
          <a:ln>
            <a:noFill/>
          </a:ln>
        </p:spPr>
      </p:pic>
      <p:sp>
        <p:nvSpPr>
          <p:cNvPr id="2" name="Google Shape;119;p15">
            <a:extLst>
              <a:ext uri="{FF2B5EF4-FFF2-40B4-BE49-F238E27FC236}">
                <a16:creationId xmlns:a16="http://schemas.microsoft.com/office/drawing/2014/main" id="{DB67081A-7DF2-0F2F-4435-5A61B3077664}"/>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C6323306-AF74-6E23-ADE1-CAD523874CD7}"/>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998F7E0A-F925-B066-CEA6-616E4B8B733C}"/>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6EB2C95E-4C81-3BF3-AEAE-A6445D2D44EA}"/>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BA05469C-B96E-C15A-F6B2-ABDB70B02DA3}"/>
              </a:ext>
            </a:extLst>
          </p:cNvPr>
          <p:cNvSpPr txBox="1"/>
          <p:nvPr/>
        </p:nvSpPr>
        <p:spPr>
          <a:xfrm>
            <a:off x="742950" y="5015342"/>
            <a:ext cx="10877548" cy="802784"/>
          </a:xfrm>
          <a:prstGeom prst="rect">
            <a:avLst/>
          </a:prstGeom>
          <a:noFill/>
        </p:spPr>
        <p:txBody>
          <a:bodyPr wrap="square">
            <a:spAutoFit/>
          </a:bodyPr>
          <a:lstStyle/>
          <a:p>
            <a:pPr algn="just">
              <a:buNone/>
            </a:pPr>
            <a:r>
              <a:rPr lang="en-US" sz="1350" dirty="0">
                <a:solidFill>
                  <a:schemeClr val="tx1">
                    <a:lumMod val="95000"/>
                    <a:lumOff val="5000"/>
                  </a:schemeClr>
                </a:solidFill>
                <a:latin typeface="Inter" panose="020B0604020202020204" charset="0"/>
                <a:ea typeface="Inter" panose="020B0604020202020204" charset="0"/>
              </a:rPr>
              <a:t>The US population aged 65+ is projected to nearly double by 2050. This demographic consumes 3x more healthcare resources.</a:t>
            </a:r>
          </a:p>
          <a:p>
            <a:pPr algn="just">
              <a:spcBef>
                <a:spcPts val="2250"/>
              </a:spcBef>
              <a:buNone/>
            </a:pPr>
            <a:r>
              <a:rPr lang="en-US" sz="1350" b="1" dirty="0">
                <a:solidFill>
                  <a:schemeClr val="tx1">
                    <a:lumMod val="95000"/>
                    <a:lumOff val="5000"/>
                  </a:schemeClr>
                </a:solidFill>
                <a:effectLst/>
                <a:latin typeface="Inter" panose="020B0604020202020204" charset="0"/>
                <a:ea typeface="Inter" panose="020B0604020202020204" charset="0"/>
              </a:rPr>
              <a:t>Stat:</a:t>
            </a:r>
            <a:r>
              <a:rPr lang="en-US" sz="1350" dirty="0">
                <a:solidFill>
                  <a:schemeClr val="tx1">
                    <a:lumMod val="95000"/>
                    <a:lumOff val="5000"/>
                  </a:schemeClr>
                </a:solidFill>
                <a:effectLst/>
                <a:latin typeface="Inter" panose="020B0604020202020204" charset="0"/>
                <a:ea typeface="Inter" panose="020B0604020202020204" charset="0"/>
              </a:rPr>
              <a:t> 6 in 10 US adults have a chronic disease. </a:t>
            </a:r>
          </a:p>
        </p:txBody>
      </p:sp>
      <p:pic>
        <p:nvPicPr>
          <p:cNvPr id="8" name="Google Shape;431;p27" descr="image.png">
            <a:extLst>
              <a:ext uri="{FF2B5EF4-FFF2-40B4-BE49-F238E27FC236}">
                <a16:creationId xmlns:a16="http://schemas.microsoft.com/office/drawing/2014/main" id="{8BCB248F-FA28-BD29-C389-4538D94B2BEE}"/>
              </a:ext>
            </a:extLst>
          </p:cNvPr>
          <p:cNvPicPr preferRelativeResize="0"/>
          <p:nvPr/>
        </p:nvPicPr>
        <p:blipFill rotWithShape="1">
          <a:blip r:embed="rId7">
            <a:alphaModFix/>
          </a:blip>
          <a:srcRect/>
          <a:stretch/>
        </p:blipFill>
        <p:spPr>
          <a:xfrm>
            <a:off x="571500" y="5074029"/>
            <a:ext cx="171450" cy="180975"/>
          </a:xfrm>
          <a:prstGeom prst="rect">
            <a:avLst/>
          </a:prstGeom>
          <a:noFill/>
          <a:ln>
            <a:noFill/>
          </a:ln>
        </p:spPr>
      </p:pic>
      <p:pic>
        <p:nvPicPr>
          <p:cNvPr id="9" name="Google Shape;431;p27" descr="image.png">
            <a:extLst>
              <a:ext uri="{FF2B5EF4-FFF2-40B4-BE49-F238E27FC236}">
                <a16:creationId xmlns:a16="http://schemas.microsoft.com/office/drawing/2014/main" id="{B0307E73-F852-68CC-9D6B-33D298E1344A}"/>
              </a:ext>
            </a:extLst>
          </p:cNvPr>
          <p:cNvPicPr preferRelativeResize="0"/>
          <p:nvPr/>
        </p:nvPicPr>
        <p:blipFill rotWithShape="1">
          <a:blip r:embed="rId7">
            <a:alphaModFix/>
          </a:blip>
          <a:srcRect/>
          <a:stretch/>
        </p:blipFill>
        <p:spPr>
          <a:xfrm>
            <a:off x="590750" y="5582016"/>
            <a:ext cx="171450" cy="18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6"/>
        <p:cNvGrpSpPr/>
        <p:nvPr/>
      </p:nvGrpSpPr>
      <p:grpSpPr>
        <a:xfrm>
          <a:off x="0" y="0"/>
          <a:ext cx="0" cy="0"/>
          <a:chOff x="0" y="0"/>
          <a:chExt cx="0" cy="0"/>
        </a:xfrm>
      </p:grpSpPr>
      <p:sp>
        <p:nvSpPr>
          <p:cNvPr id="6" name="Google Shape;417;p27">
            <a:extLst>
              <a:ext uri="{FF2B5EF4-FFF2-40B4-BE49-F238E27FC236}">
                <a16:creationId xmlns:a16="http://schemas.microsoft.com/office/drawing/2014/main" id="{AE40FC3D-6605-91D6-A54C-9FFBBB95AF53}"/>
              </a:ext>
            </a:extLst>
          </p:cNvPr>
          <p:cNvSpPr/>
          <p:nvPr/>
        </p:nvSpPr>
        <p:spPr>
          <a:xfrm>
            <a:off x="0" y="4953000"/>
            <a:ext cx="1905000" cy="1895475"/>
          </a:xfrm>
          <a:prstGeom prst="roundRect">
            <a:avLst>
              <a:gd name="adj" fmla="val 0"/>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37" name="Google Shape;437;p28" descr="image.png"/>
          <p:cNvPicPr preferRelativeResize="0"/>
          <p:nvPr/>
        </p:nvPicPr>
        <p:blipFill rotWithShape="1">
          <a:blip r:embed="rId3">
            <a:alphaModFix/>
            <a:duotone>
              <a:prstClr val="black"/>
              <a:schemeClr val="accent6">
                <a:tint val="45000"/>
                <a:satMod val="400000"/>
              </a:schemeClr>
            </a:duotone>
          </a:blip>
          <a:srcRect/>
          <a:stretch/>
        </p:blipFill>
        <p:spPr>
          <a:xfrm>
            <a:off x="571500" y="1666875"/>
            <a:ext cx="5334000" cy="4619625"/>
          </a:xfrm>
          <a:prstGeom prst="rect">
            <a:avLst/>
          </a:prstGeom>
          <a:noFill/>
          <a:ln>
            <a:noFill/>
          </a:ln>
        </p:spPr>
      </p:pic>
      <p:pic>
        <p:nvPicPr>
          <p:cNvPr id="438" name="Google Shape;438;p28" descr="image.png"/>
          <p:cNvPicPr preferRelativeResize="0"/>
          <p:nvPr/>
        </p:nvPicPr>
        <p:blipFill rotWithShape="1">
          <a:blip r:embed="rId4">
            <a:alphaModFix/>
            <a:duotone>
              <a:prstClr val="black"/>
              <a:schemeClr val="accent2">
                <a:tint val="45000"/>
                <a:satMod val="400000"/>
              </a:schemeClr>
            </a:duotone>
          </a:blip>
          <a:srcRect/>
          <a:stretch/>
        </p:blipFill>
        <p:spPr>
          <a:xfrm>
            <a:off x="6286500" y="1666875"/>
            <a:ext cx="5334000" cy="4619625"/>
          </a:xfrm>
          <a:prstGeom prst="rect">
            <a:avLst/>
          </a:prstGeom>
          <a:noFill/>
          <a:ln>
            <a:noFill/>
          </a:ln>
        </p:spPr>
      </p:pic>
      <p:sp>
        <p:nvSpPr>
          <p:cNvPr id="439" name="Google Shape;439;p28"/>
          <p:cNvSpPr txBox="1"/>
          <p:nvPr/>
        </p:nvSpPr>
        <p:spPr>
          <a:xfrm>
            <a:off x="571500" y="381000"/>
            <a:ext cx="11049000" cy="215444"/>
          </a:xfrm>
          <a:prstGeom prst="rect">
            <a:avLst/>
          </a:prstGeom>
          <a:noFill/>
          <a:ln>
            <a:noFill/>
          </a:ln>
        </p:spPr>
        <p:txBody>
          <a:bodyPr spcFirstLastPara="1" wrap="square" lIns="0" tIns="0" rIns="0" bIns="0" anchor="t" anchorCtr="0">
            <a:spAutoFit/>
          </a:bodyPr>
          <a:lstStyle/>
          <a:p>
            <a:pPr lvl="0"/>
            <a:r>
              <a:rPr lang="en-US" sz="1350" b="0" i="0" u="none" strike="noStrike" cap="none" dirty="0">
                <a:solidFill>
                  <a:srgbClr val="3B82F6"/>
                </a:solidFill>
                <a:latin typeface="Inter"/>
                <a:ea typeface="Inter"/>
                <a:cs typeface="Inter"/>
                <a:sym typeface="Inter"/>
              </a:rPr>
              <a:t>SECTION 5: MARKET DYNAMICS </a:t>
            </a:r>
            <a:r>
              <a:rPr lang="en-US" dirty="0">
                <a:solidFill>
                  <a:srgbClr val="3B82F6"/>
                </a:solidFill>
                <a:latin typeface="Inter"/>
                <a:ea typeface="Inter"/>
                <a:cs typeface="Inter"/>
                <a:sym typeface="Inter"/>
              </a:rPr>
              <a:t>(3/3)</a:t>
            </a:r>
            <a:endParaRPr dirty="0"/>
          </a:p>
        </p:txBody>
      </p:sp>
      <p:sp>
        <p:nvSpPr>
          <p:cNvPr id="440" name="Google Shape;440;p28"/>
          <p:cNvSpPr txBox="1"/>
          <p:nvPr/>
        </p:nvSpPr>
        <p:spPr>
          <a:xfrm>
            <a:off x="571500" y="581025"/>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Deep Dive: Reimbursement &amp; Data</a:t>
            </a:r>
            <a:endParaRPr/>
          </a:p>
        </p:txBody>
      </p:sp>
      <p:sp>
        <p:nvSpPr>
          <p:cNvPr id="441" name="Google Shape;441;p28"/>
          <p:cNvSpPr txBox="1"/>
          <p:nvPr/>
        </p:nvSpPr>
        <p:spPr>
          <a:xfrm>
            <a:off x="857250" y="1905000"/>
            <a:ext cx="5050631" cy="2286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500" b="1" i="0" u="none" strike="noStrike" cap="none" dirty="0">
                <a:solidFill>
                  <a:srgbClr val="B45309"/>
                </a:solidFill>
                <a:latin typeface="Inter"/>
                <a:ea typeface="Inter"/>
                <a:cs typeface="Inter"/>
                <a:sym typeface="Inter"/>
              </a:rPr>
              <a:t> Reimbursement Variability</a:t>
            </a:r>
            <a:endParaRPr dirty="0"/>
          </a:p>
        </p:txBody>
      </p:sp>
      <p:sp>
        <p:nvSpPr>
          <p:cNvPr id="442" name="Google Shape;442;p28"/>
          <p:cNvSpPr txBox="1"/>
          <p:nvPr/>
        </p:nvSpPr>
        <p:spPr>
          <a:xfrm>
            <a:off x="857250" y="2228850"/>
            <a:ext cx="4810125" cy="3810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0" u="none" strike="noStrike" cap="none" dirty="0">
                <a:solidFill>
                  <a:srgbClr val="000000"/>
                </a:solidFill>
                <a:latin typeface="Inter"/>
                <a:ea typeface="Inter"/>
                <a:cs typeface="Inter"/>
                <a:sym typeface="Inter"/>
              </a:rPr>
              <a:t>While CMS has established codes, variability remains among private payers and Medicaid across states.</a:t>
            </a:r>
            <a:endParaRPr dirty="0"/>
          </a:p>
        </p:txBody>
      </p:sp>
      <p:sp>
        <p:nvSpPr>
          <p:cNvPr id="443" name="Google Shape;443;p28"/>
          <p:cNvSpPr txBox="1"/>
          <p:nvPr/>
        </p:nvSpPr>
        <p:spPr>
          <a:xfrm>
            <a:off x="6572250" y="1905000"/>
            <a:ext cx="5050631" cy="228600"/>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500" b="1" i="0" u="none" strike="noStrike" cap="none" dirty="0">
                <a:solidFill>
                  <a:srgbClr val="B91C1C"/>
                </a:solidFill>
                <a:latin typeface="Inter"/>
                <a:ea typeface="Inter"/>
                <a:cs typeface="Inter"/>
                <a:sym typeface="Inter"/>
              </a:rPr>
              <a:t> Data Privacy &amp; Security</a:t>
            </a:r>
            <a:endParaRPr dirty="0"/>
          </a:p>
        </p:txBody>
      </p:sp>
      <p:sp>
        <p:nvSpPr>
          <p:cNvPr id="444" name="Google Shape;444;p28"/>
          <p:cNvSpPr txBox="1"/>
          <p:nvPr/>
        </p:nvSpPr>
        <p:spPr>
          <a:xfrm>
            <a:off x="6572250" y="2228850"/>
            <a:ext cx="4810125" cy="190500"/>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0" u="none" strike="noStrike" cap="none" dirty="0">
                <a:solidFill>
                  <a:srgbClr val="000000"/>
                </a:solidFill>
                <a:latin typeface="Inter"/>
                <a:ea typeface="Inter"/>
                <a:cs typeface="Inter"/>
                <a:sym typeface="Inter"/>
              </a:rPr>
              <a:t>As devices move into the home, the attack surface expands.</a:t>
            </a:r>
            <a:endParaRPr dirty="0"/>
          </a:p>
        </p:txBody>
      </p:sp>
      <p:pic>
        <p:nvPicPr>
          <p:cNvPr id="445" name="Google Shape;445;p28" descr="image.png"/>
          <p:cNvPicPr preferRelativeResize="0"/>
          <p:nvPr/>
        </p:nvPicPr>
        <p:blipFill rotWithShape="1">
          <a:blip r:embed="rId5">
            <a:alphaModFix/>
          </a:blip>
          <a:srcRect/>
          <a:stretch/>
        </p:blipFill>
        <p:spPr>
          <a:xfrm>
            <a:off x="857250" y="1924050"/>
            <a:ext cx="190500" cy="190500"/>
          </a:xfrm>
          <a:prstGeom prst="rect">
            <a:avLst/>
          </a:prstGeom>
          <a:noFill/>
          <a:ln>
            <a:noFill/>
          </a:ln>
        </p:spPr>
      </p:pic>
      <p:sp>
        <p:nvSpPr>
          <p:cNvPr id="446" name="Google Shape;446;p28"/>
          <p:cNvSpPr txBox="1"/>
          <p:nvPr/>
        </p:nvSpPr>
        <p:spPr>
          <a:xfrm>
            <a:off x="962025" y="2686050"/>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Inter"/>
                <a:ea typeface="Inter"/>
                <a:cs typeface="Inter"/>
                <a:sym typeface="Inter"/>
              </a:rPr>
              <a:t>•</a:t>
            </a:r>
            <a:endParaRPr/>
          </a:p>
        </p:txBody>
      </p:sp>
      <p:sp>
        <p:nvSpPr>
          <p:cNvPr id="447" name="Google Shape;447;p28"/>
          <p:cNvSpPr txBox="1"/>
          <p:nvPr/>
        </p:nvSpPr>
        <p:spPr>
          <a:xfrm>
            <a:off x="1047750" y="2705100"/>
            <a:ext cx="4619625" cy="381000"/>
          </a:xfrm>
          <a:prstGeom prst="rect">
            <a:avLst/>
          </a:prstGeom>
          <a:noFill/>
          <a:ln>
            <a:noFill/>
          </a:ln>
        </p:spPr>
        <p:txBody>
          <a:bodyPr spcFirstLastPara="1" wrap="square" lIns="85725" tIns="0" rIns="0" bIns="0" anchor="t" anchorCtr="0">
            <a:spAutoFit/>
          </a:bodyPr>
          <a:lstStyle/>
          <a:p>
            <a:pPr marL="0" marR="0" lvl="0" indent="0" algn="just" rtl="0">
              <a:spcBef>
                <a:spcPts val="0"/>
              </a:spcBef>
              <a:spcAft>
                <a:spcPts val="0"/>
              </a:spcAft>
              <a:buNone/>
            </a:pPr>
            <a:r>
              <a:rPr lang="en-US" sz="1200" b="1" i="0" u="none" strike="noStrike" cap="none" dirty="0">
                <a:solidFill>
                  <a:srgbClr val="334155"/>
                </a:solidFill>
                <a:latin typeface="Inter"/>
                <a:ea typeface="Inter"/>
                <a:cs typeface="Inter"/>
                <a:sym typeface="Inter"/>
              </a:rPr>
              <a:t>Documentation Burden:</a:t>
            </a:r>
            <a:r>
              <a:rPr lang="en-US" sz="1200" b="0" i="0" u="none" strike="noStrike" cap="none" dirty="0">
                <a:solidFill>
                  <a:srgbClr val="334155"/>
                </a:solidFill>
                <a:latin typeface="Inter"/>
                <a:ea typeface="Inter"/>
                <a:cs typeface="Inter"/>
                <a:sym typeface="Inter"/>
              </a:rPr>
              <a:t> Strict audit trails required to prove "16 days of data" were collected.</a:t>
            </a:r>
            <a:endParaRPr dirty="0"/>
          </a:p>
        </p:txBody>
      </p:sp>
      <p:sp>
        <p:nvSpPr>
          <p:cNvPr id="448" name="Google Shape;448;p28"/>
          <p:cNvSpPr txBox="1"/>
          <p:nvPr/>
        </p:nvSpPr>
        <p:spPr>
          <a:xfrm>
            <a:off x="962025" y="3067050"/>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Inter"/>
                <a:ea typeface="Inter"/>
                <a:cs typeface="Inter"/>
                <a:sym typeface="Inter"/>
              </a:rPr>
              <a:t>•</a:t>
            </a:r>
            <a:endParaRPr/>
          </a:p>
        </p:txBody>
      </p:sp>
      <p:sp>
        <p:nvSpPr>
          <p:cNvPr id="449" name="Google Shape;449;p28"/>
          <p:cNvSpPr txBox="1"/>
          <p:nvPr/>
        </p:nvSpPr>
        <p:spPr>
          <a:xfrm>
            <a:off x="1047750" y="3086100"/>
            <a:ext cx="4619625" cy="381000"/>
          </a:xfrm>
          <a:prstGeom prst="rect">
            <a:avLst/>
          </a:prstGeom>
          <a:noFill/>
          <a:ln>
            <a:noFill/>
          </a:ln>
        </p:spPr>
        <p:txBody>
          <a:bodyPr spcFirstLastPara="1" wrap="square" lIns="85725" tIns="0" rIns="0" bIns="0" anchor="t" anchorCtr="0">
            <a:spAutoFit/>
          </a:bodyPr>
          <a:lstStyle/>
          <a:p>
            <a:pPr marL="0" marR="0" lvl="0" indent="0" algn="just" rtl="0">
              <a:spcBef>
                <a:spcPts val="0"/>
              </a:spcBef>
              <a:spcAft>
                <a:spcPts val="0"/>
              </a:spcAft>
              <a:buNone/>
            </a:pPr>
            <a:r>
              <a:rPr lang="en-US" sz="1200" b="1" i="0" u="none" strike="noStrike" cap="none" dirty="0">
                <a:solidFill>
                  <a:srgbClr val="334155"/>
                </a:solidFill>
                <a:latin typeface="Inter"/>
                <a:ea typeface="Inter"/>
                <a:cs typeface="Inter"/>
                <a:sym typeface="Inter"/>
              </a:rPr>
              <a:t>Rule Changes:</a:t>
            </a:r>
            <a:r>
              <a:rPr lang="en-US" sz="1200" b="0" i="0" u="none" strike="noStrike" cap="none" dirty="0">
                <a:solidFill>
                  <a:srgbClr val="334155"/>
                </a:solidFill>
                <a:latin typeface="Inter"/>
                <a:ea typeface="Inter"/>
                <a:cs typeface="Inter"/>
                <a:sym typeface="Inter"/>
              </a:rPr>
              <a:t> Yearly updates to Physician Fee Schedules create uncertainty for long-term ROI planning.</a:t>
            </a:r>
            <a:endParaRPr dirty="0"/>
          </a:p>
        </p:txBody>
      </p:sp>
      <p:pic>
        <p:nvPicPr>
          <p:cNvPr id="450" name="Google Shape;450;p28" descr="image.png"/>
          <p:cNvPicPr preferRelativeResize="0"/>
          <p:nvPr/>
        </p:nvPicPr>
        <p:blipFill rotWithShape="1">
          <a:blip r:embed="rId6">
            <a:alphaModFix/>
          </a:blip>
          <a:srcRect/>
          <a:stretch/>
        </p:blipFill>
        <p:spPr>
          <a:xfrm>
            <a:off x="6572250" y="1924050"/>
            <a:ext cx="171450" cy="190500"/>
          </a:xfrm>
          <a:prstGeom prst="rect">
            <a:avLst/>
          </a:prstGeom>
          <a:noFill/>
          <a:ln>
            <a:noFill/>
          </a:ln>
        </p:spPr>
      </p:pic>
      <p:sp>
        <p:nvSpPr>
          <p:cNvPr id="451" name="Google Shape;451;p28"/>
          <p:cNvSpPr txBox="1"/>
          <p:nvPr/>
        </p:nvSpPr>
        <p:spPr>
          <a:xfrm>
            <a:off x="6677025" y="2495550"/>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Inter"/>
                <a:ea typeface="Inter"/>
                <a:cs typeface="Inter"/>
                <a:sym typeface="Inter"/>
              </a:rPr>
              <a:t>•</a:t>
            </a:r>
            <a:endParaRPr/>
          </a:p>
        </p:txBody>
      </p:sp>
      <p:sp>
        <p:nvSpPr>
          <p:cNvPr id="452" name="Google Shape;452;p28"/>
          <p:cNvSpPr txBox="1"/>
          <p:nvPr/>
        </p:nvSpPr>
        <p:spPr>
          <a:xfrm>
            <a:off x="6762750" y="2514600"/>
            <a:ext cx="4619625" cy="381000"/>
          </a:xfrm>
          <a:prstGeom prst="rect">
            <a:avLst/>
          </a:prstGeom>
          <a:noFill/>
          <a:ln>
            <a:noFill/>
          </a:ln>
        </p:spPr>
        <p:txBody>
          <a:bodyPr spcFirstLastPara="1" wrap="square" lIns="85725" tIns="0" rIns="0" bIns="0" anchor="t" anchorCtr="0">
            <a:spAutoFit/>
          </a:bodyPr>
          <a:lstStyle/>
          <a:p>
            <a:pPr marL="0" marR="0" lvl="0" indent="0" algn="just" rtl="0">
              <a:spcBef>
                <a:spcPts val="0"/>
              </a:spcBef>
              <a:spcAft>
                <a:spcPts val="0"/>
              </a:spcAft>
              <a:buNone/>
            </a:pPr>
            <a:r>
              <a:rPr lang="en-US" sz="1200" b="1" i="0" u="none" strike="noStrike" cap="none" dirty="0">
                <a:solidFill>
                  <a:srgbClr val="334155"/>
                </a:solidFill>
                <a:latin typeface="Inter"/>
                <a:ea typeface="Inter"/>
                <a:cs typeface="Inter"/>
                <a:sym typeface="Inter"/>
              </a:rPr>
              <a:t>Cybersecurity:</a:t>
            </a:r>
            <a:r>
              <a:rPr lang="en-US" sz="1200" b="0" i="0" u="none" strike="noStrike" cap="none" dirty="0">
                <a:solidFill>
                  <a:srgbClr val="334155"/>
                </a:solidFill>
                <a:latin typeface="Inter"/>
                <a:ea typeface="Inter"/>
                <a:cs typeface="Inter"/>
                <a:sym typeface="Inter"/>
              </a:rPr>
              <a:t> IoT devices are often less secure than hospital-grade equipment.</a:t>
            </a:r>
            <a:endParaRPr dirty="0"/>
          </a:p>
        </p:txBody>
      </p:sp>
      <p:sp>
        <p:nvSpPr>
          <p:cNvPr id="453" name="Google Shape;453;p28"/>
          <p:cNvSpPr txBox="1"/>
          <p:nvPr/>
        </p:nvSpPr>
        <p:spPr>
          <a:xfrm>
            <a:off x="6677025" y="2876550"/>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Inter"/>
                <a:ea typeface="Inter"/>
                <a:cs typeface="Inter"/>
                <a:sym typeface="Inter"/>
              </a:rPr>
              <a:t>•</a:t>
            </a:r>
            <a:endParaRPr/>
          </a:p>
        </p:txBody>
      </p:sp>
      <p:sp>
        <p:nvSpPr>
          <p:cNvPr id="454" name="Google Shape;454;p28"/>
          <p:cNvSpPr txBox="1"/>
          <p:nvPr/>
        </p:nvSpPr>
        <p:spPr>
          <a:xfrm>
            <a:off x="6762750" y="2895600"/>
            <a:ext cx="4619625" cy="571500"/>
          </a:xfrm>
          <a:prstGeom prst="rect">
            <a:avLst/>
          </a:prstGeom>
          <a:noFill/>
          <a:ln>
            <a:noFill/>
          </a:ln>
        </p:spPr>
        <p:txBody>
          <a:bodyPr spcFirstLastPara="1" wrap="square" lIns="85725" tIns="0" rIns="0" bIns="0" anchor="t" anchorCtr="0">
            <a:spAutoFit/>
          </a:bodyPr>
          <a:lstStyle/>
          <a:p>
            <a:pPr marL="0" marR="0" lvl="0" indent="0" algn="just" rtl="0">
              <a:spcBef>
                <a:spcPts val="0"/>
              </a:spcBef>
              <a:spcAft>
                <a:spcPts val="0"/>
              </a:spcAft>
              <a:buNone/>
            </a:pPr>
            <a:r>
              <a:rPr lang="en-US" sz="1200" b="1" i="0" u="none" strike="noStrike" cap="none" dirty="0">
                <a:solidFill>
                  <a:srgbClr val="334155"/>
                </a:solidFill>
                <a:latin typeface="Inter"/>
                <a:ea typeface="Inter"/>
                <a:cs typeface="Inter"/>
                <a:sym typeface="Inter"/>
              </a:rPr>
              <a:t>Interoperability:</a:t>
            </a:r>
            <a:r>
              <a:rPr lang="en-US" sz="1200" b="0" i="0" u="none" strike="noStrike" cap="none" dirty="0">
                <a:solidFill>
                  <a:srgbClr val="334155"/>
                </a:solidFill>
                <a:latin typeface="Inter"/>
                <a:ea typeface="Inter"/>
                <a:cs typeface="Inter"/>
                <a:sym typeface="Inter"/>
              </a:rPr>
              <a:t> Siloed data formats make it hard to integrate RPM data directly into the patient's main Electronic Health Record (EHR).</a:t>
            </a:r>
            <a:endParaRPr dirty="0"/>
          </a:p>
        </p:txBody>
      </p:sp>
      <p:sp>
        <p:nvSpPr>
          <p:cNvPr id="455" name="Google Shape;455;p28">
            <a:hlinkClick r:id="rId7"/>
          </p:cNvPr>
          <p:cNvSpPr txBox="1"/>
          <p:nvPr/>
        </p:nvSpPr>
        <p:spPr>
          <a:xfrm>
            <a:off x="571500" y="6553200"/>
            <a:ext cx="2895600"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none" strike="noStrike" cap="none" dirty="0" err="1">
                <a:solidFill>
                  <a:srgbClr val="64748B"/>
                </a:solidFill>
                <a:latin typeface="Inter"/>
                <a:ea typeface="Inter"/>
                <a:cs typeface="Inter"/>
                <a:sym typeface="Inter"/>
                <a:hlinkClick r:id="rId7"/>
              </a:rPr>
              <a:t>ThoroughCare</a:t>
            </a:r>
            <a:r>
              <a:rPr lang="en-US" sz="750" b="0" i="0" u="none" strike="noStrike" cap="none" dirty="0">
                <a:solidFill>
                  <a:srgbClr val="64748B"/>
                </a:solidFill>
                <a:latin typeface="Inter"/>
                <a:ea typeface="Inter"/>
                <a:cs typeface="Inter"/>
                <a:sym typeface="Inter"/>
                <a:hlinkClick r:id="rId7"/>
              </a:rPr>
              <a:t> Billing Rules</a:t>
            </a:r>
            <a:r>
              <a:rPr lang="en-US" sz="750" b="0" i="0" u="none" strike="noStrike" cap="none" dirty="0">
                <a:solidFill>
                  <a:srgbClr val="94A3B8"/>
                </a:solidFill>
                <a:latin typeface="Inter"/>
                <a:ea typeface="Inter"/>
                <a:cs typeface="Inter"/>
                <a:sym typeface="Inter"/>
                <a:hlinkClick r:id="rId7"/>
              </a:rPr>
              <a:t>; </a:t>
            </a:r>
            <a:r>
              <a:rPr lang="en-US" sz="750" b="0" i="0" u="none" strike="noStrike" cap="none" dirty="0">
                <a:solidFill>
                  <a:srgbClr val="64748B"/>
                </a:solidFill>
                <a:latin typeface="Inter"/>
                <a:ea typeface="Inter"/>
                <a:cs typeface="Inter"/>
                <a:sym typeface="Inter"/>
                <a:hlinkClick r:id="rId8"/>
              </a:rPr>
              <a:t>Cybersecurity Reports</a:t>
            </a:r>
            <a:endParaRPr dirty="0"/>
          </a:p>
        </p:txBody>
      </p:sp>
      <p:sp>
        <p:nvSpPr>
          <p:cNvPr id="2" name="Google Shape;119;p15">
            <a:extLst>
              <a:ext uri="{FF2B5EF4-FFF2-40B4-BE49-F238E27FC236}">
                <a16:creationId xmlns:a16="http://schemas.microsoft.com/office/drawing/2014/main" id="{A7D8CDC0-2A59-7C1F-196F-D4A3B460C545}"/>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FBCB9B44-C46C-CB03-7FCD-228F5AE63624}"/>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1822B24C-D450-2403-3957-D24D05C8CE68}"/>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CA32E56F-EE02-87B4-AB5A-25F20E225C2F}"/>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9"/>
        <p:cNvGrpSpPr/>
        <p:nvPr/>
      </p:nvGrpSpPr>
      <p:grpSpPr>
        <a:xfrm>
          <a:off x="0" y="0"/>
          <a:ext cx="0" cy="0"/>
          <a:chOff x="0" y="0"/>
          <a:chExt cx="0" cy="0"/>
        </a:xfrm>
      </p:grpSpPr>
      <p:sp>
        <p:nvSpPr>
          <p:cNvPr id="2" name="Google Shape;119;p15">
            <a:extLst>
              <a:ext uri="{FF2B5EF4-FFF2-40B4-BE49-F238E27FC236}">
                <a16:creationId xmlns:a16="http://schemas.microsoft.com/office/drawing/2014/main" id="{DD6DBAF1-4BE6-4236-A1F0-0DC7DD53A0E3}"/>
              </a:ext>
            </a:extLst>
          </p:cNvPr>
          <p:cNvSpPr/>
          <p:nvPr/>
        </p:nvSpPr>
        <p:spPr>
          <a:xfrm>
            <a:off x="571500" y="1256831"/>
            <a:ext cx="18124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20;p15">
            <a:extLst>
              <a:ext uri="{FF2B5EF4-FFF2-40B4-BE49-F238E27FC236}">
                <a16:creationId xmlns:a16="http://schemas.microsoft.com/office/drawing/2014/main" id="{8200AE44-479F-CF67-71DF-F6FB685C598C}"/>
              </a:ext>
            </a:extLst>
          </p:cNvPr>
          <p:cNvSpPr/>
          <p:nvPr/>
        </p:nvSpPr>
        <p:spPr>
          <a:xfrm>
            <a:off x="2383928" y="1256831"/>
            <a:ext cx="32870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21;p15">
            <a:extLst>
              <a:ext uri="{FF2B5EF4-FFF2-40B4-BE49-F238E27FC236}">
                <a16:creationId xmlns:a16="http://schemas.microsoft.com/office/drawing/2014/main" id="{C1C93936-7FD2-6D52-1039-800F860B0165}"/>
              </a:ext>
            </a:extLst>
          </p:cNvPr>
          <p:cNvSpPr/>
          <p:nvPr/>
        </p:nvSpPr>
        <p:spPr>
          <a:xfrm>
            <a:off x="5670946" y="1256831"/>
            <a:ext cx="52939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22;p15">
            <a:extLst>
              <a:ext uri="{FF2B5EF4-FFF2-40B4-BE49-F238E27FC236}">
                <a16:creationId xmlns:a16="http://schemas.microsoft.com/office/drawing/2014/main" id="{BF2114C9-0E49-3AAD-901A-163966FBD06A}"/>
              </a:ext>
            </a:extLst>
          </p:cNvPr>
          <p:cNvSpPr/>
          <p:nvPr/>
        </p:nvSpPr>
        <p:spPr>
          <a:xfrm>
            <a:off x="10964912" y="1256831"/>
            <a:ext cx="65558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1" name="Google Shape;461;p29"/>
          <p:cNvSpPr/>
          <p:nvPr/>
        </p:nvSpPr>
        <p:spPr>
          <a:xfrm>
            <a:off x="9334500" y="-952500"/>
            <a:ext cx="3810000" cy="3810000"/>
          </a:xfrm>
          <a:prstGeom prst="roundRect">
            <a:avLst>
              <a:gd name="adj" fmla="val 16667"/>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60" name="Google Shape;460;p29" descr="image.png"/>
          <p:cNvPicPr preferRelativeResize="0"/>
          <p:nvPr/>
        </p:nvPicPr>
        <p:blipFill rotWithShape="1">
          <a:blip r:embed="rId3">
            <a:alphaModFix/>
            <a:duotone>
              <a:prstClr val="black"/>
              <a:schemeClr val="accent6">
                <a:tint val="45000"/>
                <a:satMod val="400000"/>
              </a:schemeClr>
            </a:duotone>
          </a:blip>
          <a:srcRect/>
          <a:stretch/>
        </p:blipFill>
        <p:spPr>
          <a:xfrm>
            <a:off x="5943600" y="1466850"/>
            <a:ext cx="5676900" cy="5010150"/>
          </a:xfrm>
          <a:prstGeom prst="rect">
            <a:avLst/>
          </a:prstGeom>
          <a:noFill/>
          <a:ln>
            <a:noFill/>
          </a:ln>
        </p:spPr>
      </p:pic>
      <p:sp>
        <p:nvSpPr>
          <p:cNvPr id="462" name="Google Shape;462;p29"/>
          <p:cNvSpPr txBox="1"/>
          <p:nvPr/>
        </p:nvSpPr>
        <p:spPr>
          <a:xfrm>
            <a:off x="571500" y="381000"/>
            <a:ext cx="1104900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F172A"/>
                </a:solidFill>
                <a:latin typeface="Inter"/>
                <a:ea typeface="Inter"/>
                <a:cs typeface="Inter"/>
                <a:sym typeface="Inter"/>
              </a:rPr>
              <a:t>Conclusion &amp; Strategic Outlook</a:t>
            </a:r>
            <a:endParaRPr/>
          </a:p>
        </p:txBody>
      </p:sp>
      <p:sp>
        <p:nvSpPr>
          <p:cNvPr id="463" name="Google Shape;463;p29"/>
          <p:cNvSpPr txBox="1"/>
          <p:nvPr/>
        </p:nvSpPr>
        <p:spPr>
          <a:xfrm>
            <a:off x="571500" y="2369939"/>
            <a:ext cx="534066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Inter"/>
                <a:ea typeface="Inter"/>
                <a:cs typeface="Inter"/>
                <a:sym typeface="Inter"/>
              </a:rPr>
              <a:t>Market Position Summary</a:t>
            </a:r>
            <a:endParaRPr/>
          </a:p>
        </p:txBody>
      </p:sp>
      <p:sp>
        <p:nvSpPr>
          <p:cNvPr id="464" name="Google Shape;464;p29"/>
          <p:cNvSpPr txBox="1"/>
          <p:nvPr/>
        </p:nvSpPr>
        <p:spPr>
          <a:xfrm>
            <a:off x="571500" y="2779514"/>
            <a:ext cx="5086350" cy="1661993"/>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000000"/>
                </a:solidFill>
                <a:latin typeface="Inter"/>
                <a:ea typeface="Inter"/>
                <a:cs typeface="Inter"/>
                <a:sym typeface="Inter"/>
              </a:rPr>
              <a:t>The US RPM market is in a </a:t>
            </a:r>
            <a:r>
              <a:rPr lang="en-US" sz="1350" b="1" i="0" u="none" strike="noStrike" cap="none" dirty="0">
                <a:solidFill>
                  <a:srgbClr val="000000"/>
                </a:solidFill>
                <a:latin typeface="Inter"/>
                <a:ea typeface="Inter"/>
                <a:cs typeface="Inter"/>
                <a:sym typeface="Inter"/>
              </a:rPr>
              <a:t>high-growth phase</a:t>
            </a:r>
            <a:r>
              <a:rPr lang="en-US" sz="1350" b="0" i="0" u="none" strike="noStrike" cap="none" dirty="0">
                <a:solidFill>
                  <a:srgbClr val="000000"/>
                </a:solidFill>
                <a:latin typeface="Inter"/>
                <a:ea typeface="Inter"/>
                <a:cs typeface="Inter"/>
                <a:sym typeface="Inter"/>
              </a:rPr>
              <a:t> (CAGR ~19.1%), transitioning from a "nice-to-have" pilot to a "standard-of-care" necessity. Growth is fueled by reimbursement clarity and the undeniable economics of preventing hospital readmissions.</a:t>
            </a:r>
            <a:endParaRPr dirty="0"/>
          </a:p>
        </p:txBody>
      </p:sp>
      <p:sp>
        <p:nvSpPr>
          <p:cNvPr id="465" name="Google Shape;465;p29"/>
          <p:cNvSpPr txBox="1"/>
          <p:nvPr/>
        </p:nvSpPr>
        <p:spPr>
          <a:xfrm>
            <a:off x="571500" y="4562527"/>
            <a:ext cx="534066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3B82F6"/>
                </a:solidFill>
                <a:latin typeface="Inter"/>
                <a:ea typeface="Inter"/>
                <a:cs typeface="Inter"/>
                <a:sym typeface="Inter"/>
              </a:rPr>
              <a:t>5-Year Outlook</a:t>
            </a:r>
            <a:endParaRPr dirty="0"/>
          </a:p>
        </p:txBody>
      </p:sp>
      <p:sp>
        <p:nvSpPr>
          <p:cNvPr id="466" name="Google Shape;466;p29"/>
          <p:cNvSpPr txBox="1"/>
          <p:nvPr/>
        </p:nvSpPr>
        <p:spPr>
          <a:xfrm>
            <a:off x="571500" y="4751040"/>
            <a:ext cx="5086350" cy="9971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dirty="0">
                <a:solidFill>
                  <a:srgbClr val="000000"/>
                </a:solidFill>
                <a:latin typeface="Inter"/>
                <a:ea typeface="Inter"/>
                <a:cs typeface="Inter"/>
                <a:sym typeface="Inter"/>
              </a:rPr>
              <a:t>Expect </a:t>
            </a:r>
            <a:r>
              <a:rPr lang="en-US" sz="1350" b="1" i="0" u="none" strike="noStrike" cap="none" dirty="0">
                <a:solidFill>
                  <a:srgbClr val="000000"/>
                </a:solidFill>
                <a:latin typeface="Inter"/>
                <a:ea typeface="Inter"/>
                <a:cs typeface="Inter"/>
                <a:sym typeface="Inter"/>
              </a:rPr>
              <a:t>consolidation</a:t>
            </a:r>
            <a:r>
              <a:rPr lang="en-US" sz="1350" b="0" i="0" u="none" strike="noStrike" cap="none" dirty="0">
                <a:solidFill>
                  <a:srgbClr val="000000"/>
                </a:solidFill>
                <a:latin typeface="Inter"/>
                <a:ea typeface="Inter"/>
                <a:cs typeface="Inter"/>
                <a:sym typeface="Inter"/>
              </a:rPr>
              <a:t> of niche device players by major tech firms. AI will shift RPM from "monitoring" to "predicting," reducing the alert fatigue for clinicians.</a:t>
            </a:r>
            <a:endParaRPr dirty="0"/>
          </a:p>
        </p:txBody>
      </p:sp>
      <p:sp>
        <p:nvSpPr>
          <p:cNvPr id="467" name="Google Shape;467;p29"/>
          <p:cNvSpPr txBox="1"/>
          <p:nvPr/>
        </p:nvSpPr>
        <p:spPr>
          <a:xfrm>
            <a:off x="6238875" y="1762125"/>
            <a:ext cx="534066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Inter"/>
                <a:ea typeface="Inter"/>
                <a:cs typeface="Inter"/>
                <a:sym typeface="Inter"/>
              </a:rPr>
              <a:t>Strategic Recommendations</a:t>
            </a:r>
            <a:endParaRPr/>
          </a:p>
        </p:txBody>
      </p:sp>
      <p:sp>
        <p:nvSpPr>
          <p:cNvPr id="468" name="Google Shape;468;p29"/>
          <p:cNvSpPr txBox="1"/>
          <p:nvPr/>
        </p:nvSpPr>
        <p:spPr>
          <a:xfrm>
            <a:off x="6524625" y="2171700"/>
            <a:ext cx="480060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Invest in AI/ML:</a:t>
            </a:r>
            <a:r>
              <a:rPr lang="en-US" sz="1350" b="0" i="0" u="none" strike="noStrike" cap="none" dirty="0">
                <a:solidFill>
                  <a:srgbClr val="334155"/>
                </a:solidFill>
                <a:latin typeface="Inter"/>
                <a:ea typeface="Inter"/>
                <a:cs typeface="Inter"/>
                <a:sym typeface="Inter"/>
              </a:rPr>
              <a:t> Hardware is becoming a commodity; value lies in data interpretation.</a:t>
            </a:r>
            <a:endParaRPr dirty="0"/>
          </a:p>
        </p:txBody>
      </p:sp>
      <p:sp>
        <p:nvSpPr>
          <p:cNvPr id="469" name="Google Shape;469;p29"/>
          <p:cNvSpPr txBox="1"/>
          <p:nvPr/>
        </p:nvSpPr>
        <p:spPr>
          <a:xfrm>
            <a:off x="6524625" y="2714625"/>
            <a:ext cx="480060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Focus on Usability:</a:t>
            </a:r>
            <a:r>
              <a:rPr lang="en-US" sz="1350" b="0" i="0" u="none" strike="noStrike" cap="none" dirty="0">
                <a:solidFill>
                  <a:srgbClr val="334155"/>
                </a:solidFill>
                <a:latin typeface="Inter"/>
                <a:ea typeface="Inter"/>
                <a:cs typeface="Inter"/>
                <a:sym typeface="Inter"/>
              </a:rPr>
              <a:t> Devices must be "passive" and require minimal patient effort to ensure compliance.</a:t>
            </a:r>
            <a:endParaRPr dirty="0"/>
          </a:p>
        </p:txBody>
      </p:sp>
      <p:sp>
        <p:nvSpPr>
          <p:cNvPr id="470" name="Google Shape;470;p29"/>
          <p:cNvSpPr txBox="1"/>
          <p:nvPr/>
        </p:nvSpPr>
        <p:spPr>
          <a:xfrm>
            <a:off x="6524625" y="3257550"/>
            <a:ext cx="4800600" cy="41549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dirty="0">
                <a:solidFill>
                  <a:srgbClr val="334155"/>
                </a:solidFill>
                <a:latin typeface="Inter"/>
                <a:ea typeface="Inter"/>
                <a:cs typeface="Inter"/>
                <a:sym typeface="Inter"/>
              </a:rPr>
              <a:t>Secure the Data:</a:t>
            </a:r>
            <a:r>
              <a:rPr lang="en-US" sz="1350" b="0" i="0" u="none" strike="noStrike" cap="none" dirty="0">
                <a:solidFill>
                  <a:srgbClr val="334155"/>
                </a:solidFill>
                <a:latin typeface="Inter"/>
                <a:ea typeface="Inter"/>
                <a:cs typeface="Inter"/>
                <a:sym typeface="Inter"/>
              </a:rPr>
              <a:t> Prioritize SOC2/HIPAA compliance to win hospital trust.</a:t>
            </a:r>
            <a:endParaRPr dirty="0"/>
          </a:p>
        </p:txBody>
      </p:sp>
      <p:sp>
        <p:nvSpPr>
          <p:cNvPr id="471" name="Google Shape;471;p29"/>
          <p:cNvSpPr txBox="1"/>
          <p:nvPr/>
        </p:nvSpPr>
        <p:spPr>
          <a:xfrm>
            <a:off x="571500" y="6553200"/>
            <a:ext cx="3375660" cy="1154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0" i="0" u="none" strike="noStrike" cap="none" dirty="0">
                <a:solidFill>
                  <a:srgbClr val="94A3B8"/>
                </a:solidFill>
                <a:latin typeface="Inter"/>
                <a:ea typeface="Inter"/>
                <a:cs typeface="Inter"/>
                <a:sym typeface="Inter"/>
              </a:rPr>
              <a:t>Sources: </a:t>
            </a:r>
            <a:r>
              <a:rPr lang="en-US" sz="750" b="0" i="0" u="sng" strike="noStrike" cap="none" dirty="0">
                <a:solidFill>
                  <a:srgbClr val="0070C0"/>
                </a:solidFill>
                <a:latin typeface="Inter"/>
                <a:ea typeface="Inter"/>
                <a:cs typeface="Inter"/>
                <a:sym typeface="Inter"/>
              </a:rPr>
              <a:t>XYZ Research Internal Analysis [Role Play]</a:t>
            </a:r>
            <a:endParaRPr u="sng" dirty="0">
              <a:solidFill>
                <a:srgbClr val="0070C0"/>
              </a:solidFill>
            </a:endParaRPr>
          </a:p>
        </p:txBody>
      </p:sp>
      <p:pic>
        <p:nvPicPr>
          <p:cNvPr id="472" name="Google Shape;472;p29" descr="image.png"/>
          <p:cNvPicPr preferRelativeResize="0"/>
          <p:nvPr/>
        </p:nvPicPr>
        <p:blipFill rotWithShape="1">
          <a:blip r:embed="rId4">
            <a:alphaModFix/>
          </a:blip>
          <a:srcRect/>
          <a:stretch/>
        </p:blipFill>
        <p:spPr>
          <a:xfrm>
            <a:off x="6238875" y="2171700"/>
            <a:ext cx="171450" cy="180975"/>
          </a:xfrm>
          <a:prstGeom prst="rect">
            <a:avLst/>
          </a:prstGeom>
          <a:noFill/>
          <a:ln>
            <a:noFill/>
          </a:ln>
        </p:spPr>
      </p:pic>
      <p:pic>
        <p:nvPicPr>
          <p:cNvPr id="473" name="Google Shape;473;p29" descr="image.png"/>
          <p:cNvPicPr preferRelativeResize="0"/>
          <p:nvPr/>
        </p:nvPicPr>
        <p:blipFill rotWithShape="1">
          <a:blip r:embed="rId4">
            <a:alphaModFix/>
          </a:blip>
          <a:srcRect/>
          <a:stretch/>
        </p:blipFill>
        <p:spPr>
          <a:xfrm>
            <a:off x="6238875" y="2714625"/>
            <a:ext cx="171450" cy="180975"/>
          </a:xfrm>
          <a:prstGeom prst="rect">
            <a:avLst/>
          </a:prstGeom>
          <a:noFill/>
          <a:ln>
            <a:noFill/>
          </a:ln>
        </p:spPr>
      </p:pic>
      <p:pic>
        <p:nvPicPr>
          <p:cNvPr id="474" name="Google Shape;474;p29" descr="image.png"/>
          <p:cNvPicPr preferRelativeResize="0"/>
          <p:nvPr/>
        </p:nvPicPr>
        <p:blipFill rotWithShape="1">
          <a:blip r:embed="rId4">
            <a:alphaModFix/>
          </a:blip>
          <a:srcRect/>
          <a:stretch/>
        </p:blipFill>
        <p:spPr>
          <a:xfrm>
            <a:off x="6238875" y="3257550"/>
            <a:ext cx="171450" cy="18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2184</Words>
  <Application>Microsoft Office PowerPoint</Application>
  <PresentationFormat>Widescreen</PresentationFormat>
  <Paragraphs>292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Calibri</vt:lpstr>
      <vt:lpstr>Inter</vt:lpstr>
      <vt:lpstr>Arial</vt:lpstr>
      <vt:lpstr>Rage Italic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PRANJAL DAS</cp:lastModifiedBy>
  <cp:revision>70</cp:revision>
  <dcterms:modified xsi:type="dcterms:W3CDTF">2025-11-26T07:45:23Z</dcterms:modified>
</cp:coreProperties>
</file>